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2bc22ad95248e2" /><Relationship Type="http://schemas.openxmlformats.org/officeDocument/2006/relationships/extended-properties" Target="/docProps/app.xml" Id="Ra431de125db54778" /><Relationship Type="http://schemas.openxmlformats.org/officeDocument/2006/relationships/officeDocument" Target="/ppt/presentation.xml" Id="Rd69e2d3035e2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f1477d1174247"/>
  </p:sldMasterIdLst>
  <p:notesMasterIdLst>
    <p:notesMasterId xmlns:r="http://schemas.openxmlformats.org/officeDocument/2006/relationships" r:id="R840447a590aa4928"/>
  </p:notesMasterIdLst>
  <p:sldIdLst>
    <p:sldId xmlns:r="http://schemas.openxmlformats.org/officeDocument/2006/relationships" id="256" r:id="R8c00202843e343c6"/>
  </p:sldIdLst>
  <p:sldSz cx="15240000" cy="9429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f21e40ca46442d" /><Relationship Type="http://schemas.openxmlformats.org/officeDocument/2006/relationships/slideMaster" Target="/ppt/slideMasters/slideMaster1.xml" Id="Rc5ff1477d1174247" /><Relationship Type="http://schemas.openxmlformats.org/officeDocument/2006/relationships/notesMaster" Target="/ppt/notesMasters/notesMaster1.xml" Id="R840447a590aa4928" /><Relationship Type="http://schemas.openxmlformats.org/officeDocument/2006/relationships/presProps" Target="/ppt/presProps.xml" Id="Rade1cb71e9294954" /><Relationship Type="http://schemas.openxmlformats.org/officeDocument/2006/relationships/tableStyles" Target="/ppt/tableStyles.xml" Id="Rb22f4b53be714701" /><Relationship Type="http://schemas.openxmlformats.org/officeDocument/2006/relationships/slide" Target="/ppt/slides/slide1.xml" Id="R8c00202843e343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4e430f5bd5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aeb50c5414217" /><Relationship Type="http://schemas.openxmlformats.org/officeDocument/2006/relationships/notesMaster" Target="/ppt/notesMasters/notesMaster1.xml" Id="R12e196529418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POSReasoner method demonstration published with the author's permission. This figure explains the core state reasoning and verified write mechanism, not the complete inference implementation.</a:t>
            </a:r>
          </a:p>
          <a:p xmlns:a="http://schemas.openxmlformats.org/drawingml/2006/main">
            <a:r>
              <a:t>All public input/output thumbnails are original geometric interface schematics, not photographs, dataset annotations, or model predictions. The public version excludes the DAVIS photographs and masks used in the private design.</a:t>
            </a:r>
          </a:p>
          <a:p xmlns:a="http://schemas.openxmlformats.org/drawingml/2006/main">
            <a:r>
              <a:t>One illustrative 3x4 association matrix: rows [.70,.15,.05,.10],[.60,.10,0,.30],[0,.10,.10,.80]. Invalid edges are zero/hatching. Row sums are one. Contested observation total is 1.30 and excess is .30. Null total 1.20 is unpenalized. These are schematic probabilities, not measured results or a guaranteed Verify winner.</a:t>
            </a:r>
          </a:p>
          <a:p xmlns:a="http://schemas.openxmlformats.org/drawingml/2006/main">
            <a:r>
              <a:t>Verify strips denote candidate/action categories only, with no numeric second-step outcome. History affects actions. Intermediate proposals never enter persistent memory. Both reasoning steps share parameters with different step embeddings.</a:t>
            </a:r>
          </a:p>
          <a:p xmlns:a="http://schemas.openxmlformats.org/drawingml/2006/main">
            <a:r>
              <a:t>Candidate detail depicts reset/nonlinear/update/carry roles, without claiming an unspecified GRU implementation. Internal carry differs from the old persistent state. The external gate alone mixes the prior persistent state and the candidate.</a:t>
            </a:r>
          </a:p>
          <a:p xmlns:a="http://schemas.openxmlformats.org/drawingml/2006/main">
            <a:r>
              <a:t>The advantage head, belief details and host-specific final conflict ranking are omitted to focus on state reasoning and one write. The output adapter stands for alternatives, not a sequence of host-specific adapters.</a:t>
            </a:r>
          </a:p>
          <a:p xmlns:a="http://schemas.openxmlformats.org/drawingml/2006/main">
            <a:r>
              <a:t>Visual design uses Comic Sans MS labels, Times New Roman mathematical symbols, localized mechanism insets, and separate non-arrow enlargement guides. External reference images are not included. See examples/posreasoner/README.md for public provenance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aeff4b7df4e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b46dd8b16480e" /><Relationship Type="http://schemas.openxmlformats.org/officeDocument/2006/relationships/slideLayout" Target="/ppt/slideLayouts/slideLayout1.xml" Id="R491483f09cff4a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1483f09cff4a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a7657c5d94e09" /><Relationship Type="http://schemas.openxmlformats.org/officeDocument/2006/relationships/notesSlide" Target="/ppt/notesSlides/notesSlide1.xml" Id="R2e6d264c3b7b4d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overview-frame-host">
            <a:extLst xmlns:a="http://schemas.openxmlformats.org/drawingml/2006/main">
              <a:ext uri="{FF2B5EF4-FFF2-40B4-BE49-F238E27FC236}">
                <a16:creationId xmlns:a16="http://schemas.microsoft.com/office/drawing/2014/main" id="{CC80B1E4-D909-41B6-AD22-A598A98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09675"/>
            <a:ext cx="409575" cy="95"/>
          </a:xfrm>
          <a:custGeom xmlns:a="http://schemas.openxmlformats.org/drawingml/2006/main">
            <a:pathLst>
              <a:path w="409575" h="9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2" name="overview-frame-host--arrow">
            <a:extLst xmlns:a="http://schemas.openxmlformats.org/drawingml/2006/main">
              <a:ext uri="{FF2B5EF4-FFF2-40B4-BE49-F238E27FC236}">
                <a16:creationId xmlns:a16="http://schemas.microsoft.com/office/drawing/2014/main" id="{1450BC4F-C508-4082-99F6-47F729A0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" y="115970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overview-host-observations">
            <a:extLst xmlns:a="http://schemas.openxmlformats.org/drawingml/2006/main">
              <a:ext uri="{FF2B5EF4-FFF2-40B4-BE49-F238E27FC236}">
                <a16:creationId xmlns:a16="http://schemas.microsoft.com/office/drawing/2014/main" id="{DBD50EC3-4D99-4742-9508-8FFD3F15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09675"/>
            <a:ext cx="457200" cy="95"/>
          </a:xfrm>
          <a:custGeom xmlns:a="http://schemas.openxmlformats.org/drawingml/2006/main">
            <a:pathLst>
              <a:path w="457200" h="9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4" name="overview-host-observations--arrow">
            <a:extLst xmlns:a="http://schemas.openxmlformats.org/drawingml/2006/main">
              <a:ext uri="{FF2B5EF4-FFF2-40B4-BE49-F238E27FC236}">
                <a16:creationId xmlns:a16="http://schemas.microsoft.com/office/drawing/2014/main" id="{717DDFCC-D39A-47E3-8DD5-63AD621C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5" y="115970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verview-observations-propose">
            <a:extLst xmlns:a="http://schemas.openxmlformats.org/drawingml/2006/main">
              <a:ext uri="{FF2B5EF4-FFF2-40B4-BE49-F238E27FC236}">
                <a16:creationId xmlns:a16="http://schemas.microsoft.com/office/drawing/2014/main" id="{2D723B14-D752-48F7-88BE-B1013C96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209675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6" name="overview-observations-propose--arrow">
            <a:extLst xmlns:a="http://schemas.openxmlformats.org/drawingml/2006/main">
              <a:ext uri="{FF2B5EF4-FFF2-40B4-BE49-F238E27FC236}">
                <a16:creationId xmlns:a16="http://schemas.microsoft.com/office/drawing/2014/main" id="{A02C55AC-F765-4C87-8577-4EE23AED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3645" y="115970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verview-propose-verify">
            <a:extLst xmlns:a="http://schemas.openxmlformats.org/drawingml/2006/main">
              <a:ext uri="{FF2B5EF4-FFF2-40B4-BE49-F238E27FC236}">
                <a16:creationId xmlns:a16="http://schemas.microsoft.com/office/drawing/2014/main" id="{4D1C6CE7-6DEE-429A-A41F-6293892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09675"/>
            <a:ext cx="657225" cy="95"/>
          </a:xfrm>
          <a:custGeom xmlns:a="http://schemas.openxmlformats.org/drawingml/2006/main">
            <a:pathLst>
              <a:path w="657225" h="95">
                <a:moveTo>
                  <a:pt x="0" y="0"/>
                </a:moveTo>
                <a:lnTo>
                  <a:pt x="657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8" name="overview-propose-verify--arrow">
            <a:extLst xmlns:a="http://schemas.openxmlformats.org/drawingml/2006/main">
              <a:ext uri="{FF2B5EF4-FFF2-40B4-BE49-F238E27FC236}">
                <a16:creationId xmlns:a16="http://schemas.microsoft.com/office/drawing/2014/main" id="{5185493F-A625-425E-857D-ACB2886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570" y="115970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verview-verify-adapter">
            <a:extLst xmlns:a="http://schemas.openxmlformats.org/drawingml/2006/main">
              <a:ext uri="{FF2B5EF4-FFF2-40B4-BE49-F238E27FC236}">
                <a16:creationId xmlns:a16="http://schemas.microsoft.com/office/drawing/2014/main" id="{73825F1F-A6B3-4BB9-A585-485E7EC4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209675"/>
            <a:ext cx="990600" cy="95"/>
          </a:xfrm>
          <a:custGeom xmlns:a="http://schemas.openxmlformats.org/drawingml/2006/main">
            <a:pathLst>
              <a:path w="990600" h="9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0" name="overview-verify-adapter--arrow">
            <a:extLst xmlns:a="http://schemas.openxmlformats.org/drawingml/2006/main">
              <a:ext uri="{FF2B5EF4-FFF2-40B4-BE49-F238E27FC236}">
                <a16:creationId xmlns:a16="http://schemas.microsoft.com/office/drawing/2014/main" id="{74783BCF-D26B-420B-AAEA-9708BD00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345" y="115970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verview-adapter-output">
            <a:extLst xmlns:a="http://schemas.openxmlformats.org/drawingml/2006/main">
              <a:ext uri="{FF2B5EF4-FFF2-40B4-BE49-F238E27FC236}">
                <a16:creationId xmlns:a16="http://schemas.microsoft.com/office/drawing/2014/main" id="{FFC48960-B944-4DF5-ACCB-B135A60A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1209675"/>
            <a:ext cx="571500" cy="95"/>
          </a:xfrm>
          <a:custGeom xmlns:a="http://schemas.openxmlformats.org/drawingml/2006/main"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2" name="overview-adapter-output--arrow">
            <a:extLst xmlns:a="http://schemas.openxmlformats.org/drawingml/2006/main">
              <a:ext uri="{FF2B5EF4-FFF2-40B4-BE49-F238E27FC236}">
                <a16:creationId xmlns:a16="http://schemas.microsoft.com/office/drawing/2014/main" id="{40190161-5B0E-4A7B-BFA7-B3B73FDB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2570" y="115970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st-mask-bypass">
            <a:extLst xmlns:a="http://schemas.openxmlformats.org/drawingml/2006/main">
              <a:ext uri="{FF2B5EF4-FFF2-40B4-BE49-F238E27FC236}">
                <a16:creationId xmlns:a16="http://schemas.microsoft.com/office/drawing/2014/main" id="{40ADA3AB-C181-4B8D-B7F8-496D89E2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33350"/>
            <a:ext cx="8524875" cy="762000"/>
          </a:xfrm>
          <a:custGeom xmlns:a="http://schemas.openxmlformats.org/drawingml/2006/main">
            <a:pathLst>
              <a:path w="8524875" h="762000">
                <a:moveTo>
                  <a:pt x="0" y="514350"/>
                </a:moveTo>
                <a:lnTo>
                  <a:pt x="0" y="0"/>
                </a:lnTo>
                <a:lnTo>
                  <a:pt x="8524875" y="0"/>
                </a:lnTo>
                <a:lnTo>
                  <a:pt x="852487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F7B82"/>
            </a:solidFill>
            <a:prstDash val="solid"/>
          </a:ln>
        </p:spPr>
      </p:sp>
      <p:sp>
        <p:nvSpPr>
          <p:cNvPr id="14" name="host-mask-bypass--arrow">
            <a:extLst xmlns:a="http://schemas.openxmlformats.org/drawingml/2006/main">
              <a:ext uri="{FF2B5EF4-FFF2-40B4-BE49-F238E27FC236}">
                <a16:creationId xmlns:a16="http://schemas.microsoft.com/office/drawing/2014/main" id="{6C3834E5-34D8-41CA-8E3C-440A8C28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7895" y="782955"/>
            <a:ext cx="96660" cy="112395"/>
          </a:xfrm>
          <a:custGeom xmlns:a="http://schemas.openxmlformats.org/drawingml/2006/main">
            <a:pathLst>
              <a:path w="96660" h="112395">
                <a:moveTo>
                  <a:pt x="48330" y="112395"/>
                </a:moveTo>
                <a:lnTo>
                  <a:pt x="966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F7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ost-bypass-label">
            <a:extLst xmlns:a="http://schemas.openxmlformats.org/drawingml/2006/main">
              <a:ext uri="{FF2B5EF4-FFF2-40B4-BE49-F238E27FC236}">
                <a16:creationId xmlns:a16="http://schemas.microsoft.com/office/drawing/2014/main" id="{4E97924A-F22F-457A-ADE3-777CF885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"/>
            <a:ext cx="2095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host masks</a:t>
            </a:r>
          </a:p>
        </p:txBody>
      </p:sp>
      <p:sp>
        <p:nvSpPr>
          <p:cNvPr id="16" name="state-history-to-reasoning">
            <a:extLst xmlns:a="http://schemas.openxmlformats.org/drawingml/2006/main">
              <a:ext uri="{FF2B5EF4-FFF2-40B4-BE49-F238E27FC236}">
                <a16:creationId xmlns:a16="http://schemas.microsoft.com/office/drawing/2014/main" id="{261B1289-D2BC-4F53-BA07-4D59D402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323850" cy="1133475"/>
          </a:xfrm>
          <a:custGeom xmlns:a="http://schemas.openxmlformats.org/drawingml/2006/main">
            <a:pathLst>
              <a:path w="323850" h="1133475">
                <a:moveTo>
                  <a:pt x="0" y="1133475"/>
                </a:moveTo>
                <a:lnTo>
                  <a:pt x="323850" y="1133475"/>
                </a:ln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7" name="state-history-to-reasoning--arrow">
            <a:extLst xmlns:a="http://schemas.openxmlformats.org/drawingml/2006/main">
              <a:ext uri="{FF2B5EF4-FFF2-40B4-BE49-F238E27FC236}">
                <a16:creationId xmlns:a16="http://schemas.microsoft.com/office/drawing/2014/main" id="{51610575-8DFF-4563-82D9-9B8A7785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382" y="1571625"/>
            <a:ext cx="99936" cy="116205"/>
          </a:xfrm>
          <a:custGeom xmlns:a="http://schemas.openxmlformats.org/drawingml/2006/main">
            <a:pathLst>
              <a:path w="99936" h="116205">
                <a:moveTo>
                  <a:pt x="49968" y="0"/>
                </a:moveTo>
                <a:lnTo>
                  <a:pt x="0" y="116205"/>
                </a:lnTo>
                <a:lnTo>
                  <a:pt x="99936" y="116205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verified-to-write">
            <a:extLst xmlns:a="http://schemas.openxmlformats.org/drawingml/2006/main">
              <a:ext uri="{FF2B5EF4-FFF2-40B4-BE49-F238E27FC236}">
                <a16:creationId xmlns:a16="http://schemas.microsoft.com/office/drawing/2014/main" id="{0FA39389-D78C-4FC9-B407-E23019A2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571625"/>
            <a:ext cx="95" cy="790575"/>
          </a:xfrm>
          <a:custGeom xmlns:a="http://schemas.openxmlformats.org/drawingml/2006/main">
            <a:pathLst>
              <a:path w="95" h="790575">
                <a:moveTo>
                  <a:pt x="0" y="0"/>
                </a:moveTo>
                <a:lnTo>
                  <a:pt x="0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9" name="verified-to-write--arrow">
            <a:extLst xmlns:a="http://schemas.openxmlformats.org/drawingml/2006/main">
              <a:ext uri="{FF2B5EF4-FFF2-40B4-BE49-F238E27FC236}">
                <a16:creationId xmlns:a16="http://schemas.microsoft.com/office/drawing/2014/main" id="{9CF40DA2-0FF7-4CD3-965B-56F49D2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0707" y="2245995"/>
            <a:ext cx="99936" cy="116205"/>
          </a:xfrm>
          <a:custGeom xmlns:a="http://schemas.openxmlformats.org/drawingml/2006/main">
            <a:pathLst>
              <a:path w="99936" h="116205">
                <a:moveTo>
                  <a:pt x="49968" y="116205"/>
                </a:moveTo>
                <a:lnTo>
                  <a:pt x="999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ingle-memory-return">
            <a:extLst xmlns:a="http://schemas.openxmlformats.org/drawingml/2006/main">
              <a:ext uri="{FF2B5EF4-FFF2-40B4-BE49-F238E27FC236}">
                <a16:creationId xmlns:a16="http://schemas.microsoft.com/office/drawing/2014/main" id="{2D93852B-AE86-4D39-A496-9C86D6AF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028950"/>
            <a:ext cx="3562350" cy="361950"/>
          </a:xfrm>
          <a:custGeom xmlns:a="http://schemas.openxmlformats.org/drawingml/2006/main">
            <a:pathLst>
              <a:path w="3562350" h="361950">
                <a:moveTo>
                  <a:pt x="3562350" y="0"/>
                </a:moveTo>
                <a:lnTo>
                  <a:pt x="3562350" y="361950"/>
                </a:lnTo>
                <a:lnTo>
                  <a:pt x="0" y="361950"/>
                </a:lnTo>
                <a:lnTo>
                  <a:pt x="0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27D51"/>
            </a:solidFill>
            <a:prstDash val="solid"/>
          </a:ln>
        </p:spPr>
      </p:sp>
      <p:sp>
        <p:nvSpPr>
          <p:cNvPr id="21" name="single-memory-return--arrow">
            <a:extLst xmlns:a="http://schemas.openxmlformats.org/drawingml/2006/main">
              <a:ext uri="{FF2B5EF4-FFF2-40B4-BE49-F238E27FC236}">
                <a16:creationId xmlns:a16="http://schemas.microsoft.com/office/drawing/2014/main" id="{CB275258-7583-49BA-9A42-32DCD44D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4057" y="3038475"/>
            <a:ext cx="99936" cy="116205"/>
          </a:xfrm>
          <a:custGeom xmlns:a="http://schemas.openxmlformats.org/drawingml/2006/main">
            <a:pathLst>
              <a:path w="99936" h="116205">
                <a:moveTo>
                  <a:pt x="49968" y="0"/>
                </a:moveTo>
                <a:lnTo>
                  <a:pt x="0" y="116205"/>
                </a:lnTo>
                <a:lnTo>
                  <a:pt x="99936" y="116205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ime-return-label">
            <a:extLst xmlns:a="http://schemas.openxmlformats.org/drawingml/2006/main">
              <a:ext uri="{FF2B5EF4-FFF2-40B4-BE49-F238E27FC236}">
                <a16:creationId xmlns:a16="http://schemas.microsoft.com/office/drawing/2014/main" id="{18120431-F444-40EF-A7E7-09A545B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143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627D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627D51"/>
                </a:solidFill>
                <a:latin typeface="Times New Roman"/>
                <a:ea typeface="Times New Roman"/>
                <a:cs typeface="Times New Roman"/>
              </a:rPr>
              <a:t>t + 1</a:t>
            </a:r>
          </a:p>
        </p:txBody>
      </p:sp>
      <p:sp>
        <p:nvSpPr>
          <p:cNvPr id="23" name="zoom-left">
            <a:extLst xmlns:a="http://schemas.openxmlformats.org/drawingml/2006/main">
              <a:ext uri="{FF2B5EF4-FFF2-40B4-BE49-F238E27FC236}">
                <a16:creationId xmlns:a16="http://schemas.microsoft.com/office/drawing/2014/main" id="{DCEAE5A5-11B9-4B53-8B90-DADFB03F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876425"/>
            <a:ext cx="5876925" cy="2028825"/>
          </a:xfrm>
          <a:custGeom xmlns:a="http://schemas.openxmlformats.org/drawingml/2006/main">
            <a:pathLst>
              <a:path w="5876925" h="2028825">
                <a:moveTo>
                  <a:pt x="5876925" y="0"/>
                </a:moveTo>
                <a:lnTo>
                  <a:pt x="0" y="2028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2B9BD"/>
            </a:solidFill>
            <a:prstDash val="solid"/>
          </a:ln>
        </p:spPr>
      </p:sp>
      <p:sp>
        <p:nvSpPr>
          <p:cNvPr id="24" name="zoom-right">
            <a:extLst xmlns:a="http://schemas.openxmlformats.org/drawingml/2006/main">
              <a:ext uri="{FF2B5EF4-FFF2-40B4-BE49-F238E27FC236}">
                <a16:creationId xmlns:a16="http://schemas.microsoft.com/office/drawing/2014/main" id="{57CF7626-C642-4658-ABC3-DC548A0C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76425"/>
            <a:ext cx="676275" cy="2028825"/>
          </a:xfrm>
          <a:custGeom xmlns:a="http://schemas.openxmlformats.org/drawingml/2006/main">
            <a:pathLst>
              <a:path w="676275" h="2028825">
                <a:moveTo>
                  <a:pt x="676275" y="0"/>
                </a:moveTo>
                <a:lnTo>
                  <a:pt x="0" y="20288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B2B9BD"/>
            </a:solidFill>
            <a:prstDash val="solid"/>
          </a:ln>
        </p:spPr>
      </p:sp>
      <p:sp>
        <p:nvSpPr>
          <p:cNvPr id="25" name="input-schematic-frame">
            <a:extLst xmlns:a="http://schemas.openxmlformats.org/drawingml/2006/main">
              <a:ext uri="{FF2B5EF4-FFF2-40B4-BE49-F238E27FC236}">
                <a16:creationId xmlns:a16="http://schemas.microsoft.com/office/drawing/2014/main" id="{4BFC2356-93FC-4674-A873-BB6F63D9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733425"/>
            <a:ext cx="16764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0"/>
          </a:solidFill>
          <a:ln xmlns:a="http://schemas.openxmlformats.org/drawingml/2006/main" w="12383">
            <a:solidFill>
              <a:srgbClr val="768493"/>
            </a:solidFill>
            <a:prstDash val="solid"/>
          </a:ln>
        </p:spPr>
      </p:sp>
      <p:sp>
        <p:nvSpPr>
          <p:cNvPr id="26" name="input-schematic-ground">
            <a:extLst xmlns:a="http://schemas.openxmlformats.org/drawingml/2006/main">
              <a:ext uri="{FF2B5EF4-FFF2-40B4-BE49-F238E27FC236}">
                <a16:creationId xmlns:a16="http://schemas.microsoft.com/office/drawing/2014/main" id="{5C3CA438-4BBA-4EC3-A456-FA9654D7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287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nput-schematic-horizon">
            <a:extLst xmlns:a="http://schemas.openxmlformats.org/drawingml/2006/main">
              <a:ext uri="{FF2B5EF4-FFF2-40B4-BE49-F238E27FC236}">
                <a16:creationId xmlns:a16="http://schemas.microsoft.com/office/drawing/2014/main" id="{BDA004A5-8D92-4A0F-BABA-43E8B61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19225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8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nput-schematic-object-a">
            <a:extLst xmlns:a="http://schemas.openxmlformats.org/drawingml/2006/main">
              <a:ext uri="{FF2B5EF4-FFF2-40B4-BE49-F238E27FC236}">
                <a16:creationId xmlns:a16="http://schemas.microsoft.com/office/drawing/2014/main" id="{CB3FD485-0927-4DE4-BE9F-F4DD519D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942975"/>
            <a:ext cx="466725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0AFB8"/>
          </a:solidFill>
          <a:ln xmlns:a="http://schemas.openxmlformats.org/drawingml/2006/main" w="15240">
            <a:solidFill>
              <a:srgbClr val="596D7A"/>
            </a:solidFill>
            <a:prstDash val="solid"/>
          </a:ln>
        </p:spPr>
      </p:sp>
      <p:sp>
        <p:nvSpPr>
          <p:cNvPr id="29" name="input-schematic-object-b">
            <a:extLst xmlns:a="http://schemas.openxmlformats.org/drawingml/2006/main">
              <a:ext uri="{FF2B5EF4-FFF2-40B4-BE49-F238E27FC236}">
                <a16:creationId xmlns:a16="http://schemas.microsoft.com/office/drawing/2014/main" id="{7F585282-C083-4370-984D-1382CAD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95350"/>
            <a:ext cx="561975" cy="466725"/>
          </a:xfrm>
          <a:custGeom xmlns:a="http://schemas.openxmlformats.org/drawingml/2006/main">
            <a:pathLst>
              <a:path w="561975" h="466725">
                <a:moveTo>
                  <a:pt x="0" y="466725"/>
                </a:moveTo>
                <a:lnTo>
                  <a:pt x="209550" y="0"/>
                </a:lnTo>
                <a:lnTo>
                  <a:pt x="561975" y="466725"/>
                </a:lnTo>
                <a:close/>
              </a:path>
            </a:pathLst>
          </a:custGeom>
          <a:solidFill xmlns:a="http://schemas.openxmlformats.org/drawingml/2006/main">
            <a:srgbClr val="657E90"/>
          </a:solidFill>
          <a:ln xmlns:a="http://schemas.openxmlformats.org/drawingml/2006/main" w="15240">
            <a:solidFill>
              <a:srgbClr val="3B5365"/>
            </a:solidFill>
            <a:prstDash val="solid"/>
          </a:ln>
        </p:spPr>
      </p:sp>
      <p:sp>
        <p:nvSpPr>
          <p:cNvPr id="30" name="frame-label">
            <a:extLst xmlns:a="http://schemas.openxmlformats.org/drawingml/2006/main">
              <a:ext uri="{FF2B5EF4-FFF2-40B4-BE49-F238E27FC236}">
                <a16:creationId xmlns:a16="http://schemas.microsoft.com/office/drawing/2014/main" id="{268072AB-23F2-4C3E-BD56-6164765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"/>
            <a:ext cx="138112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Frame Iₜ</a:t>
            </a:r>
          </a:p>
        </p:txBody>
      </p:sp>
      <p:sp>
        <p:nvSpPr>
          <p:cNvPr id="31" name="host-module">
            <a:extLst xmlns:a="http://schemas.openxmlformats.org/drawingml/2006/main">
              <a:ext uri="{FF2B5EF4-FFF2-40B4-BE49-F238E27FC236}">
                <a16:creationId xmlns:a16="http://schemas.microsoft.com/office/drawing/2014/main" id="{21EAE138-D58E-4DB0-ADBE-8125B5A0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57225"/>
            <a:ext cx="1809750" cy="1104900"/>
          </a:xfrm>
          <a:custGeom xmlns:a="http://schemas.openxmlformats.org/drawingml/2006/main">
            <a:pathLst>
              <a:path w="1809750" h="1104900">
                <a:moveTo>
                  <a:pt x="1724025" y="0"/>
                </a:moveTo>
                <a:lnTo>
                  <a:pt x="1735214" y="733"/>
                </a:lnTo>
                <a:lnTo>
                  <a:pt x="1746212" y="2921"/>
                </a:lnTo>
                <a:lnTo>
                  <a:pt x="1756831" y="6525"/>
                </a:lnTo>
                <a:lnTo>
                  <a:pt x="1766888" y="11485"/>
                </a:lnTo>
                <a:lnTo>
                  <a:pt x="1776211" y="17715"/>
                </a:lnTo>
                <a:lnTo>
                  <a:pt x="1784642" y="25108"/>
                </a:lnTo>
                <a:lnTo>
                  <a:pt x="1792035" y="33539"/>
                </a:lnTo>
                <a:lnTo>
                  <a:pt x="1798265" y="42863"/>
                </a:lnTo>
                <a:lnTo>
                  <a:pt x="1803225" y="52919"/>
                </a:lnTo>
                <a:lnTo>
                  <a:pt x="1806829" y="63538"/>
                </a:lnTo>
                <a:lnTo>
                  <a:pt x="1809017" y="74536"/>
                </a:lnTo>
                <a:lnTo>
                  <a:pt x="1809750" y="85725"/>
                </a:lnTo>
                <a:lnTo>
                  <a:pt x="1809750" y="1019175"/>
                </a:lnTo>
                <a:lnTo>
                  <a:pt x="1809017" y="1030364"/>
                </a:lnTo>
                <a:lnTo>
                  <a:pt x="1806829" y="1041362"/>
                </a:lnTo>
                <a:lnTo>
                  <a:pt x="1803225" y="1051981"/>
                </a:lnTo>
                <a:lnTo>
                  <a:pt x="1798265" y="1062038"/>
                </a:lnTo>
                <a:lnTo>
                  <a:pt x="1792035" y="1071361"/>
                </a:lnTo>
                <a:lnTo>
                  <a:pt x="1784642" y="1079792"/>
                </a:lnTo>
                <a:lnTo>
                  <a:pt x="1776211" y="1087185"/>
                </a:lnTo>
                <a:lnTo>
                  <a:pt x="1766888" y="1093415"/>
                </a:lnTo>
                <a:lnTo>
                  <a:pt x="1756831" y="1098375"/>
                </a:lnTo>
                <a:lnTo>
                  <a:pt x="1746212" y="1101979"/>
                </a:lnTo>
                <a:lnTo>
                  <a:pt x="1735214" y="1104167"/>
                </a:lnTo>
                <a:lnTo>
                  <a:pt x="1724025" y="1104900"/>
                </a:lnTo>
                <a:lnTo>
                  <a:pt x="85725" y="1104900"/>
                </a:lnTo>
                <a:lnTo>
                  <a:pt x="74536" y="1104167"/>
                </a:lnTo>
                <a:lnTo>
                  <a:pt x="63538" y="1101979"/>
                </a:lnTo>
                <a:lnTo>
                  <a:pt x="52919" y="1098375"/>
                </a:lnTo>
                <a:lnTo>
                  <a:pt x="42863" y="1093415"/>
                </a:lnTo>
                <a:lnTo>
                  <a:pt x="33539" y="1087185"/>
                </a:lnTo>
                <a:lnTo>
                  <a:pt x="25108" y="1079792"/>
                </a:lnTo>
                <a:lnTo>
                  <a:pt x="17715" y="1071361"/>
                </a:lnTo>
                <a:lnTo>
                  <a:pt x="11485" y="1062038"/>
                </a:lnTo>
                <a:lnTo>
                  <a:pt x="6525" y="1051981"/>
                </a:lnTo>
                <a:lnTo>
                  <a:pt x="2921" y="1041362"/>
                </a:lnTo>
                <a:lnTo>
                  <a:pt x="733" y="1030364"/>
                </a:lnTo>
                <a:lnTo>
                  <a:pt x="0" y="1019175"/>
                </a:lnTo>
                <a:lnTo>
                  <a:pt x="0" y="85725"/>
                </a:lnTo>
                <a:lnTo>
                  <a:pt x="733" y="74536"/>
                </a:lnTo>
                <a:lnTo>
                  <a:pt x="2921" y="63538"/>
                </a:lnTo>
                <a:lnTo>
                  <a:pt x="6525" y="52919"/>
                </a:lnTo>
                <a:lnTo>
                  <a:pt x="11485" y="42863"/>
                </a:lnTo>
                <a:lnTo>
                  <a:pt x="17715" y="33539"/>
                </a:lnTo>
                <a:lnTo>
                  <a:pt x="25108" y="25108"/>
                </a:lnTo>
                <a:lnTo>
                  <a:pt x="33539" y="17715"/>
                </a:lnTo>
                <a:lnTo>
                  <a:pt x="42863" y="11485"/>
                </a:lnTo>
                <a:lnTo>
                  <a:pt x="52919" y="6525"/>
                </a:lnTo>
                <a:lnTo>
                  <a:pt x="63538" y="2921"/>
                </a:lnTo>
                <a:lnTo>
                  <a:pt x="74536" y="733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D8EBF8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32" name="host-label-line1">
            <a:extLst xmlns:a="http://schemas.openxmlformats.org/drawingml/2006/main">
              <a:ext uri="{FF2B5EF4-FFF2-40B4-BE49-F238E27FC236}">
                <a16:creationId xmlns:a16="http://schemas.microsoft.com/office/drawing/2014/main" id="{C8F43F43-7D2F-472A-8FEC-F20CE9EC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47725"/>
            <a:ext cx="1457325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Segmentation</a:t>
            </a:r>
          </a:p>
        </p:txBody>
      </p:sp>
      <p:sp>
        <p:nvSpPr>
          <p:cNvPr id="33" name="host-label-line2">
            <a:extLst xmlns:a="http://schemas.openxmlformats.org/drawingml/2006/main">
              <a:ext uri="{FF2B5EF4-FFF2-40B4-BE49-F238E27FC236}">
                <a16:creationId xmlns:a16="http://schemas.microsoft.com/office/drawing/2014/main" id="{C5290196-593C-4000-9846-F53F5E03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190625"/>
            <a:ext cx="1047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1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host</a:t>
            </a:r>
          </a:p>
        </p:txBody>
      </p:sp>
      <p:sp>
        <p:nvSpPr>
          <p:cNvPr id="34" name="frozen-axis-0">
            <a:extLst xmlns:a="http://schemas.openxmlformats.org/drawingml/2006/main">
              <a:ext uri="{FF2B5EF4-FFF2-40B4-BE49-F238E27FC236}">
                <a16:creationId xmlns:a16="http://schemas.microsoft.com/office/drawing/2014/main" id="{B2EC739C-85C3-47AA-ABF0-A3E25846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95425"/>
            <a:ext cx="228600" cy="95"/>
          </a:xfrm>
          <a:custGeom xmlns:a="http://schemas.openxmlformats.org/drawingml/2006/main">
            <a:pathLst>
              <a:path w="228600" h="9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97EAA"/>
            </a:solidFill>
            <a:prstDash val="solid"/>
          </a:ln>
        </p:spPr>
      </p:sp>
      <p:sp>
        <p:nvSpPr>
          <p:cNvPr id="35" name="frozen-axis-1">
            <a:extLst xmlns:a="http://schemas.openxmlformats.org/drawingml/2006/main">
              <a:ext uri="{FF2B5EF4-FFF2-40B4-BE49-F238E27FC236}">
                <a16:creationId xmlns:a16="http://schemas.microsoft.com/office/drawing/2014/main" id="{0012DF83-5B3E-403B-A528-64CBBCB4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96438"/>
            <a:ext cx="114300" cy="197973"/>
          </a:xfrm>
          <a:custGeom xmlns:a="http://schemas.openxmlformats.org/drawingml/2006/main">
            <a:pathLst>
              <a:path w="114300" h="197973">
                <a:moveTo>
                  <a:pt x="0" y="0"/>
                </a:moveTo>
                <a:lnTo>
                  <a:pt x="114300" y="197973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97EAA"/>
            </a:solidFill>
            <a:prstDash val="solid"/>
          </a:ln>
        </p:spPr>
      </p:sp>
      <p:sp>
        <p:nvSpPr>
          <p:cNvPr id="36" name="frozen-axis-2">
            <a:extLst xmlns:a="http://schemas.openxmlformats.org/drawingml/2006/main">
              <a:ext uri="{FF2B5EF4-FFF2-40B4-BE49-F238E27FC236}">
                <a16:creationId xmlns:a16="http://schemas.microsoft.com/office/drawing/2014/main" id="{9A35594B-E711-44DB-9718-2EB4480A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96438"/>
            <a:ext cx="114300" cy="197973"/>
          </a:xfrm>
          <a:custGeom xmlns:a="http://schemas.openxmlformats.org/drawingml/2006/main">
            <a:pathLst>
              <a:path w="114300" h="197973">
                <a:moveTo>
                  <a:pt x="114300" y="0"/>
                </a:moveTo>
                <a:lnTo>
                  <a:pt x="0" y="197973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397EAA"/>
            </a:solidFill>
            <a:prstDash val="solid"/>
          </a:ln>
        </p:spPr>
      </p:sp>
      <p:sp>
        <p:nvSpPr>
          <p:cNvPr id="37" name="observations-label">
            <a:extLst xmlns:a="http://schemas.openxmlformats.org/drawingml/2006/main">
              <a:ext uri="{FF2B5EF4-FFF2-40B4-BE49-F238E27FC236}">
                <a16:creationId xmlns:a16="http://schemas.microsoft.com/office/drawing/2014/main" id="{2F88669F-6C3A-4BFB-B7C5-D6A99F75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28650"/>
            <a:ext cx="18097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Observations</a:t>
            </a:r>
          </a:p>
        </p:txBody>
      </p:sp>
      <p:sp>
        <p:nvSpPr>
          <p:cNvPr id="38" name="observation-0-0">
            <a:extLst xmlns:a="http://schemas.openxmlformats.org/drawingml/2006/main">
              <a:ext uri="{FF2B5EF4-FFF2-40B4-BE49-F238E27FC236}">
                <a16:creationId xmlns:a16="http://schemas.microsoft.com/office/drawing/2014/main" id="{7FA71A4F-AD29-410F-B63C-34D924F8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00012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C7D9E6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39" name="observation-0-1">
            <a:extLst xmlns:a="http://schemas.openxmlformats.org/drawingml/2006/main">
              <a:ext uri="{FF2B5EF4-FFF2-40B4-BE49-F238E27FC236}">
                <a16:creationId xmlns:a16="http://schemas.microsoft.com/office/drawing/2014/main" id="{A92196A6-9969-424F-8884-516CE0F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17157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8FB3CC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0" name="observation-0-2">
            <a:extLst xmlns:a="http://schemas.openxmlformats.org/drawingml/2006/main">
              <a:ext uri="{FF2B5EF4-FFF2-40B4-BE49-F238E27FC236}">
                <a16:creationId xmlns:a16="http://schemas.microsoft.com/office/drawing/2014/main" id="{FFA097DE-058D-4091-9324-53E1450E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34302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578DB1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1" name="observation-1-0">
            <a:extLst xmlns:a="http://schemas.openxmlformats.org/drawingml/2006/main">
              <a:ext uri="{FF2B5EF4-FFF2-40B4-BE49-F238E27FC236}">
                <a16:creationId xmlns:a16="http://schemas.microsoft.com/office/drawing/2014/main" id="{D44CFF76-0E98-46EB-93FE-2DDBDFDE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00012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C7D9E6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2" name="observation-1-1">
            <a:extLst xmlns:a="http://schemas.openxmlformats.org/drawingml/2006/main">
              <a:ext uri="{FF2B5EF4-FFF2-40B4-BE49-F238E27FC236}">
                <a16:creationId xmlns:a16="http://schemas.microsoft.com/office/drawing/2014/main" id="{30318818-8CAC-424F-850D-536924AC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17157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8FB3CC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3" name="observation-1-2">
            <a:extLst xmlns:a="http://schemas.openxmlformats.org/drawingml/2006/main">
              <a:ext uri="{FF2B5EF4-FFF2-40B4-BE49-F238E27FC236}">
                <a16:creationId xmlns:a16="http://schemas.microsoft.com/office/drawing/2014/main" id="{789C269D-CBFE-43EE-A514-7828C7AC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134302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578DB1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4" name="observation-2-0">
            <a:extLst xmlns:a="http://schemas.openxmlformats.org/drawingml/2006/main">
              <a:ext uri="{FF2B5EF4-FFF2-40B4-BE49-F238E27FC236}">
                <a16:creationId xmlns:a16="http://schemas.microsoft.com/office/drawing/2014/main" id="{FCC68C55-5730-493D-AF9B-C3B33ED5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00012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C7D9E6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5" name="observation-2-1">
            <a:extLst xmlns:a="http://schemas.openxmlformats.org/drawingml/2006/main">
              <a:ext uri="{FF2B5EF4-FFF2-40B4-BE49-F238E27FC236}">
                <a16:creationId xmlns:a16="http://schemas.microsoft.com/office/drawing/2014/main" id="{816D4FDC-CDD2-45DF-A3D7-5E280A96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17157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8FB3CC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6" name="observation-2-2">
            <a:extLst xmlns:a="http://schemas.openxmlformats.org/drawingml/2006/main">
              <a:ext uri="{FF2B5EF4-FFF2-40B4-BE49-F238E27FC236}">
                <a16:creationId xmlns:a16="http://schemas.microsoft.com/office/drawing/2014/main" id="{9AB8BB05-3CB1-44D5-80E6-BB9D562C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43025"/>
            <a:ext cx="285750" cy="161925"/>
          </a:xfrm>
          <a:custGeom xmlns:a="http://schemas.openxmlformats.org/drawingml/2006/main">
            <a:pathLst>
              <a:path w="285750" h="161925">
                <a:moveTo>
                  <a:pt x="266700" y="0"/>
                </a:moveTo>
                <a:lnTo>
                  <a:pt x="269187" y="163"/>
                </a:lnTo>
                <a:lnTo>
                  <a:pt x="271631" y="649"/>
                </a:lnTo>
                <a:lnTo>
                  <a:pt x="273990" y="1450"/>
                </a:lnTo>
                <a:lnTo>
                  <a:pt x="276225" y="2552"/>
                </a:lnTo>
                <a:lnTo>
                  <a:pt x="278297" y="3937"/>
                </a:lnTo>
                <a:lnTo>
                  <a:pt x="280170" y="5580"/>
                </a:lnTo>
                <a:lnTo>
                  <a:pt x="281813" y="7453"/>
                </a:lnTo>
                <a:lnTo>
                  <a:pt x="283198" y="9525"/>
                </a:lnTo>
                <a:lnTo>
                  <a:pt x="284300" y="11760"/>
                </a:lnTo>
                <a:lnTo>
                  <a:pt x="285101" y="14119"/>
                </a:lnTo>
                <a:lnTo>
                  <a:pt x="285587" y="16563"/>
                </a:lnTo>
                <a:lnTo>
                  <a:pt x="285750" y="19050"/>
                </a:lnTo>
                <a:lnTo>
                  <a:pt x="285750" y="142875"/>
                </a:lnTo>
                <a:lnTo>
                  <a:pt x="285587" y="145362"/>
                </a:lnTo>
                <a:lnTo>
                  <a:pt x="285101" y="147806"/>
                </a:lnTo>
                <a:lnTo>
                  <a:pt x="284300" y="150165"/>
                </a:lnTo>
                <a:lnTo>
                  <a:pt x="283198" y="152400"/>
                </a:lnTo>
                <a:lnTo>
                  <a:pt x="281813" y="154472"/>
                </a:lnTo>
                <a:lnTo>
                  <a:pt x="280170" y="156345"/>
                </a:lnTo>
                <a:lnTo>
                  <a:pt x="278297" y="157988"/>
                </a:lnTo>
                <a:lnTo>
                  <a:pt x="276225" y="159373"/>
                </a:lnTo>
                <a:lnTo>
                  <a:pt x="273990" y="160475"/>
                </a:lnTo>
                <a:lnTo>
                  <a:pt x="271631" y="161276"/>
                </a:lnTo>
                <a:lnTo>
                  <a:pt x="269187" y="161762"/>
                </a:lnTo>
                <a:lnTo>
                  <a:pt x="266700" y="161925"/>
                </a:lnTo>
                <a:lnTo>
                  <a:pt x="19050" y="161925"/>
                </a:lnTo>
                <a:lnTo>
                  <a:pt x="16563" y="161762"/>
                </a:lnTo>
                <a:lnTo>
                  <a:pt x="14119" y="161276"/>
                </a:lnTo>
                <a:lnTo>
                  <a:pt x="11760" y="160475"/>
                </a:lnTo>
                <a:lnTo>
                  <a:pt x="9525" y="159373"/>
                </a:lnTo>
                <a:lnTo>
                  <a:pt x="7453" y="157988"/>
                </a:lnTo>
                <a:lnTo>
                  <a:pt x="5580" y="156345"/>
                </a:lnTo>
                <a:lnTo>
                  <a:pt x="3937" y="154472"/>
                </a:lnTo>
                <a:lnTo>
                  <a:pt x="2552" y="152400"/>
                </a:lnTo>
                <a:lnTo>
                  <a:pt x="1450" y="150165"/>
                </a:lnTo>
                <a:lnTo>
                  <a:pt x="649" y="147806"/>
                </a:lnTo>
                <a:lnTo>
                  <a:pt x="163" y="145362"/>
                </a:lnTo>
                <a:lnTo>
                  <a:pt x="0" y="142875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578DB1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47" name="temporary-workspace">
            <a:extLst xmlns:a="http://schemas.openxmlformats.org/drawingml/2006/main">
              <a:ext uri="{FF2B5EF4-FFF2-40B4-BE49-F238E27FC236}">
                <a16:creationId xmlns:a16="http://schemas.microsoft.com/office/drawing/2014/main" id="{7B67FB80-2355-4B3F-9B08-9F641808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0550"/>
            <a:ext cx="3790950" cy="1285875"/>
          </a:xfrm>
          <a:custGeom xmlns:a="http://schemas.openxmlformats.org/drawingml/2006/main">
            <a:pathLst>
              <a:path w="3790950" h="1285875">
                <a:moveTo>
                  <a:pt x="3676650" y="0"/>
                </a:moveTo>
                <a:lnTo>
                  <a:pt x="3691569" y="978"/>
                </a:lnTo>
                <a:lnTo>
                  <a:pt x="3706233" y="3895"/>
                </a:lnTo>
                <a:lnTo>
                  <a:pt x="3720391" y="8701"/>
                </a:lnTo>
                <a:lnTo>
                  <a:pt x="3733800" y="15313"/>
                </a:lnTo>
                <a:lnTo>
                  <a:pt x="3746231" y="23620"/>
                </a:lnTo>
                <a:lnTo>
                  <a:pt x="3757472" y="33478"/>
                </a:lnTo>
                <a:lnTo>
                  <a:pt x="3767330" y="44719"/>
                </a:lnTo>
                <a:lnTo>
                  <a:pt x="3775637" y="57150"/>
                </a:lnTo>
                <a:lnTo>
                  <a:pt x="3782249" y="70559"/>
                </a:lnTo>
                <a:lnTo>
                  <a:pt x="3787055" y="84717"/>
                </a:lnTo>
                <a:lnTo>
                  <a:pt x="3789972" y="99381"/>
                </a:lnTo>
                <a:lnTo>
                  <a:pt x="3790950" y="114300"/>
                </a:lnTo>
                <a:lnTo>
                  <a:pt x="3790950" y="1171575"/>
                </a:lnTo>
                <a:lnTo>
                  <a:pt x="3789972" y="1186494"/>
                </a:lnTo>
                <a:lnTo>
                  <a:pt x="3787055" y="1201158"/>
                </a:lnTo>
                <a:lnTo>
                  <a:pt x="3782249" y="1215316"/>
                </a:lnTo>
                <a:lnTo>
                  <a:pt x="3775637" y="1228725"/>
                </a:lnTo>
                <a:lnTo>
                  <a:pt x="3767330" y="1241156"/>
                </a:lnTo>
                <a:lnTo>
                  <a:pt x="3757472" y="1252397"/>
                </a:lnTo>
                <a:lnTo>
                  <a:pt x="3746231" y="1262255"/>
                </a:lnTo>
                <a:lnTo>
                  <a:pt x="3733800" y="1270562"/>
                </a:lnTo>
                <a:lnTo>
                  <a:pt x="3720391" y="1277174"/>
                </a:lnTo>
                <a:lnTo>
                  <a:pt x="3706233" y="1281980"/>
                </a:lnTo>
                <a:lnTo>
                  <a:pt x="3691569" y="1284897"/>
                </a:lnTo>
                <a:lnTo>
                  <a:pt x="3676650" y="1285875"/>
                </a:lnTo>
                <a:lnTo>
                  <a:pt x="114300" y="1285875"/>
                </a:lnTo>
                <a:lnTo>
                  <a:pt x="99381" y="1284897"/>
                </a:lnTo>
                <a:lnTo>
                  <a:pt x="84717" y="1281980"/>
                </a:lnTo>
                <a:lnTo>
                  <a:pt x="70559" y="1277174"/>
                </a:lnTo>
                <a:lnTo>
                  <a:pt x="57150" y="1270562"/>
                </a:lnTo>
                <a:lnTo>
                  <a:pt x="44719" y="1262255"/>
                </a:lnTo>
                <a:lnTo>
                  <a:pt x="33478" y="1252397"/>
                </a:lnTo>
                <a:lnTo>
                  <a:pt x="23620" y="1241156"/>
                </a:lnTo>
                <a:lnTo>
                  <a:pt x="15313" y="1228725"/>
                </a:lnTo>
                <a:lnTo>
                  <a:pt x="8701" y="1215316"/>
                </a:lnTo>
                <a:lnTo>
                  <a:pt x="3895" y="1201158"/>
                </a:lnTo>
                <a:lnTo>
                  <a:pt x="978" y="1186494"/>
                </a:lnTo>
                <a:lnTo>
                  <a:pt x="0" y="1171575"/>
                </a:lnTo>
                <a:lnTo>
                  <a:pt x="0" y="114300"/>
                </a:lnTo>
                <a:lnTo>
                  <a:pt x="978" y="99381"/>
                </a:lnTo>
                <a:lnTo>
                  <a:pt x="3895" y="84717"/>
                </a:lnTo>
                <a:lnTo>
                  <a:pt x="8701" y="70559"/>
                </a:lnTo>
                <a:lnTo>
                  <a:pt x="15313" y="57150"/>
                </a:lnTo>
                <a:lnTo>
                  <a:pt x="23620" y="44719"/>
                </a:lnTo>
                <a:lnTo>
                  <a:pt x="33478" y="33478"/>
                </a:lnTo>
                <a:lnTo>
                  <a:pt x="44719" y="23620"/>
                </a:lnTo>
                <a:lnTo>
                  <a:pt x="57150" y="15313"/>
                </a:lnTo>
                <a:lnTo>
                  <a:pt x="70559" y="8701"/>
                </a:lnTo>
                <a:lnTo>
                  <a:pt x="84717" y="3895"/>
                </a:lnTo>
                <a:lnTo>
                  <a:pt x="99381" y="978"/>
                </a:lnTo>
                <a:lnTo>
                  <a:pt x="1143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C66A72"/>
            </a:solidFill>
            <a:prstDash val="solid"/>
          </a:ln>
        </p:spPr>
      </p:sp>
      <p:sp>
        <p:nvSpPr>
          <p:cNvPr id="48" name="workspace-label">
            <a:extLst xmlns:a="http://schemas.openxmlformats.org/drawingml/2006/main">
              <a:ext uri="{FF2B5EF4-FFF2-40B4-BE49-F238E27FC236}">
                <a16:creationId xmlns:a16="http://schemas.microsoft.com/office/drawing/2014/main" id="{E0BA29A1-C7A7-4054-B280-6CAF0FE0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8650"/>
            <a:ext cx="32194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Temporary workspace</a:t>
            </a:r>
          </a:p>
        </p:txBody>
      </p:sp>
      <p:sp>
        <p:nvSpPr>
          <p:cNvPr id="49" name="overview-propose">
            <a:extLst xmlns:a="http://schemas.openxmlformats.org/drawingml/2006/main">
              <a:ext uri="{FF2B5EF4-FFF2-40B4-BE49-F238E27FC236}">
                <a16:creationId xmlns:a16="http://schemas.microsoft.com/office/drawing/2014/main" id="{5E1BD046-07E0-428A-B8FD-30FCA266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000125"/>
            <a:ext cx="1409700" cy="571500"/>
          </a:xfrm>
          <a:custGeom xmlns:a="http://schemas.openxmlformats.org/drawingml/2006/main">
            <a:pathLst>
              <a:path w="1409700" h="571500">
                <a:moveTo>
                  <a:pt x="1343025" y="0"/>
                </a:moveTo>
                <a:lnTo>
                  <a:pt x="1351728" y="570"/>
                </a:lnTo>
                <a:lnTo>
                  <a:pt x="1360282" y="2272"/>
                </a:lnTo>
                <a:lnTo>
                  <a:pt x="1368540" y="5075"/>
                </a:lnTo>
                <a:lnTo>
                  <a:pt x="1376363" y="8933"/>
                </a:lnTo>
                <a:lnTo>
                  <a:pt x="1383614" y="13778"/>
                </a:lnTo>
                <a:lnTo>
                  <a:pt x="1390171" y="19529"/>
                </a:lnTo>
                <a:lnTo>
                  <a:pt x="1395922" y="26086"/>
                </a:lnTo>
                <a:lnTo>
                  <a:pt x="1400767" y="33338"/>
                </a:lnTo>
                <a:lnTo>
                  <a:pt x="1404625" y="41160"/>
                </a:lnTo>
                <a:lnTo>
                  <a:pt x="1407428" y="49418"/>
                </a:lnTo>
                <a:lnTo>
                  <a:pt x="1409130" y="57972"/>
                </a:lnTo>
                <a:lnTo>
                  <a:pt x="1409700" y="66675"/>
                </a:lnTo>
                <a:lnTo>
                  <a:pt x="1409700" y="504825"/>
                </a:lnTo>
                <a:lnTo>
                  <a:pt x="1409130" y="513528"/>
                </a:lnTo>
                <a:lnTo>
                  <a:pt x="1407428" y="522082"/>
                </a:lnTo>
                <a:lnTo>
                  <a:pt x="1404625" y="530340"/>
                </a:lnTo>
                <a:lnTo>
                  <a:pt x="1400767" y="538163"/>
                </a:lnTo>
                <a:lnTo>
                  <a:pt x="1395922" y="545414"/>
                </a:lnTo>
                <a:lnTo>
                  <a:pt x="1390171" y="551971"/>
                </a:lnTo>
                <a:lnTo>
                  <a:pt x="1383614" y="557722"/>
                </a:lnTo>
                <a:lnTo>
                  <a:pt x="1376363" y="562567"/>
                </a:lnTo>
                <a:lnTo>
                  <a:pt x="1368540" y="566425"/>
                </a:lnTo>
                <a:lnTo>
                  <a:pt x="1360282" y="569228"/>
                </a:lnTo>
                <a:lnTo>
                  <a:pt x="1351728" y="570930"/>
                </a:lnTo>
                <a:lnTo>
                  <a:pt x="1343025" y="571500"/>
                </a:lnTo>
                <a:lnTo>
                  <a:pt x="66675" y="571500"/>
                </a:lnTo>
                <a:lnTo>
                  <a:pt x="57972" y="570930"/>
                </a:lnTo>
                <a:lnTo>
                  <a:pt x="49418" y="569228"/>
                </a:lnTo>
                <a:lnTo>
                  <a:pt x="41160" y="566425"/>
                </a:lnTo>
                <a:lnTo>
                  <a:pt x="33338" y="562567"/>
                </a:lnTo>
                <a:lnTo>
                  <a:pt x="26086" y="557722"/>
                </a:lnTo>
                <a:lnTo>
                  <a:pt x="19529" y="551971"/>
                </a:lnTo>
                <a:lnTo>
                  <a:pt x="13778" y="545414"/>
                </a:lnTo>
                <a:lnTo>
                  <a:pt x="8933" y="538163"/>
                </a:lnTo>
                <a:lnTo>
                  <a:pt x="5075" y="530340"/>
                </a:lnTo>
                <a:lnTo>
                  <a:pt x="2272" y="522082"/>
                </a:lnTo>
                <a:lnTo>
                  <a:pt x="570" y="513528"/>
                </a:lnTo>
                <a:lnTo>
                  <a:pt x="0" y="504825"/>
                </a:lnTo>
                <a:lnTo>
                  <a:pt x="0" y="66675"/>
                </a:lnTo>
                <a:lnTo>
                  <a:pt x="570" y="57972"/>
                </a:lnTo>
                <a:lnTo>
                  <a:pt x="2272" y="49418"/>
                </a:lnTo>
                <a:lnTo>
                  <a:pt x="5075" y="41160"/>
                </a:lnTo>
                <a:lnTo>
                  <a:pt x="8933" y="33338"/>
                </a:lnTo>
                <a:lnTo>
                  <a:pt x="13778" y="26086"/>
                </a:lnTo>
                <a:lnTo>
                  <a:pt x="19529" y="19529"/>
                </a:lnTo>
                <a:lnTo>
                  <a:pt x="26086" y="13778"/>
                </a:lnTo>
                <a:lnTo>
                  <a:pt x="33338" y="8933"/>
                </a:lnTo>
                <a:lnTo>
                  <a:pt x="41160" y="5075"/>
                </a:lnTo>
                <a:lnTo>
                  <a:pt x="49418" y="2272"/>
                </a:lnTo>
                <a:lnTo>
                  <a:pt x="57972" y="57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FFF4F2"/>
          </a:solidFill>
          <a:ln xmlns:a="http://schemas.openxmlformats.org/drawingml/2006/main" w="17145">
            <a:solidFill>
              <a:srgbClr val="C66A72"/>
            </a:solidFill>
            <a:prstDash val="solid"/>
          </a:ln>
        </p:spPr>
      </p:sp>
      <p:sp>
        <p:nvSpPr>
          <p:cNvPr id="50" name="overview-propose-label">
            <a:extLst xmlns:a="http://schemas.openxmlformats.org/drawingml/2006/main">
              <a:ext uri="{FF2B5EF4-FFF2-40B4-BE49-F238E27FC236}">
                <a16:creationId xmlns:a16="http://schemas.microsoft.com/office/drawing/2014/main" id="{B35BD732-8637-4D9A-BB31-DFCAB9CB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085850"/>
            <a:ext cx="1209675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Propose</a:t>
            </a:r>
          </a:p>
        </p:txBody>
      </p:sp>
      <p:sp>
        <p:nvSpPr>
          <p:cNvPr id="51" name="overview-verify">
            <a:extLst xmlns:a="http://schemas.openxmlformats.org/drawingml/2006/main">
              <a:ext uri="{FF2B5EF4-FFF2-40B4-BE49-F238E27FC236}">
                <a16:creationId xmlns:a16="http://schemas.microsoft.com/office/drawing/2014/main" id="{6A202F65-9716-482E-8C3D-9DFE88A8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000125"/>
            <a:ext cx="1400175" cy="571500"/>
          </a:xfrm>
          <a:custGeom xmlns:a="http://schemas.openxmlformats.org/drawingml/2006/main">
            <a:pathLst>
              <a:path w="1400175" h="571500">
                <a:moveTo>
                  <a:pt x="1333500" y="0"/>
                </a:moveTo>
                <a:lnTo>
                  <a:pt x="1342203" y="570"/>
                </a:lnTo>
                <a:lnTo>
                  <a:pt x="1350757" y="2272"/>
                </a:lnTo>
                <a:lnTo>
                  <a:pt x="1359015" y="5075"/>
                </a:lnTo>
                <a:lnTo>
                  <a:pt x="1366838" y="8933"/>
                </a:lnTo>
                <a:lnTo>
                  <a:pt x="1374089" y="13778"/>
                </a:lnTo>
                <a:lnTo>
                  <a:pt x="1380646" y="19529"/>
                </a:lnTo>
                <a:lnTo>
                  <a:pt x="1386397" y="26086"/>
                </a:lnTo>
                <a:lnTo>
                  <a:pt x="1391242" y="33338"/>
                </a:lnTo>
                <a:lnTo>
                  <a:pt x="1395100" y="41160"/>
                </a:lnTo>
                <a:lnTo>
                  <a:pt x="1397903" y="49418"/>
                </a:lnTo>
                <a:lnTo>
                  <a:pt x="1399605" y="57972"/>
                </a:lnTo>
                <a:lnTo>
                  <a:pt x="1400175" y="66675"/>
                </a:lnTo>
                <a:lnTo>
                  <a:pt x="1400175" y="504825"/>
                </a:lnTo>
                <a:lnTo>
                  <a:pt x="1399605" y="513528"/>
                </a:lnTo>
                <a:lnTo>
                  <a:pt x="1397903" y="522082"/>
                </a:lnTo>
                <a:lnTo>
                  <a:pt x="1395100" y="530340"/>
                </a:lnTo>
                <a:lnTo>
                  <a:pt x="1391242" y="538163"/>
                </a:lnTo>
                <a:lnTo>
                  <a:pt x="1386397" y="545414"/>
                </a:lnTo>
                <a:lnTo>
                  <a:pt x="1380646" y="551971"/>
                </a:lnTo>
                <a:lnTo>
                  <a:pt x="1374089" y="557722"/>
                </a:lnTo>
                <a:lnTo>
                  <a:pt x="1366838" y="562567"/>
                </a:lnTo>
                <a:lnTo>
                  <a:pt x="1359015" y="566425"/>
                </a:lnTo>
                <a:lnTo>
                  <a:pt x="1350757" y="569228"/>
                </a:lnTo>
                <a:lnTo>
                  <a:pt x="1342203" y="570930"/>
                </a:lnTo>
                <a:lnTo>
                  <a:pt x="1333500" y="571500"/>
                </a:lnTo>
                <a:lnTo>
                  <a:pt x="66675" y="571500"/>
                </a:lnTo>
                <a:lnTo>
                  <a:pt x="57972" y="570930"/>
                </a:lnTo>
                <a:lnTo>
                  <a:pt x="49418" y="569228"/>
                </a:lnTo>
                <a:lnTo>
                  <a:pt x="41160" y="566425"/>
                </a:lnTo>
                <a:lnTo>
                  <a:pt x="33338" y="562567"/>
                </a:lnTo>
                <a:lnTo>
                  <a:pt x="26086" y="557722"/>
                </a:lnTo>
                <a:lnTo>
                  <a:pt x="19529" y="551971"/>
                </a:lnTo>
                <a:lnTo>
                  <a:pt x="13778" y="545414"/>
                </a:lnTo>
                <a:lnTo>
                  <a:pt x="8933" y="538163"/>
                </a:lnTo>
                <a:lnTo>
                  <a:pt x="5075" y="530340"/>
                </a:lnTo>
                <a:lnTo>
                  <a:pt x="2272" y="522082"/>
                </a:lnTo>
                <a:lnTo>
                  <a:pt x="570" y="513528"/>
                </a:lnTo>
                <a:lnTo>
                  <a:pt x="0" y="504825"/>
                </a:lnTo>
                <a:lnTo>
                  <a:pt x="0" y="66675"/>
                </a:lnTo>
                <a:lnTo>
                  <a:pt x="570" y="57972"/>
                </a:lnTo>
                <a:lnTo>
                  <a:pt x="2272" y="49418"/>
                </a:lnTo>
                <a:lnTo>
                  <a:pt x="5075" y="41160"/>
                </a:lnTo>
                <a:lnTo>
                  <a:pt x="8933" y="33338"/>
                </a:lnTo>
                <a:lnTo>
                  <a:pt x="13778" y="26086"/>
                </a:lnTo>
                <a:lnTo>
                  <a:pt x="19529" y="19529"/>
                </a:lnTo>
                <a:lnTo>
                  <a:pt x="26086" y="13778"/>
                </a:lnTo>
                <a:lnTo>
                  <a:pt x="33338" y="8933"/>
                </a:lnTo>
                <a:lnTo>
                  <a:pt x="41160" y="5075"/>
                </a:lnTo>
                <a:lnTo>
                  <a:pt x="49418" y="2272"/>
                </a:lnTo>
                <a:lnTo>
                  <a:pt x="57972" y="570"/>
                </a:lnTo>
                <a:lnTo>
                  <a:pt x="66675" y="0"/>
                </a:lnTo>
                <a:close/>
              </a:path>
            </a:pathLst>
          </a:custGeom>
          <a:solidFill xmlns:a="http://schemas.openxmlformats.org/drawingml/2006/main">
            <a:srgbClr val="FAE8E9"/>
          </a:solidFill>
          <a:ln xmlns:a="http://schemas.openxmlformats.org/drawingml/2006/main" w="17145">
            <a:solidFill>
              <a:srgbClr val="C66A72"/>
            </a:solidFill>
            <a:prstDash val="solid"/>
          </a:ln>
        </p:spPr>
      </p:sp>
      <p:sp>
        <p:nvSpPr>
          <p:cNvPr id="52" name="overview-verify-label">
            <a:extLst xmlns:a="http://schemas.openxmlformats.org/drawingml/2006/main">
              <a:ext uri="{FF2B5EF4-FFF2-40B4-BE49-F238E27FC236}">
                <a16:creationId xmlns:a16="http://schemas.microsoft.com/office/drawing/2014/main" id="{FBF90D02-6145-47FA-9E3F-A101A421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1085850"/>
            <a:ext cx="10668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Verify</a:t>
            </a:r>
          </a:p>
        </p:txBody>
      </p:sp>
      <p:sp>
        <p:nvSpPr>
          <p:cNvPr id="53" name="output-adapter">
            <a:extLst xmlns:a="http://schemas.openxmlformats.org/drawingml/2006/main">
              <a:ext uri="{FF2B5EF4-FFF2-40B4-BE49-F238E27FC236}">
                <a16:creationId xmlns:a16="http://schemas.microsoft.com/office/drawing/2014/main" id="{8215CBC3-C525-4BE6-9638-C868642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895350"/>
            <a:ext cx="1600200" cy="647700"/>
          </a:xfrm>
          <a:custGeom xmlns:a="http://schemas.openxmlformats.org/drawingml/2006/main">
            <a:pathLst>
              <a:path w="1600200" h="647700">
                <a:moveTo>
                  <a:pt x="1514475" y="0"/>
                </a:moveTo>
                <a:lnTo>
                  <a:pt x="1525664" y="733"/>
                </a:lnTo>
                <a:lnTo>
                  <a:pt x="1536662" y="2921"/>
                </a:lnTo>
                <a:lnTo>
                  <a:pt x="1547281" y="6525"/>
                </a:lnTo>
                <a:lnTo>
                  <a:pt x="1557338" y="11485"/>
                </a:lnTo>
                <a:lnTo>
                  <a:pt x="1566661" y="17715"/>
                </a:lnTo>
                <a:lnTo>
                  <a:pt x="1575092" y="25108"/>
                </a:lnTo>
                <a:lnTo>
                  <a:pt x="1582485" y="33539"/>
                </a:lnTo>
                <a:lnTo>
                  <a:pt x="1588715" y="42863"/>
                </a:lnTo>
                <a:lnTo>
                  <a:pt x="1593675" y="52919"/>
                </a:lnTo>
                <a:lnTo>
                  <a:pt x="1597279" y="63538"/>
                </a:lnTo>
                <a:lnTo>
                  <a:pt x="1599467" y="74536"/>
                </a:lnTo>
                <a:lnTo>
                  <a:pt x="1600200" y="85725"/>
                </a:lnTo>
                <a:lnTo>
                  <a:pt x="1600200" y="561975"/>
                </a:lnTo>
                <a:lnTo>
                  <a:pt x="1599467" y="573164"/>
                </a:lnTo>
                <a:lnTo>
                  <a:pt x="1597279" y="584162"/>
                </a:lnTo>
                <a:lnTo>
                  <a:pt x="1593675" y="594781"/>
                </a:lnTo>
                <a:lnTo>
                  <a:pt x="1588715" y="604838"/>
                </a:lnTo>
                <a:lnTo>
                  <a:pt x="1582485" y="614161"/>
                </a:lnTo>
                <a:lnTo>
                  <a:pt x="1575092" y="622592"/>
                </a:lnTo>
                <a:lnTo>
                  <a:pt x="1566661" y="629985"/>
                </a:lnTo>
                <a:lnTo>
                  <a:pt x="1557338" y="636215"/>
                </a:lnTo>
                <a:lnTo>
                  <a:pt x="1547281" y="641175"/>
                </a:lnTo>
                <a:lnTo>
                  <a:pt x="1536662" y="644779"/>
                </a:lnTo>
                <a:lnTo>
                  <a:pt x="1525664" y="646967"/>
                </a:lnTo>
                <a:lnTo>
                  <a:pt x="1514475" y="647700"/>
                </a:lnTo>
                <a:lnTo>
                  <a:pt x="85725" y="647700"/>
                </a:lnTo>
                <a:lnTo>
                  <a:pt x="74536" y="646967"/>
                </a:lnTo>
                <a:lnTo>
                  <a:pt x="63538" y="644779"/>
                </a:lnTo>
                <a:lnTo>
                  <a:pt x="52919" y="641175"/>
                </a:lnTo>
                <a:lnTo>
                  <a:pt x="42863" y="636215"/>
                </a:lnTo>
                <a:lnTo>
                  <a:pt x="33539" y="629985"/>
                </a:lnTo>
                <a:lnTo>
                  <a:pt x="25108" y="622592"/>
                </a:lnTo>
                <a:lnTo>
                  <a:pt x="17715" y="614161"/>
                </a:lnTo>
                <a:lnTo>
                  <a:pt x="11485" y="604838"/>
                </a:lnTo>
                <a:lnTo>
                  <a:pt x="6525" y="594781"/>
                </a:lnTo>
                <a:lnTo>
                  <a:pt x="2921" y="584162"/>
                </a:lnTo>
                <a:lnTo>
                  <a:pt x="733" y="573164"/>
                </a:lnTo>
                <a:lnTo>
                  <a:pt x="0" y="561975"/>
                </a:lnTo>
                <a:lnTo>
                  <a:pt x="0" y="85725"/>
                </a:lnTo>
                <a:lnTo>
                  <a:pt x="733" y="74536"/>
                </a:lnTo>
                <a:lnTo>
                  <a:pt x="2921" y="63538"/>
                </a:lnTo>
                <a:lnTo>
                  <a:pt x="6525" y="52919"/>
                </a:lnTo>
                <a:lnTo>
                  <a:pt x="11485" y="42863"/>
                </a:lnTo>
                <a:lnTo>
                  <a:pt x="17715" y="33539"/>
                </a:lnTo>
                <a:lnTo>
                  <a:pt x="25108" y="25108"/>
                </a:lnTo>
                <a:lnTo>
                  <a:pt x="33539" y="17715"/>
                </a:lnTo>
                <a:lnTo>
                  <a:pt x="42863" y="11485"/>
                </a:lnTo>
                <a:lnTo>
                  <a:pt x="52919" y="6525"/>
                </a:lnTo>
                <a:lnTo>
                  <a:pt x="63538" y="2921"/>
                </a:lnTo>
                <a:lnTo>
                  <a:pt x="74536" y="733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D8EBF8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54" name="output-adapter-label1">
            <a:extLst xmlns:a="http://schemas.openxmlformats.org/drawingml/2006/main">
              <a:ext uri="{FF2B5EF4-FFF2-40B4-BE49-F238E27FC236}">
                <a16:creationId xmlns:a16="http://schemas.microsoft.com/office/drawing/2014/main" id="{D2A693E1-D446-4762-BD8A-42C23F09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904875"/>
            <a:ext cx="1076325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Output</a:t>
            </a:r>
          </a:p>
        </p:txBody>
      </p:sp>
      <p:sp>
        <p:nvSpPr>
          <p:cNvPr id="55" name="output-adapter-label2">
            <a:extLst xmlns:a="http://schemas.openxmlformats.org/drawingml/2006/main">
              <a:ext uri="{FF2B5EF4-FFF2-40B4-BE49-F238E27FC236}">
                <a16:creationId xmlns:a16="http://schemas.microsoft.com/office/drawing/2014/main" id="{10F3081F-966F-42D9-A36A-4D346D97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1190625"/>
            <a:ext cx="12573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adapter</a:t>
            </a:r>
          </a:p>
        </p:txBody>
      </p:sp>
      <p:sp>
        <p:nvSpPr>
          <p:cNvPr id="56" name="output-schematic-frame">
            <a:extLst xmlns:a="http://schemas.openxmlformats.org/drawingml/2006/main">
              <a:ext uri="{FF2B5EF4-FFF2-40B4-BE49-F238E27FC236}">
                <a16:creationId xmlns:a16="http://schemas.microsoft.com/office/drawing/2014/main" id="{23DF3657-E1FF-4708-AC96-4DE78BAE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350" y="733425"/>
            <a:ext cx="1819275" cy="1019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12383">
            <a:solidFill>
              <a:srgbClr val="768493"/>
            </a:solidFill>
            <a:prstDash val="solid"/>
          </a:ln>
        </p:spPr>
      </p:sp>
      <p:sp>
        <p:nvSpPr>
          <p:cNvPr id="57" name="output-schematic-object-a">
            <a:extLst xmlns:a="http://schemas.openxmlformats.org/drawingml/2006/main">
              <a:ext uri="{FF2B5EF4-FFF2-40B4-BE49-F238E27FC236}">
                <a16:creationId xmlns:a16="http://schemas.microsoft.com/office/drawing/2014/main" id="{010C3716-64FA-450D-B24C-A44FF68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096" y="959908"/>
            <a:ext cx="506503" cy="4941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87B4"/>
          </a:solidFill>
          <a:ln xmlns:a="http://schemas.openxmlformats.org/drawingml/2006/main" w="15240">
            <a:solidFill>
              <a:srgbClr val="2C6487"/>
            </a:solidFill>
            <a:prstDash val="solid"/>
          </a:ln>
        </p:spPr>
      </p:sp>
      <p:sp>
        <p:nvSpPr>
          <p:cNvPr id="58" name="output-schematic-object-b">
            <a:extLst xmlns:a="http://schemas.openxmlformats.org/drawingml/2006/main">
              <a:ext uri="{FF2B5EF4-FFF2-40B4-BE49-F238E27FC236}">
                <a16:creationId xmlns:a16="http://schemas.microsoft.com/office/drawing/2014/main" id="{A4F7B6FB-3B00-4607-A789-CED7EE2E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661" y="908435"/>
            <a:ext cx="609871" cy="504440"/>
          </a:xfrm>
          <a:custGeom xmlns:a="http://schemas.openxmlformats.org/drawingml/2006/main">
            <a:pathLst>
              <a:path w="609871" h="504440">
                <a:moveTo>
                  <a:pt x="0" y="504440"/>
                </a:moveTo>
                <a:lnTo>
                  <a:pt x="227409" y="0"/>
                </a:lnTo>
                <a:lnTo>
                  <a:pt x="609871" y="504440"/>
                </a:lnTo>
                <a:close/>
              </a:path>
            </a:pathLst>
          </a:custGeom>
          <a:solidFill xmlns:a="http://schemas.openxmlformats.org/drawingml/2006/main">
            <a:srgbClr val="CB7D81"/>
          </a:solidFill>
          <a:ln xmlns:a="http://schemas.openxmlformats.org/drawingml/2006/main" w="15240">
            <a:solidFill>
              <a:srgbClr val="9C545D"/>
            </a:solidFill>
            <a:prstDash val="solid"/>
          </a:ln>
        </p:spPr>
      </p:sp>
      <p:sp>
        <p:nvSpPr>
          <p:cNvPr id="5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C1D0BE1B-D1B2-4F7C-A7E7-7914000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323850"/>
            <a:ext cx="16192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Output</a:t>
            </a:r>
          </a:p>
        </p:txBody>
      </p:sp>
      <p:sp>
        <p:nvSpPr>
          <p:cNvPr id="60" name="persistent-state-bank">
            <a:extLst xmlns:a="http://schemas.openxmlformats.org/drawingml/2006/main">
              <a:ext uri="{FF2B5EF4-FFF2-40B4-BE49-F238E27FC236}">
                <a16:creationId xmlns:a16="http://schemas.microsoft.com/office/drawing/2014/main" id="{E4D2C35C-8C4F-4D0D-ADAD-A2C0D35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2257425" cy="657225"/>
          </a:xfrm>
          <a:custGeom xmlns:a="http://schemas.openxmlformats.org/drawingml/2006/main">
            <a:pathLst>
              <a:path w="2257425" h="657225">
                <a:moveTo>
                  <a:pt x="2162175" y="0"/>
                </a:moveTo>
                <a:lnTo>
                  <a:pt x="2174608" y="815"/>
                </a:lnTo>
                <a:lnTo>
                  <a:pt x="2186828" y="3246"/>
                </a:lnTo>
                <a:lnTo>
                  <a:pt x="2198626" y="7250"/>
                </a:lnTo>
                <a:lnTo>
                  <a:pt x="2209800" y="12761"/>
                </a:lnTo>
                <a:lnTo>
                  <a:pt x="2220160" y="19683"/>
                </a:lnTo>
                <a:lnTo>
                  <a:pt x="2229527" y="27898"/>
                </a:lnTo>
                <a:lnTo>
                  <a:pt x="2237742" y="37265"/>
                </a:lnTo>
                <a:lnTo>
                  <a:pt x="2244664" y="47625"/>
                </a:lnTo>
                <a:lnTo>
                  <a:pt x="2250175" y="58799"/>
                </a:lnTo>
                <a:lnTo>
                  <a:pt x="2254179" y="70597"/>
                </a:lnTo>
                <a:lnTo>
                  <a:pt x="2256610" y="82817"/>
                </a:lnTo>
                <a:lnTo>
                  <a:pt x="2257425" y="95250"/>
                </a:lnTo>
                <a:lnTo>
                  <a:pt x="2257425" y="561975"/>
                </a:lnTo>
                <a:lnTo>
                  <a:pt x="2256610" y="574408"/>
                </a:lnTo>
                <a:lnTo>
                  <a:pt x="2254179" y="586628"/>
                </a:lnTo>
                <a:lnTo>
                  <a:pt x="2250175" y="598426"/>
                </a:lnTo>
                <a:lnTo>
                  <a:pt x="2244664" y="609600"/>
                </a:lnTo>
                <a:lnTo>
                  <a:pt x="2237742" y="619960"/>
                </a:lnTo>
                <a:lnTo>
                  <a:pt x="2229527" y="629327"/>
                </a:lnTo>
                <a:lnTo>
                  <a:pt x="2220160" y="637542"/>
                </a:lnTo>
                <a:lnTo>
                  <a:pt x="2209800" y="644464"/>
                </a:lnTo>
                <a:lnTo>
                  <a:pt x="2198626" y="649975"/>
                </a:lnTo>
                <a:lnTo>
                  <a:pt x="2186828" y="653979"/>
                </a:lnTo>
                <a:lnTo>
                  <a:pt x="2174608" y="656410"/>
                </a:lnTo>
                <a:lnTo>
                  <a:pt x="2162175" y="657225"/>
                </a:lnTo>
                <a:lnTo>
                  <a:pt x="95250" y="657225"/>
                </a:lnTo>
                <a:lnTo>
                  <a:pt x="82817" y="656410"/>
                </a:lnTo>
                <a:lnTo>
                  <a:pt x="70597" y="653979"/>
                </a:lnTo>
                <a:lnTo>
                  <a:pt x="58799" y="649975"/>
                </a:lnTo>
                <a:lnTo>
                  <a:pt x="47625" y="644464"/>
                </a:lnTo>
                <a:lnTo>
                  <a:pt x="37265" y="637542"/>
                </a:lnTo>
                <a:lnTo>
                  <a:pt x="27898" y="629327"/>
                </a:lnTo>
                <a:lnTo>
                  <a:pt x="19683" y="619960"/>
                </a:lnTo>
                <a:lnTo>
                  <a:pt x="12761" y="609600"/>
                </a:lnTo>
                <a:lnTo>
                  <a:pt x="7250" y="598426"/>
                </a:lnTo>
                <a:lnTo>
                  <a:pt x="3246" y="586628"/>
                </a:lnTo>
                <a:lnTo>
                  <a:pt x="815" y="574408"/>
                </a:lnTo>
                <a:lnTo>
                  <a:pt x="0" y="561975"/>
                </a:lnTo>
                <a:lnTo>
                  <a:pt x="0" y="95250"/>
                </a:lnTo>
                <a:lnTo>
                  <a:pt x="815" y="82817"/>
                </a:lnTo>
                <a:lnTo>
                  <a:pt x="3246" y="70597"/>
                </a:lnTo>
                <a:lnTo>
                  <a:pt x="7250" y="58799"/>
                </a:lnTo>
                <a:lnTo>
                  <a:pt x="12761" y="47625"/>
                </a:lnTo>
                <a:lnTo>
                  <a:pt x="19683" y="37265"/>
                </a:lnTo>
                <a:lnTo>
                  <a:pt x="27898" y="27898"/>
                </a:lnTo>
                <a:lnTo>
                  <a:pt x="37265" y="19683"/>
                </a:lnTo>
                <a:lnTo>
                  <a:pt x="47625" y="12761"/>
                </a:lnTo>
                <a:lnTo>
                  <a:pt x="58799" y="7250"/>
                </a:lnTo>
                <a:lnTo>
                  <a:pt x="70597" y="3246"/>
                </a:lnTo>
                <a:lnTo>
                  <a:pt x="82817" y="815"/>
                </a:lnTo>
                <a:lnTo>
                  <a:pt x="95250" y="0"/>
                </a:lnTo>
                <a:close/>
              </a:path>
            </a:pathLst>
          </a:custGeom>
          <a:solidFill xmlns:a="http://schemas.openxmlformats.org/drawingml/2006/main">
            <a:srgbClr val="DFEBD6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61" name="persistent-state-title">
            <a:extLst xmlns:a="http://schemas.openxmlformats.org/drawingml/2006/main">
              <a:ext uri="{FF2B5EF4-FFF2-40B4-BE49-F238E27FC236}">
                <a16:creationId xmlns:a16="http://schemas.microsoft.com/office/drawing/2014/main" id="{D0541BA5-2DDA-4384-B07A-559A91D7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71675"/>
            <a:ext cx="24288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1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Persistent states</a:t>
            </a:r>
          </a:p>
        </p:txBody>
      </p:sp>
      <p:sp>
        <p:nvSpPr>
          <p:cNvPr id="62" name="persistent-state-symbol">
            <a:extLst xmlns:a="http://schemas.openxmlformats.org/drawingml/2006/main">
              <a:ext uri="{FF2B5EF4-FFF2-40B4-BE49-F238E27FC236}">
                <a16:creationId xmlns:a16="http://schemas.microsoft.com/office/drawing/2014/main" id="{B05B203A-857B-4128-AA66-F8F41303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33650"/>
            <a:ext cx="809625" cy="424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zₜ₋₁</a:t>
            </a:r>
          </a:p>
        </p:txBody>
      </p:sp>
      <p:sp>
        <p:nvSpPr>
          <p:cNvPr id="63" name="state-token-0">
            <a:extLst xmlns:a="http://schemas.openxmlformats.org/drawingml/2006/main">
              <a:ext uri="{FF2B5EF4-FFF2-40B4-BE49-F238E27FC236}">
                <a16:creationId xmlns:a16="http://schemas.microsoft.com/office/drawing/2014/main" id="{7D34817F-6740-47BA-8553-0124D41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238125" cy="247650"/>
          </a:xfrm>
          <a:custGeom xmlns:a="http://schemas.openxmlformats.org/drawingml/2006/main">
            <a:pathLst>
              <a:path w="238125" h="247650">
                <a:moveTo>
                  <a:pt x="209550" y="0"/>
                </a:moveTo>
                <a:lnTo>
                  <a:pt x="213280" y="244"/>
                </a:lnTo>
                <a:lnTo>
                  <a:pt x="216946" y="974"/>
                </a:lnTo>
                <a:lnTo>
                  <a:pt x="220485" y="2175"/>
                </a:lnTo>
                <a:lnTo>
                  <a:pt x="223838" y="3828"/>
                </a:lnTo>
                <a:lnTo>
                  <a:pt x="226945" y="5905"/>
                </a:lnTo>
                <a:lnTo>
                  <a:pt x="229756" y="8369"/>
                </a:lnTo>
                <a:lnTo>
                  <a:pt x="232220" y="11180"/>
                </a:lnTo>
                <a:lnTo>
                  <a:pt x="234297" y="14288"/>
                </a:lnTo>
                <a:lnTo>
                  <a:pt x="235950" y="17640"/>
                </a:lnTo>
                <a:lnTo>
                  <a:pt x="237151" y="21179"/>
                </a:lnTo>
                <a:lnTo>
                  <a:pt x="237881" y="24845"/>
                </a:lnTo>
                <a:lnTo>
                  <a:pt x="238125" y="28575"/>
                </a:lnTo>
                <a:lnTo>
                  <a:pt x="238125" y="219075"/>
                </a:lnTo>
                <a:lnTo>
                  <a:pt x="237881" y="222805"/>
                </a:lnTo>
                <a:lnTo>
                  <a:pt x="237151" y="226471"/>
                </a:lnTo>
                <a:lnTo>
                  <a:pt x="235950" y="230010"/>
                </a:lnTo>
                <a:lnTo>
                  <a:pt x="234297" y="233363"/>
                </a:lnTo>
                <a:lnTo>
                  <a:pt x="232220" y="236470"/>
                </a:lnTo>
                <a:lnTo>
                  <a:pt x="229756" y="239281"/>
                </a:lnTo>
                <a:lnTo>
                  <a:pt x="226945" y="241745"/>
                </a:lnTo>
                <a:lnTo>
                  <a:pt x="223838" y="243822"/>
                </a:lnTo>
                <a:lnTo>
                  <a:pt x="220485" y="245475"/>
                </a:lnTo>
                <a:lnTo>
                  <a:pt x="216946" y="246676"/>
                </a:lnTo>
                <a:lnTo>
                  <a:pt x="213280" y="247406"/>
                </a:lnTo>
                <a:lnTo>
                  <a:pt x="209550" y="247650"/>
                </a:lnTo>
                <a:lnTo>
                  <a:pt x="28575" y="247650"/>
                </a:lnTo>
                <a:lnTo>
                  <a:pt x="24845" y="247406"/>
                </a:lnTo>
                <a:lnTo>
                  <a:pt x="21179" y="246676"/>
                </a:lnTo>
                <a:lnTo>
                  <a:pt x="17640" y="245475"/>
                </a:lnTo>
                <a:lnTo>
                  <a:pt x="14288" y="243822"/>
                </a:lnTo>
                <a:lnTo>
                  <a:pt x="11180" y="241745"/>
                </a:lnTo>
                <a:lnTo>
                  <a:pt x="8369" y="239281"/>
                </a:lnTo>
                <a:lnTo>
                  <a:pt x="5905" y="236470"/>
                </a:lnTo>
                <a:lnTo>
                  <a:pt x="3828" y="233363"/>
                </a:lnTo>
                <a:lnTo>
                  <a:pt x="2175" y="230010"/>
                </a:lnTo>
                <a:lnTo>
                  <a:pt x="974" y="226471"/>
                </a:lnTo>
                <a:lnTo>
                  <a:pt x="244" y="222805"/>
                </a:lnTo>
                <a:lnTo>
                  <a:pt x="0" y="219075"/>
                </a:lnTo>
                <a:lnTo>
                  <a:pt x="0" y="28575"/>
                </a:lnTo>
                <a:lnTo>
                  <a:pt x="244" y="24845"/>
                </a:lnTo>
                <a:lnTo>
                  <a:pt x="974" y="21179"/>
                </a:lnTo>
                <a:lnTo>
                  <a:pt x="2175" y="17640"/>
                </a:lnTo>
                <a:lnTo>
                  <a:pt x="3828" y="14288"/>
                </a:lnTo>
                <a:lnTo>
                  <a:pt x="5905" y="11180"/>
                </a:lnTo>
                <a:lnTo>
                  <a:pt x="8369" y="8369"/>
                </a:lnTo>
                <a:lnTo>
                  <a:pt x="11180" y="5905"/>
                </a:lnTo>
                <a:lnTo>
                  <a:pt x="14288" y="3828"/>
                </a:lnTo>
                <a:lnTo>
                  <a:pt x="17640" y="2175"/>
                </a:lnTo>
                <a:lnTo>
                  <a:pt x="21179" y="974"/>
                </a:lnTo>
                <a:lnTo>
                  <a:pt x="24845" y="244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BDCFAD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64" name="state-token-1">
            <a:extLst xmlns:a="http://schemas.openxmlformats.org/drawingml/2006/main">
              <a:ext uri="{FF2B5EF4-FFF2-40B4-BE49-F238E27FC236}">
                <a16:creationId xmlns:a16="http://schemas.microsoft.com/office/drawing/2014/main" id="{9DFA5B0B-76B4-45D6-B957-3EF3B49F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38125" cy="247650"/>
          </a:xfrm>
          <a:custGeom xmlns:a="http://schemas.openxmlformats.org/drawingml/2006/main">
            <a:pathLst>
              <a:path w="238125" h="247650">
                <a:moveTo>
                  <a:pt x="209550" y="0"/>
                </a:moveTo>
                <a:lnTo>
                  <a:pt x="213280" y="244"/>
                </a:lnTo>
                <a:lnTo>
                  <a:pt x="216946" y="974"/>
                </a:lnTo>
                <a:lnTo>
                  <a:pt x="220485" y="2175"/>
                </a:lnTo>
                <a:lnTo>
                  <a:pt x="223838" y="3828"/>
                </a:lnTo>
                <a:lnTo>
                  <a:pt x="226945" y="5905"/>
                </a:lnTo>
                <a:lnTo>
                  <a:pt x="229756" y="8369"/>
                </a:lnTo>
                <a:lnTo>
                  <a:pt x="232220" y="11180"/>
                </a:lnTo>
                <a:lnTo>
                  <a:pt x="234297" y="14288"/>
                </a:lnTo>
                <a:lnTo>
                  <a:pt x="235950" y="17640"/>
                </a:lnTo>
                <a:lnTo>
                  <a:pt x="237151" y="21179"/>
                </a:lnTo>
                <a:lnTo>
                  <a:pt x="237881" y="24845"/>
                </a:lnTo>
                <a:lnTo>
                  <a:pt x="238125" y="28575"/>
                </a:lnTo>
                <a:lnTo>
                  <a:pt x="238125" y="219075"/>
                </a:lnTo>
                <a:lnTo>
                  <a:pt x="237881" y="222805"/>
                </a:lnTo>
                <a:lnTo>
                  <a:pt x="237151" y="226471"/>
                </a:lnTo>
                <a:lnTo>
                  <a:pt x="235950" y="230010"/>
                </a:lnTo>
                <a:lnTo>
                  <a:pt x="234297" y="233363"/>
                </a:lnTo>
                <a:lnTo>
                  <a:pt x="232220" y="236470"/>
                </a:lnTo>
                <a:lnTo>
                  <a:pt x="229756" y="239281"/>
                </a:lnTo>
                <a:lnTo>
                  <a:pt x="226945" y="241745"/>
                </a:lnTo>
                <a:lnTo>
                  <a:pt x="223838" y="243822"/>
                </a:lnTo>
                <a:lnTo>
                  <a:pt x="220485" y="245475"/>
                </a:lnTo>
                <a:lnTo>
                  <a:pt x="216946" y="246676"/>
                </a:lnTo>
                <a:lnTo>
                  <a:pt x="213280" y="247406"/>
                </a:lnTo>
                <a:lnTo>
                  <a:pt x="209550" y="247650"/>
                </a:lnTo>
                <a:lnTo>
                  <a:pt x="28575" y="247650"/>
                </a:lnTo>
                <a:lnTo>
                  <a:pt x="24845" y="247406"/>
                </a:lnTo>
                <a:lnTo>
                  <a:pt x="21179" y="246676"/>
                </a:lnTo>
                <a:lnTo>
                  <a:pt x="17640" y="245475"/>
                </a:lnTo>
                <a:lnTo>
                  <a:pt x="14288" y="243822"/>
                </a:lnTo>
                <a:lnTo>
                  <a:pt x="11180" y="241745"/>
                </a:lnTo>
                <a:lnTo>
                  <a:pt x="8369" y="239281"/>
                </a:lnTo>
                <a:lnTo>
                  <a:pt x="5905" y="236470"/>
                </a:lnTo>
                <a:lnTo>
                  <a:pt x="3828" y="233363"/>
                </a:lnTo>
                <a:lnTo>
                  <a:pt x="2175" y="230010"/>
                </a:lnTo>
                <a:lnTo>
                  <a:pt x="974" y="226471"/>
                </a:lnTo>
                <a:lnTo>
                  <a:pt x="244" y="222805"/>
                </a:lnTo>
                <a:lnTo>
                  <a:pt x="0" y="219075"/>
                </a:lnTo>
                <a:lnTo>
                  <a:pt x="0" y="28575"/>
                </a:lnTo>
                <a:lnTo>
                  <a:pt x="244" y="24845"/>
                </a:lnTo>
                <a:lnTo>
                  <a:pt x="974" y="21179"/>
                </a:lnTo>
                <a:lnTo>
                  <a:pt x="2175" y="17640"/>
                </a:lnTo>
                <a:lnTo>
                  <a:pt x="3828" y="14288"/>
                </a:lnTo>
                <a:lnTo>
                  <a:pt x="5905" y="11180"/>
                </a:lnTo>
                <a:lnTo>
                  <a:pt x="8369" y="8369"/>
                </a:lnTo>
                <a:lnTo>
                  <a:pt x="11180" y="5905"/>
                </a:lnTo>
                <a:lnTo>
                  <a:pt x="14288" y="3828"/>
                </a:lnTo>
                <a:lnTo>
                  <a:pt x="17640" y="2175"/>
                </a:lnTo>
                <a:lnTo>
                  <a:pt x="21179" y="974"/>
                </a:lnTo>
                <a:lnTo>
                  <a:pt x="24845" y="244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D9E6CC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65" name="state-token-2">
            <a:extLst xmlns:a="http://schemas.openxmlformats.org/drawingml/2006/main">
              <a:ext uri="{FF2B5EF4-FFF2-40B4-BE49-F238E27FC236}">
                <a16:creationId xmlns:a16="http://schemas.microsoft.com/office/drawing/2014/main" id="{AE206223-CAF1-47A5-81D3-DC6B78D7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38125" cy="247650"/>
          </a:xfrm>
          <a:custGeom xmlns:a="http://schemas.openxmlformats.org/drawingml/2006/main">
            <a:pathLst>
              <a:path w="238125" h="247650">
                <a:moveTo>
                  <a:pt x="209550" y="0"/>
                </a:moveTo>
                <a:lnTo>
                  <a:pt x="213280" y="244"/>
                </a:lnTo>
                <a:lnTo>
                  <a:pt x="216946" y="974"/>
                </a:lnTo>
                <a:lnTo>
                  <a:pt x="220485" y="2175"/>
                </a:lnTo>
                <a:lnTo>
                  <a:pt x="223838" y="3828"/>
                </a:lnTo>
                <a:lnTo>
                  <a:pt x="226945" y="5905"/>
                </a:lnTo>
                <a:lnTo>
                  <a:pt x="229756" y="8369"/>
                </a:lnTo>
                <a:lnTo>
                  <a:pt x="232220" y="11180"/>
                </a:lnTo>
                <a:lnTo>
                  <a:pt x="234297" y="14288"/>
                </a:lnTo>
                <a:lnTo>
                  <a:pt x="235950" y="17640"/>
                </a:lnTo>
                <a:lnTo>
                  <a:pt x="237151" y="21179"/>
                </a:lnTo>
                <a:lnTo>
                  <a:pt x="237881" y="24845"/>
                </a:lnTo>
                <a:lnTo>
                  <a:pt x="238125" y="28575"/>
                </a:lnTo>
                <a:lnTo>
                  <a:pt x="238125" y="219075"/>
                </a:lnTo>
                <a:lnTo>
                  <a:pt x="237881" y="222805"/>
                </a:lnTo>
                <a:lnTo>
                  <a:pt x="237151" y="226471"/>
                </a:lnTo>
                <a:lnTo>
                  <a:pt x="235950" y="230010"/>
                </a:lnTo>
                <a:lnTo>
                  <a:pt x="234297" y="233363"/>
                </a:lnTo>
                <a:lnTo>
                  <a:pt x="232220" y="236470"/>
                </a:lnTo>
                <a:lnTo>
                  <a:pt x="229756" y="239281"/>
                </a:lnTo>
                <a:lnTo>
                  <a:pt x="226945" y="241745"/>
                </a:lnTo>
                <a:lnTo>
                  <a:pt x="223838" y="243822"/>
                </a:lnTo>
                <a:lnTo>
                  <a:pt x="220485" y="245475"/>
                </a:lnTo>
                <a:lnTo>
                  <a:pt x="216946" y="246676"/>
                </a:lnTo>
                <a:lnTo>
                  <a:pt x="213280" y="247406"/>
                </a:lnTo>
                <a:lnTo>
                  <a:pt x="209550" y="247650"/>
                </a:lnTo>
                <a:lnTo>
                  <a:pt x="28575" y="247650"/>
                </a:lnTo>
                <a:lnTo>
                  <a:pt x="24845" y="247406"/>
                </a:lnTo>
                <a:lnTo>
                  <a:pt x="21179" y="246676"/>
                </a:lnTo>
                <a:lnTo>
                  <a:pt x="17640" y="245475"/>
                </a:lnTo>
                <a:lnTo>
                  <a:pt x="14288" y="243822"/>
                </a:lnTo>
                <a:lnTo>
                  <a:pt x="11180" y="241745"/>
                </a:lnTo>
                <a:lnTo>
                  <a:pt x="8369" y="239281"/>
                </a:lnTo>
                <a:lnTo>
                  <a:pt x="5905" y="236470"/>
                </a:lnTo>
                <a:lnTo>
                  <a:pt x="3828" y="233363"/>
                </a:lnTo>
                <a:lnTo>
                  <a:pt x="2175" y="230010"/>
                </a:lnTo>
                <a:lnTo>
                  <a:pt x="974" y="226471"/>
                </a:lnTo>
                <a:lnTo>
                  <a:pt x="244" y="222805"/>
                </a:lnTo>
                <a:lnTo>
                  <a:pt x="0" y="219075"/>
                </a:lnTo>
                <a:lnTo>
                  <a:pt x="0" y="28575"/>
                </a:lnTo>
                <a:lnTo>
                  <a:pt x="244" y="24845"/>
                </a:lnTo>
                <a:lnTo>
                  <a:pt x="974" y="21179"/>
                </a:lnTo>
                <a:lnTo>
                  <a:pt x="2175" y="17640"/>
                </a:lnTo>
                <a:lnTo>
                  <a:pt x="3828" y="14288"/>
                </a:lnTo>
                <a:lnTo>
                  <a:pt x="5905" y="11180"/>
                </a:lnTo>
                <a:lnTo>
                  <a:pt x="8369" y="8369"/>
                </a:lnTo>
                <a:lnTo>
                  <a:pt x="11180" y="5905"/>
                </a:lnTo>
                <a:lnTo>
                  <a:pt x="14288" y="3828"/>
                </a:lnTo>
                <a:lnTo>
                  <a:pt x="17640" y="2175"/>
                </a:lnTo>
                <a:lnTo>
                  <a:pt x="21179" y="974"/>
                </a:lnTo>
                <a:lnTo>
                  <a:pt x="24845" y="244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CFDFBC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66" name="state-token-3">
            <a:extLst xmlns:a="http://schemas.openxmlformats.org/drawingml/2006/main">
              <a:ext uri="{FF2B5EF4-FFF2-40B4-BE49-F238E27FC236}">
                <a16:creationId xmlns:a16="http://schemas.microsoft.com/office/drawing/2014/main" id="{7DA9FA8D-F65A-4020-BBFA-143776C8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571750"/>
            <a:ext cx="238125" cy="247650"/>
          </a:xfrm>
          <a:custGeom xmlns:a="http://schemas.openxmlformats.org/drawingml/2006/main">
            <a:pathLst>
              <a:path w="238125" h="247650">
                <a:moveTo>
                  <a:pt x="209550" y="0"/>
                </a:moveTo>
                <a:lnTo>
                  <a:pt x="213280" y="244"/>
                </a:lnTo>
                <a:lnTo>
                  <a:pt x="216946" y="974"/>
                </a:lnTo>
                <a:lnTo>
                  <a:pt x="220485" y="2175"/>
                </a:lnTo>
                <a:lnTo>
                  <a:pt x="223838" y="3828"/>
                </a:lnTo>
                <a:lnTo>
                  <a:pt x="226945" y="5905"/>
                </a:lnTo>
                <a:lnTo>
                  <a:pt x="229756" y="8369"/>
                </a:lnTo>
                <a:lnTo>
                  <a:pt x="232220" y="11180"/>
                </a:lnTo>
                <a:lnTo>
                  <a:pt x="234297" y="14288"/>
                </a:lnTo>
                <a:lnTo>
                  <a:pt x="235950" y="17640"/>
                </a:lnTo>
                <a:lnTo>
                  <a:pt x="237151" y="21179"/>
                </a:lnTo>
                <a:lnTo>
                  <a:pt x="237881" y="24845"/>
                </a:lnTo>
                <a:lnTo>
                  <a:pt x="238125" y="28575"/>
                </a:lnTo>
                <a:lnTo>
                  <a:pt x="238125" y="219075"/>
                </a:lnTo>
                <a:lnTo>
                  <a:pt x="237881" y="222805"/>
                </a:lnTo>
                <a:lnTo>
                  <a:pt x="237151" y="226471"/>
                </a:lnTo>
                <a:lnTo>
                  <a:pt x="235950" y="230010"/>
                </a:lnTo>
                <a:lnTo>
                  <a:pt x="234297" y="233363"/>
                </a:lnTo>
                <a:lnTo>
                  <a:pt x="232220" y="236470"/>
                </a:lnTo>
                <a:lnTo>
                  <a:pt x="229756" y="239281"/>
                </a:lnTo>
                <a:lnTo>
                  <a:pt x="226945" y="241745"/>
                </a:lnTo>
                <a:lnTo>
                  <a:pt x="223838" y="243822"/>
                </a:lnTo>
                <a:lnTo>
                  <a:pt x="220485" y="245475"/>
                </a:lnTo>
                <a:lnTo>
                  <a:pt x="216946" y="246676"/>
                </a:lnTo>
                <a:lnTo>
                  <a:pt x="213280" y="247406"/>
                </a:lnTo>
                <a:lnTo>
                  <a:pt x="209550" y="247650"/>
                </a:lnTo>
                <a:lnTo>
                  <a:pt x="28575" y="247650"/>
                </a:lnTo>
                <a:lnTo>
                  <a:pt x="24845" y="247406"/>
                </a:lnTo>
                <a:lnTo>
                  <a:pt x="21179" y="246676"/>
                </a:lnTo>
                <a:lnTo>
                  <a:pt x="17640" y="245475"/>
                </a:lnTo>
                <a:lnTo>
                  <a:pt x="14288" y="243822"/>
                </a:lnTo>
                <a:lnTo>
                  <a:pt x="11180" y="241745"/>
                </a:lnTo>
                <a:lnTo>
                  <a:pt x="8369" y="239281"/>
                </a:lnTo>
                <a:lnTo>
                  <a:pt x="5905" y="236470"/>
                </a:lnTo>
                <a:lnTo>
                  <a:pt x="3828" y="233363"/>
                </a:lnTo>
                <a:lnTo>
                  <a:pt x="2175" y="230010"/>
                </a:lnTo>
                <a:lnTo>
                  <a:pt x="974" y="226471"/>
                </a:lnTo>
                <a:lnTo>
                  <a:pt x="244" y="222805"/>
                </a:lnTo>
                <a:lnTo>
                  <a:pt x="0" y="219075"/>
                </a:lnTo>
                <a:lnTo>
                  <a:pt x="0" y="28575"/>
                </a:lnTo>
                <a:lnTo>
                  <a:pt x="244" y="24845"/>
                </a:lnTo>
                <a:lnTo>
                  <a:pt x="974" y="21179"/>
                </a:lnTo>
                <a:lnTo>
                  <a:pt x="2175" y="17640"/>
                </a:lnTo>
                <a:lnTo>
                  <a:pt x="3828" y="14288"/>
                </a:lnTo>
                <a:lnTo>
                  <a:pt x="5905" y="11180"/>
                </a:lnTo>
                <a:lnTo>
                  <a:pt x="8369" y="8369"/>
                </a:lnTo>
                <a:lnTo>
                  <a:pt x="11180" y="5905"/>
                </a:lnTo>
                <a:lnTo>
                  <a:pt x="14288" y="3828"/>
                </a:lnTo>
                <a:lnTo>
                  <a:pt x="17640" y="2175"/>
                </a:lnTo>
                <a:lnTo>
                  <a:pt x="21179" y="974"/>
                </a:lnTo>
                <a:lnTo>
                  <a:pt x="24845" y="244"/>
                </a:lnTo>
                <a:lnTo>
                  <a:pt x="28575" y="0"/>
                </a:lnTo>
                <a:close/>
              </a:path>
            </a:pathLst>
          </a:custGeom>
          <a:solidFill xmlns:a="http://schemas.openxmlformats.org/drawingml/2006/main">
            <a:srgbClr val="E9F0E1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67" name="overview-final-write">
            <a:extLst xmlns:a="http://schemas.openxmlformats.org/drawingml/2006/main">
              <a:ext uri="{FF2B5EF4-FFF2-40B4-BE49-F238E27FC236}">
                <a16:creationId xmlns:a16="http://schemas.microsoft.com/office/drawing/2014/main" id="{91EE128C-642C-4274-82D4-6FE84E71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1666875" cy="666750"/>
          </a:xfrm>
          <a:custGeom xmlns:a="http://schemas.openxmlformats.org/drawingml/2006/main">
            <a:pathLst>
              <a:path w="1666875" h="666750">
                <a:moveTo>
                  <a:pt x="1581150" y="0"/>
                </a:moveTo>
                <a:lnTo>
                  <a:pt x="1592339" y="733"/>
                </a:lnTo>
                <a:lnTo>
                  <a:pt x="1603337" y="2921"/>
                </a:lnTo>
                <a:lnTo>
                  <a:pt x="1613956" y="6525"/>
                </a:lnTo>
                <a:lnTo>
                  <a:pt x="1624013" y="11485"/>
                </a:lnTo>
                <a:lnTo>
                  <a:pt x="1633336" y="17715"/>
                </a:lnTo>
                <a:lnTo>
                  <a:pt x="1641767" y="25108"/>
                </a:lnTo>
                <a:lnTo>
                  <a:pt x="1649160" y="33539"/>
                </a:lnTo>
                <a:lnTo>
                  <a:pt x="1655390" y="42863"/>
                </a:lnTo>
                <a:lnTo>
                  <a:pt x="1660350" y="52919"/>
                </a:lnTo>
                <a:lnTo>
                  <a:pt x="1663954" y="63538"/>
                </a:lnTo>
                <a:lnTo>
                  <a:pt x="1666142" y="74536"/>
                </a:lnTo>
                <a:lnTo>
                  <a:pt x="1666875" y="85725"/>
                </a:lnTo>
                <a:lnTo>
                  <a:pt x="1666875" y="581025"/>
                </a:lnTo>
                <a:lnTo>
                  <a:pt x="1666142" y="592214"/>
                </a:lnTo>
                <a:lnTo>
                  <a:pt x="1663954" y="603212"/>
                </a:lnTo>
                <a:lnTo>
                  <a:pt x="1660350" y="613831"/>
                </a:lnTo>
                <a:lnTo>
                  <a:pt x="1655390" y="623888"/>
                </a:lnTo>
                <a:lnTo>
                  <a:pt x="1649160" y="633211"/>
                </a:lnTo>
                <a:lnTo>
                  <a:pt x="1641767" y="641642"/>
                </a:lnTo>
                <a:lnTo>
                  <a:pt x="1633336" y="649035"/>
                </a:lnTo>
                <a:lnTo>
                  <a:pt x="1624013" y="655265"/>
                </a:lnTo>
                <a:lnTo>
                  <a:pt x="1613956" y="660225"/>
                </a:lnTo>
                <a:lnTo>
                  <a:pt x="1603337" y="663829"/>
                </a:lnTo>
                <a:lnTo>
                  <a:pt x="1592339" y="666017"/>
                </a:lnTo>
                <a:lnTo>
                  <a:pt x="1581150" y="666750"/>
                </a:lnTo>
                <a:lnTo>
                  <a:pt x="85725" y="666750"/>
                </a:lnTo>
                <a:lnTo>
                  <a:pt x="74536" y="666017"/>
                </a:lnTo>
                <a:lnTo>
                  <a:pt x="63538" y="663829"/>
                </a:lnTo>
                <a:lnTo>
                  <a:pt x="52919" y="660225"/>
                </a:lnTo>
                <a:lnTo>
                  <a:pt x="42863" y="655265"/>
                </a:lnTo>
                <a:lnTo>
                  <a:pt x="33539" y="649035"/>
                </a:lnTo>
                <a:lnTo>
                  <a:pt x="25108" y="641642"/>
                </a:lnTo>
                <a:lnTo>
                  <a:pt x="17715" y="633211"/>
                </a:lnTo>
                <a:lnTo>
                  <a:pt x="11485" y="623888"/>
                </a:lnTo>
                <a:lnTo>
                  <a:pt x="6525" y="613831"/>
                </a:lnTo>
                <a:lnTo>
                  <a:pt x="2921" y="603212"/>
                </a:lnTo>
                <a:lnTo>
                  <a:pt x="733" y="592214"/>
                </a:lnTo>
                <a:lnTo>
                  <a:pt x="0" y="581025"/>
                </a:lnTo>
                <a:lnTo>
                  <a:pt x="0" y="85725"/>
                </a:lnTo>
                <a:lnTo>
                  <a:pt x="733" y="74536"/>
                </a:lnTo>
                <a:lnTo>
                  <a:pt x="2921" y="63538"/>
                </a:lnTo>
                <a:lnTo>
                  <a:pt x="6525" y="52919"/>
                </a:lnTo>
                <a:lnTo>
                  <a:pt x="11485" y="42863"/>
                </a:lnTo>
                <a:lnTo>
                  <a:pt x="17715" y="33539"/>
                </a:lnTo>
                <a:lnTo>
                  <a:pt x="25108" y="25108"/>
                </a:lnTo>
                <a:lnTo>
                  <a:pt x="33539" y="17715"/>
                </a:lnTo>
                <a:lnTo>
                  <a:pt x="42863" y="11485"/>
                </a:lnTo>
                <a:lnTo>
                  <a:pt x="52919" y="6525"/>
                </a:lnTo>
                <a:lnTo>
                  <a:pt x="63538" y="2921"/>
                </a:lnTo>
                <a:lnTo>
                  <a:pt x="74536" y="733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68" name="overview-final-write-line1">
            <a:extLst xmlns:a="http://schemas.openxmlformats.org/drawingml/2006/main">
              <a:ext uri="{FF2B5EF4-FFF2-40B4-BE49-F238E27FC236}">
                <a16:creationId xmlns:a16="http://schemas.microsoft.com/office/drawing/2014/main" id="{9ECAEF34-3ADA-4FEF-90BF-00F78B2B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81250"/>
            <a:ext cx="13335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69" name="overview-final-write-line2">
            <a:extLst xmlns:a="http://schemas.openxmlformats.org/drawingml/2006/main">
              <a:ext uri="{FF2B5EF4-FFF2-40B4-BE49-F238E27FC236}">
                <a16:creationId xmlns:a16="http://schemas.microsoft.com/office/drawing/2014/main" id="{0328BA00-6783-4C82-B5FA-37A73B5F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14625"/>
            <a:ext cx="115252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9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Write</a:t>
            </a:r>
          </a:p>
        </p:txBody>
      </p:sp>
      <p:sp>
        <p:nvSpPr>
          <p:cNvPr id="70" name="reasoning-boundary">
            <a:extLst xmlns:a="http://schemas.openxmlformats.org/drawingml/2006/main">
              <a:ext uri="{FF2B5EF4-FFF2-40B4-BE49-F238E27FC236}">
                <a16:creationId xmlns:a16="http://schemas.microsoft.com/office/drawing/2014/main" id="{95BE056E-9D58-48EE-A163-0CA19FD4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05250"/>
            <a:ext cx="9029700" cy="4333875"/>
          </a:xfrm>
          <a:custGeom xmlns:a="http://schemas.openxmlformats.org/drawingml/2006/main">
            <a:pathLst>
              <a:path w="9029700" h="4333875">
                <a:moveTo>
                  <a:pt x="8915400" y="0"/>
                </a:moveTo>
                <a:lnTo>
                  <a:pt x="8930319" y="978"/>
                </a:lnTo>
                <a:lnTo>
                  <a:pt x="8944983" y="3895"/>
                </a:lnTo>
                <a:lnTo>
                  <a:pt x="8959141" y="8701"/>
                </a:lnTo>
                <a:lnTo>
                  <a:pt x="8972550" y="15313"/>
                </a:lnTo>
                <a:lnTo>
                  <a:pt x="8984981" y="23620"/>
                </a:lnTo>
                <a:lnTo>
                  <a:pt x="8996222" y="33478"/>
                </a:lnTo>
                <a:lnTo>
                  <a:pt x="9006080" y="44719"/>
                </a:lnTo>
                <a:lnTo>
                  <a:pt x="9014387" y="57150"/>
                </a:lnTo>
                <a:lnTo>
                  <a:pt x="9020999" y="70559"/>
                </a:lnTo>
                <a:lnTo>
                  <a:pt x="9025805" y="84717"/>
                </a:lnTo>
                <a:lnTo>
                  <a:pt x="9028722" y="99381"/>
                </a:lnTo>
                <a:lnTo>
                  <a:pt x="9029700" y="114300"/>
                </a:lnTo>
                <a:lnTo>
                  <a:pt x="9029700" y="4219575"/>
                </a:lnTo>
                <a:lnTo>
                  <a:pt x="9028722" y="4234494"/>
                </a:lnTo>
                <a:lnTo>
                  <a:pt x="9025805" y="4249158"/>
                </a:lnTo>
                <a:lnTo>
                  <a:pt x="9020999" y="4263316"/>
                </a:lnTo>
                <a:lnTo>
                  <a:pt x="9014387" y="4276725"/>
                </a:lnTo>
                <a:lnTo>
                  <a:pt x="9006080" y="4289156"/>
                </a:lnTo>
                <a:lnTo>
                  <a:pt x="8996222" y="4300397"/>
                </a:lnTo>
                <a:lnTo>
                  <a:pt x="8984981" y="4310255"/>
                </a:lnTo>
                <a:lnTo>
                  <a:pt x="8972550" y="4318562"/>
                </a:lnTo>
                <a:lnTo>
                  <a:pt x="8959141" y="4325174"/>
                </a:lnTo>
                <a:lnTo>
                  <a:pt x="8944983" y="4329980"/>
                </a:lnTo>
                <a:lnTo>
                  <a:pt x="8930319" y="4332897"/>
                </a:lnTo>
                <a:lnTo>
                  <a:pt x="8915400" y="4333875"/>
                </a:lnTo>
                <a:lnTo>
                  <a:pt x="114300" y="4333875"/>
                </a:lnTo>
                <a:lnTo>
                  <a:pt x="99381" y="4332897"/>
                </a:lnTo>
                <a:lnTo>
                  <a:pt x="84717" y="4329980"/>
                </a:lnTo>
                <a:lnTo>
                  <a:pt x="70559" y="4325174"/>
                </a:lnTo>
                <a:lnTo>
                  <a:pt x="57150" y="4318562"/>
                </a:lnTo>
                <a:lnTo>
                  <a:pt x="44719" y="4310255"/>
                </a:lnTo>
                <a:lnTo>
                  <a:pt x="33478" y="4300397"/>
                </a:lnTo>
                <a:lnTo>
                  <a:pt x="23620" y="4289156"/>
                </a:lnTo>
                <a:lnTo>
                  <a:pt x="15313" y="4276725"/>
                </a:lnTo>
                <a:lnTo>
                  <a:pt x="8701" y="4263316"/>
                </a:lnTo>
                <a:lnTo>
                  <a:pt x="3895" y="4249158"/>
                </a:lnTo>
                <a:lnTo>
                  <a:pt x="978" y="4234494"/>
                </a:lnTo>
                <a:lnTo>
                  <a:pt x="0" y="4219575"/>
                </a:lnTo>
                <a:lnTo>
                  <a:pt x="0" y="114300"/>
                </a:lnTo>
                <a:lnTo>
                  <a:pt x="978" y="99381"/>
                </a:lnTo>
                <a:lnTo>
                  <a:pt x="3895" y="84717"/>
                </a:lnTo>
                <a:lnTo>
                  <a:pt x="8701" y="70559"/>
                </a:lnTo>
                <a:lnTo>
                  <a:pt x="15313" y="57150"/>
                </a:lnTo>
                <a:lnTo>
                  <a:pt x="23620" y="44719"/>
                </a:lnTo>
                <a:lnTo>
                  <a:pt x="33478" y="33478"/>
                </a:lnTo>
                <a:lnTo>
                  <a:pt x="44719" y="23620"/>
                </a:lnTo>
                <a:lnTo>
                  <a:pt x="57150" y="15313"/>
                </a:lnTo>
                <a:lnTo>
                  <a:pt x="70559" y="8701"/>
                </a:lnTo>
                <a:lnTo>
                  <a:pt x="84717" y="3895"/>
                </a:lnTo>
                <a:lnTo>
                  <a:pt x="99381" y="978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AA3AA"/>
            </a:solidFill>
            <a:prstDash val="dash"/>
          </a:ln>
        </p:spPr>
      </p:sp>
      <p:sp>
        <p:nvSpPr>
          <p:cNvPr id="71" name="reasoning-title">
            <a:extLst xmlns:a="http://schemas.openxmlformats.org/drawingml/2006/main">
              <a:ext uri="{FF2B5EF4-FFF2-40B4-BE49-F238E27FC236}">
                <a16:creationId xmlns:a16="http://schemas.microsoft.com/office/drawing/2014/main" id="{06160E94-A5CB-48EA-A646-B18EF6D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905375" cy="450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1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(a) Propose–Verify</a:t>
            </a:r>
          </a:p>
        </p:txBody>
      </p:sp>
      <p:sp>
        <p:nvSpPr>
          <p:cNvPr id="72" name="propose-detail-title">
            <a:extLst xmlns:a="http://schemas.openxmlformats.org/drawingml/2006/main">
              <a:ext uri="{FF2B5EF4-FFF2-40B4-BE49-F238E27FC236}">
                <a16:creationId xmlns:a16="http://schemas.microsoft.com/office/drawing/2014/main" id="{92E1AE96-6A20-4ADE-89C2-EE75496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22669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① Propose</a:t>
            </a:r>
          </a:p>
        </p:txBody>
      </p:sp>
      <p:sp>
        <p:nvSpPr>
          <p:cNvPr id="73" name="verify-detail-title">
            <a:extLst xmlns:a="http://schemas.openxmlformats.org/drawingml/2006/main">
              <a:ext uri="{FF2B5EF4-FFF2-40B4-BE49-F238E27FC236}">
                <a16:creationId xmlns:a16="http://schemas.microsoft.com/office/drawing/2014/main" id="{040E97EF-38B3-466B-BD74-290FCB4C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495800"/>
            <a:ext cx="2276475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25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② Verify</a:t>
            </a:r>
          </a:p>
        </p:txBody>
      </p:sp>
      <p:sp>
        <p:nvSpPr>
          <p:cNvPr id="74" name="shared-weight-bracket">
            <a:extLst xmlns:a="http://schemas.openxmlformats.org/drawingml/2006/main">
              <a:ext uri="{FF2B5EF4-FFF2-40B4-BE49-F238E27FC236}">
                <a16:creationId xmlns:a16="http://schemas.microsoft.com/office/drawing/2014/main" id="{BBD8CE51-BA3B-4706-9DCB-D533BE9F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81525"/>
            <a:ext cx="2419350" cy="123825"/>
          </a:xfrm>
          <a:custGeom xmlns:a="http://schemas.openxmlformats.org/drawingml/2006/main">
            <a:pathLst>
              <a:path w="2419350" h="123825">
                <a:moveTo>
                  <a:pt x="0" y="123825"/>
                </a:moveTo>
                <a:lnTo>
                  <a:pt x="0" y="0"/>
                </a:lnTo>
                <a:lnTo>
                  <a:pt x="2419350" y="0"/>
                </a:lnTo>
                <a:lnTo>
                  <a:pt x="2419350" y="12382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F7B82"/>
            </a:solidFill>
            <a:prstDash val="solid"/>
          </a:ln>
        </p:spPr>
      </p:sp>
      <p:sp>
        <p:nvSpPr>
          <p:cNvPr id="75" name="shared-weight-label">
            <a:extLst xmlns:a="http://schemas.openxmlformats.org/drawingml/2006/main">
              <a:ext uri="{FF2B5EF4-FFF2-40B4-BE49-F238E27FC236}">
                <a16:creationId xmlns:a16="http://schemas.microsoft.com/office/drawing/2014/main" id="{AC056E08-A680-499A-AE56-3F22D94F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38625"/>
            <a:ext cx="201930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shared weights</a:t>
            </a:r>
          </a:p>
        </p:txBody>
      </p:sp>
      <p:sp>
        <p:nvSpPr>
          <p:cNvPr id="76" name="matrix-column-0">
            <a:extLst xmlns:a="http://schemas.openxmlformats.org/drawingml/2006/main">
              <a:ext uri="{FF2B5EF4-FFF2-40B4-BE49-F238E27FC236}">
                <a16:creationId xmlns:a16="http://schemas.microsoft.com/office/drawing/2014/main" id="{FD0F91CF-2327-42F4-B79B-9D758C42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4953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o₁</a:t>
            </a:r>
          </a:p>
        </p:txBody>
      </p:sp>
      <p:sp>
        <p:nvSpPr>
          <p:cNvPr id="77" name="matrix-column-1">
            <a:extLst xmlns:a="http://schemas.openxmlformats.org/drawingml/2006/main">
              <a:ext uri="{FF2B5EF4-FFF2-40B4-BE49-F238E27FC236}">
                <a16:creationId xmlns:a16="http://schemas.microsoft.com/office/drawing/2014/main" id="{19EC1E66-B094-4D7B-A301-9E3EFB70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14900"/>
            <a:ext cx="4953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o₂</a:t>
            </a:r>
          </a:p>
        </p:txBody>
      </p:sp>
      <p:sp>
        <p:nvSpPr>
          <p:cNvPr id="78" name="matrix-column-2">
            <a:extLst xmlns:a="http://schemas.openxmlformats.org/drawingml/2006/main">
              <a:ext uri="{FF2B5EF4-FFF2-40B4-BE49-F238E27FC236}">
                <a16:creationId xmlns:a16="http://schemas.microsoft.com/office/drawing/2014/main" id="{2E593BC7-1563-48E4-A2DE-B82C6309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14900"/>
            <a:ext cx="4953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o₃</a:t>
            </a:r>
          </a:p>
        </p:txBody>
      </p:sp>
      <p:sp>
        <p:nvSpPr>
          <p:cNvPr id="79" name="matrix-column-3">
            <a:extLst xmlns:a="http://schemas.openxmlformats.org/drawingml/2006/main">
              <a:ext uri="{FF2B5EF4-FFF2-40B4-BE49-F238E27FC236}">
                <a16:creationId xmlns:a16="http://schemas.microsoft.com/office/drawing/2014/main" id="{21AA9974-4B2A-401E-815A-F735E308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14900"/>
            <a:ext cx="4953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∅</a:t>
            </a:r>
          </a:p>
        </p:txBody>
      </p:sp>
      <p:sp>
        <p:nvSpPr>
          <p:cNvPr id="80" name="matrix-row-0">
            <a:extLst xmlns:a="http://schemas.openxmlformats.org/drawingml/2006/main">
              <a:ext uri="{FF2B5EF4-FFF2-40B4-BE49-F238E27FC236}">
                <a16:creationId xmlns:a16="http://schemas.microsoft.com/office/drawing/2014/main" id="{83699EC6-9613-445C-8927-9A7C9607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410200"/>
            <a:ext cx="438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s₁</a:t>
            </a:r>
          </a:p>
        </p:txBody>
      </p:sp>
      <p:sp>
        <p:nvSpPr>
          <p:cNvPr id="81" name="association-0-0">
            <a:extLst xmlns:a="http://schemas.openxmlformats.org/drawingml/2006/main">
              <a:ext uri="{FF2B5EF4-FFF2-40B4-BE49-F238E27FC236}">
                <a16:creationId xmlns:a16="http://schemas.microsoft.com/office/drawing/2014/main" id="{AD08B158-115E-4920-BD17-A8A52CF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14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82AA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82" name="association-value-0-0">
            <a:extLst xmlns:a="http://schemas.openxmlformats.org/drawingml/2006/main">
              <a:ext uri="{FF2B5EF4-FFF2-40B4-BE49-F238E27FC236}">
                <a16:creationId xmlns:a16="http://schemas.microsoft.com/office/drawing/2014/main" id="{B5271B94-07C4-4ABF-8AF0-D6201BD9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006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.70</a:t>
            </a:r>
          </a:p>
        </p:txBody>
      </p:sp>
      <p:sp>
        <p:nvSpPr>
          <p:cNvPr id="83" name="association-0-1">
            <a:extLst xmlns:a="http://schemas.openxmlformats.org/drawingml/2006/main">
              <a:ext uri="{FF2B5EF4-FFF2-40B4-BE49-F238E27FC236}">
                <a16:creationId xmlns:a16="http://schemas.microsoft.com/office/drawing/2014/main" id="{E7813D45-3EC3-43E9-A840-475AEE74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2EC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84" name="association-value-0-1">
            <a:extLst xmlns:a="http://schemas.openxmlformats.org/drawingml/2006/main">
              <a:ext uri="{FF2B5EF4-FFF2-40B4-BE49-F238E27FC236}">
                <a16:creationId xmlns:a16="http://schemas.microsoft.com/office/drawing/2014/main" id="{440A14AD-C661-4CA7-9EC9-8514DE01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4006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.15</a:t>
            </a:r>
          </a:p>
        </p:txBody>
      </p:sp>
      <p:sp>
        <p:nvSpPr>
          <p:cNvPr id="85" name="association-0-2">
            <a:extLst xmlns:a="http://schemas.openxmlformats.org/drawingml/2006/main">
              <a:ext uri="{FF2B5EF4-FFF2-40B4-BE49-F238E27FC236}">
                <a16:creationId xmlns:a16="http://schemas.microsoft.com/office/drawing/2014/main" id="{D3832753-C5E6-4F09-B989-08C9D93C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86" name="association-value-0-2">
            <a:extLst xmlns:a="http://schemas.openxmlformats.org/drawingml/2006/main">
              <a:ext uri="{FF2B5EF4-FFF2-40B4-BE49-F238E27FC236}">
                <a16:creationId xmlns:a16="http://schemas.microsoft.com/office/drawing/2014/main" id="{2D143723-B6EC-4EE0-BE61-9936EB1B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4006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.05</a:t>
            </a:r>
          </a:p>
        </p:txBody>
      </p:sp>
      <p:sp>
        <p:nvSpPr>
          <p:cNvPr id="87" name="association-0-3">
            <a:extLst xmlns:a="http://schemas.openxmlformats.org/drawingml/2006/main">
              <a:ext uri="{FF2B5EF4-FFF2-40B4-BE49-F238E27FC236}">
                <a16:creationId xmlns:a16="http://schemas.microsoft.com/office/drawing/2014/main" id="{17B566AE-E0E0-4A25-97B0-17DEACFD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149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88" name="association-value-0-3">
            <a:extLst xmlns:a="http://schemas.openxmlformats.org/drawingml/2006/main">
              <a:ext uri="{FF2B5EF4-FFF2-40B4-BE49-F238E27FC236}">
                <a16:creationId xmlns:a16="http://schemas.microsoft.com/office/drawing/2014/main" id="{4C6DF808-2C48-45EC-B82E-42537308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4006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.10</a:t>
            </a:r>
          </a:p>
        </p:txBody>
      </p:sp>
      <p:sp>
        <p:nvSpPr>
          <p:cNvPr id="89" name="matrix-row-1">
            <a:extLst xmlns:a="http://schemas.openxmlformats.org/drawingml/2006/main">
              <a:ext uri="{FF2B5EF4-FFF2-40B4-BE49-F238E27FC236}">
                <a16:creationId xmlns:a16="http://schemas.microsoft.com/office/drawing/2014/main" id="{96090147-1413-47DC-89F0-34F412CF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905500"/>
            <a:ext cx="438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s₂</a:t>
            </a:r>
          </a:p>
        </p:txBody>
      </p:sp>
      <p:sp>
        <p:nvSpPr>
          <p:cNvPr id="90" name="association-1-0">
            <a:extLst xmlns:a="http://schemas.openxmlformats.org/drawingml/2006/main">
              <a:ext uri="{FF2B5EF4-FFF2-40B4-BE49-F238E27FC236}">
                <a16:creationId xmlns:a16="http://schemas.microsoft.com/office/drawing/2014/main" id="{C3F07CC2-7AF9-45D4-9874-EF11AAC5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B6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91" name="association-value-1-0">
            <a:extLst xmlns:a="http://schemas.openxmlformats.org/drawingml/2006/main">
              <a:ext uri="{FF2B5EF4-FFF2-40B4-BE49-F238E27FC236}">
                <a16:creationId xmlns:a16="http://schemas.microsoft.com/office/drawing/2014/main" id="{33A79DD3-BF3D-4DBE-868C-C1AC2B60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959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.60</a:t>
            </a:r>
          </a:p>
        </p:txBody>
      </p:sp>
      <p:sp>
        <p:nvSpPr>
          <p:cNvPr id="92" name="association-1-1">
            <a:extLst xmlns:a="http://schemas.openxmlformats.org/drawingml/2006/main">
              <a:ext uri="{FF2B5EF4-FFF2-40B4-BE49-F238E27FC236}">
                <a16:creationId xmlns:a16="http://schemas.microsoft.com/office/drawing/2014/main" id="{886A9F28-8AC2-498D-93F0-D495D858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1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93" name="association-value-1-1">
            <a:extLst xmlns:a="http://schemas.openxmlformats.org/drawingml/2006/main">
              <a:ext uri="{FF2B5EF4-FFF2-40B4-BE49-F238E27FC236}">
                <a16:creationId xmlns:a16="http://schemas.microsoft.com/office/drawing/2014/main" id="{10112F9D-3314-4EC2-8729-BDAB2ED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8959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.10</a:t>
            </a:r>
          </a:p>
        </p:txBody>
      </p:sp>
      <p:sp>
        <p:nvSpPr>
          <p:cNvPr id="94" name="association-1-2">
            <a:extLst xmlns:a="http://schemas.openxmlformats.org/drawingml/2006/main">
              <a:ext uri="{FF2B5EF4-FFF2-40B4-BE49-F238E27FC236}">
                <a16:creationId xmlns:a16="http://schemas.microsoft.com/office/drawing/2014/main" id="{26FFB8D2-F4F6-4F44-8832-8497D947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1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95" name="invalid-hatch-1-2-0">
            <a:extLst xmlns:a="http://schemas.openxmlformats.org/drawingml/2006/main">
              <a:ext uri="{FF2B5EF4-FFF2-40B4-BE49-F238E27FC236}">
                <a16:creationId xmlns:a16="http://schemas.microsoft.com/office/drawing/2014/main" id="{23D6B2FA-E97E-4FCE-BC3C-2719927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102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47625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96" name="invalid-hatch-1-2-1">
            <a:extLst xmlns:a="http://schemas.openxmlformats.org/drawingml/2006/main">
              <a:ext uri="{FF2B5EF4-FFF2-40B4-BE49-F238E27FC236}">
                <a16:creationId xmlns:a16="http://schemas.microsoft.com/office/drawing/2014/main" id="{49DF7294-14C9-41FE-9132-41F72528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245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0" y="36195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97" name="invalid-hatch-1-2-2">
            <a:extLst xmlns:a="http://schemas.openxmlformats.org/drawingml/2006/main">
              <a:ext uri="{FF2B5EF4-FFF2-40B4-BE49-F238E27FC236}">
                <a16:creationId xmlns:a16="http://schemas.microsoft.com/office/drawing/2014/main" id="{7F82CCFE-DF3C-493D-AADA-F9F81372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038850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98" name="invalid-hatch-1-2-3">
            <a:extLst xmlns:a="http://schemas.openxmlformats.org/drawingml/2006/main">
              <a:ext uri="{FF2B5EF4-FFF2-40B4-BE49-F238E27FC236}">
                <a16:creationId xmlns:a16="http://schemas.microsoft.com/office/drawing/2014/main" id="{21CA3BAF-FF2A-4782-A8A3-0CB223B9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5315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13335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99" name="association-value-1-2">
            <a:extLst xmlns:a="http://schemas.openxmlformats.org/drawingml/2006/main">
              <a:ext uri="{FF2B5EF4-FFF2-40B4-BE49-F238E27FC236}">
                <a16:creationId xmlns:a16="http://schemas.microsoft.com/office/drawing/2014/main" id="{BD1CA870-DF95-444D-BE20-80EDB757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58959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100" name="association-1-3">
            <a:extLst xmlns:a="http://schemas.openxmlformats.org/drawingml/2006/main">
              <a:ext uri="{FF2B5EF4-FFF2-40B4-BE49-F238E27FC236}">
                <a16:creationId xmlns:a16="http://schemas.microsoft.com/office/drawing/2014/main" id="{F0E84852-8BE6-43F7-90EB-2D3331E5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102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C8DA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01" name="association-value-1-3">
            <a:extLst xmlns:a="http://schemas.openxmlformats.org/drawingml/2006/main">
              <a:ext uri="{FF2B5EF4-FFF2-40B4-BE49-F238E27FC236}">
                <a16:creationId xmlns:a16="http://schemas.microsoft.com/office/drawing/2014/main" id="{651C0DD1-3E3E-4295-B0DA-542F4B2A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8959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.30</a:t>
            </a:r>
          </a:p>
        </p:txBody>
      </p:sp>
      <p:sp>
        <p:nvSpPr>
          <p:cNvPr id="102" name="matrix-row-2">
            <a:extLst xmlns:a="http://schemas.openxmlformats.org/drawingml/2006/main">
              <a:ext uri="{FF2B5EF4-FFF2-40B4-BE49-F238E27FC236}">
                <a16:creationId xmlns:a16="http://schemas.microsoft.com/office/drawing/2014/main" id="{72C17758-AA98-48A1-BDB5-7652406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400800"/>
            <a:ext cx="438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s₃</a:t>
            </a:r>
          </a:p>
        </p:txBody>
      </p:sp>
      <p:sp>
        <p:nvSpPr>
          <p:cNvPr id="103" name="association-2-0">
            <a:extLst xmlns:a="http://schemas.openxmlformats.org/drawingml/2006/main">
              <a:ext uri="{FF2B5EF4-FFF2-40B4-BE49-F238E27FC236}">
                <a16:creationId xmlns:a16="http://schemas.microsoft.com/office/drawing/2014/main" id="{711BF8D2-38DB-45D9-B88C-EE48BE1C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0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04" name="invalid-hatch-2-0-0">
            <a:extLst xmlns:a="http://schemas.openxmlformats.org/drawingml/2006/main">
              <a:ext uri="{FF2B5EF4-FFF2-40B4-BE49-F238E27FC236}">
                <a16:creationId xmlns:a16="http://schemas.microsoft.com/office/drawing/2014/main" id="{F88AB859-212A-496B-863C-706C27FD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05550"/>
            <a:ext cx="476250" cy="476250"/>
          </a:xfrm>
          <a:custGeom xmlns:a="http://schemas.openxmlformats.org/drawingml/2006/main">
            <a:pathLst>
              <a:path w="476250" h="476250">
                <a:moveTo>
                  <a:pt x="0" y="47625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105" name="invalid-hatch-2-0-1">
            <a:extLst xmlns:a="http://schemas.openxmlformats.org/drawingml/2006/main">
              <a:ext uri="{FF2B5EF4-FFF2-40B4-BE49-F238E27FC236}">
                <a16:creationId xmlns:a16="http://schemas.microsoft.com/office/drawing/2014/main" id="{3EA6DDEE-C230-44F7-98E0-76E2AED0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361950" cy="361950"/>
          </a:xfrm>
          <a:custGeom xmlns:a="http://schemas.openxmlformats.org/drawingml/2006/main">
            <a:pathLst>
              <a:path w="361950" h="361950">
                <a:moveTo>
                  <a:pt x="0" y="36195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106" name="invalid-hatch-2-0-2">
            <a:extLst xmlns:a="http://schemas.openxmlformats.org/drawingml/2006/main">
              <a:ext uri="{FF2B5EF4-FFF2-40B4-BE49-F238E27FC236}">
                <a16:creationId xmlns:a16="http://schemas.microsoft.com/office/drawing/2014/main" id="{01414390-CA82-41F2-B3F2-430B347A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34150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24765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107" name="invalid-hatch-2-0-3">
            <a:extLst xmlns:a="http://schemas.openxmlformats.org/drawingml/2006/main">
              <a:ext uri="{FF2B5EF4-FFF2-40B4-BE49-F238E27FC236}">
                <a16:creationId xmlns:a16="http://schemas.microsoft.com/office/drawing/2014/main" id="{8553A903-8396-438F-8FCE-1A018F6B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13335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AD1D6"/>
            </a:solidFill>
            <a:prstDash val="solid"/>
          </a:ln>
        </p:spPr>
      </p:sp>
      <p:sp>
        <p:nvSpPr>
          <p:cNvPr id="108" name="association-value-2-0">
            <a:extLst xmlns:a="http://schemas.openxmlformats.org/drawingml/2006/main">
              <a:ext uri="{FF2B5EF4-FFF2-40B4-BE49-F238E27FC236}">
                <a16:creationId xmlns:a16="http://schemas.microsoft.com/office/drawing/2014/main" id="{FFFC15C9-705D-4D62-B91D-D66A2712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3912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109" name="association-2-1">
            <a:extLst xmlns:a="http://schemas.openxmlformats.org/drawingml/2006/main">
              <a:ext uri="{FF2B5EF4-FFF2-40B4-BE49-F238E27FC236}">
                <a16:creationId xmlns:a16="http://schemas.microsoft.com/office/drawing/2014/main" id="{B1B3C43B-2BC6-4BED-B56A-FEA03985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30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10" name="association-value-2-1">
            <a:extLst xmlns:a="http://schemas.openxmlformats.org/drawingml/2006/main">
              <a:ext uri="{FF2B5EF4-FFF2-40B4-BE49-F238E27FC236}">
                <a16:creationId xmlns:a16="http://schemas.microsoft.com/office/drawing/2014/main" id="{1D22D99A-13E4-4C00-802C-9D75A0FE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3912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.10</a:t>
            </a:r>
          </a:p>
        </p:txBody>
      </p:sp>
      <p:sp>
        <p:nvSpPr>
          <p:cNvPr id="111" name="association-2-2">
            <a:extLst xmlns:a="http://schemas.openxmlformats.org/drawingml/2006/main">
              <a:ext uri="{FF2B5EF4-FFF2-40B4-BE49-F238E27FC236}">
                <a16:creationId xmlns:a16="http://schemas.microsoft.com/office/drawing/2014/main" id="{8CDA4467-6A71-485E-9649-2733BDDA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30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BF2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12" name="association-value-2-2">
            <a:extLst xmlns:a="http://schemas.openxmlformats.org/drawingml/2006/main">
              <a:ext uri="{FF2B5EF4-FFF2-40B4-BE49-F238E27FC236}">
                <a16:creationId xmlns:a16="http://schemas.microsoft.com/office/drawing/2014/main" id="{F4DA88B2-DF44-41D0-9611-A2AEC3DC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63912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.10</a:t>
            </a:r>
          </a:p>
        </p:txBody>
      </p:sp>
      <p:sp>
        <p:nvSpPr>
          <p:cNvPr id="113" name="association-2-3">
            <a:extLst xmlns:a="http://schemas.openxmlformats.org/drawingml/2006/main">
              <a:ext uri="{FF2B5EF4-FFF2-40B4-BE49-F238E27FC236}">
                <a16:creationId xmlns:a16="http://schemas.microsoft.com/office/drawing/2014/main" id="{B3B3A630-C363-412E-AF33-66AC2D58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305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19E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14" name="association-value-2-3">
            <a:extLst xmlns:a="http://schemas.openxmlformats.org/drawingml/2006/main">
              <a:ext uri="{FF2B5EF4-FFF2-40B4-BE49-F238E27FC236}">
                <a16:creationId xmlns:a16="http://schemas.microsoft.com/office/drawing/2014/main" id="{22EDEC90-FB2E-4DBF-A6D2-48AF1846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6391275"/>
            <a:ext cx="4381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.80</a:t>
            </a:r>
          </a:p>
        </p:txBody>
      </p:sp>
      <p:sp>
        <p:nvSpPr>
          <p:cNvPr id="115" name="contested-column-outline">
            <a:extLst xmlns:a="http://schemas.openxmlformats.org/drawingml/2006/main">
              <a:ext uri="{FF2B5EF4-FFF2-40B4-BE49-F238E27FC236}">
                <a16:creationId xmlns:a16="http://schemas.microsoft.com/office/drawing/2014/main" id="{143ECA12-0095-47A3-921F-58476E54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6325"/>
            <a:ext cx="533400" cy="1933575"/>
          </a:xfrm>
          <a:custGeom xmlns:a="http://schemas.openxmlformats.org/drawingml/2006/main">
            <a:pathLst>
              <a:path w="533400" h="1933575">
                <a:moveTo>
                  <a:pt x="485775" y="0"/>
                </a:moveTo>
                <a:lnTo>
                  <a:pt x="491991" y="407"/>
                </a:lnTo>
                <a:lnTo>
                  <a:pt x="498101" y="1623"/>
                </a:lnTo>
                <a:lnTo>
                  <a:pt x="504000" y="3625"/>
                </a:lnTo>
                <a:lnTo>
                  <a:pt x="509588" y="6381"/>
                </a:lnTo>
                <a:lnTo>
                  <a:pt x="514767" y="9842"/>
                </a:lnTo>
                <a:lnTo>
                  <a:pt x="519451" y="13949"/>
                </a:lnTo>
                <a:lnTo>
                  <a:pt x="523558" y="18633"/>
                </a:lnTo>
                <a:lnTo>
                  <a:pt x="527019" y="23813"/>
                </a:lnTo>
                <a:lnTo>
                  <a:pt x="529775" y="29400"/>
                </a:lnTo>
                <a:lnTo>
                  <a:pt x="531777" y="35299"/>
                </a:lnTo>
                <a:lnTo>
                  <a:pt x="532993" y="41409"/>
                </a:lnTo>
                <a:lnTo>
                  <a:pt x="533400" y="47625"/>
                </a:lnTo>
                <a:lnTo>
                  <a:pt x="533400" y="1885950"/>
                </a:lnTo>
                <a:lnTo>
                  <a:pt x="532993" y="1892166"/>
                </a:lnTo>
                <a:lnTo>
                  <a:pt x="531777" y="1898276"/>
                </a:lnTo>
                <a:lnTo>
                  <a:pt x="529775" y="1904175"/>
                </a:lnTo>
                <a:lnTo>
                  <a:pt x="527019" y="1909763"/>
                </a:lnTo>
                <a:lnTo>
                  <a:pt x="523558" y="1914942"/>
                </a:lnTo>
                <a:lnTo>
                  <a:pt x="519451" y="1919626"/>
                </a:lnTo>
                <a:lnTo>
                  <a:pt x="514767" y="1923733"/>
                </a:lnTo>
                <a:lnTo>
                  <a:pt x="509588" y="1927194"/>
                </a:lnTo>
                <a:lnTo>
                  <a:pt x="504000" y="1929950"/>
                </a:lnTo>
                <a:lnTo>
                  <a:pt x="498101" y="1931952"/>
                </a:lnTo>
                <a:lnTo>
                  <a:pt x="491991" y="1933168"/>
                </a:lnTo>
                <a:lnTo>
                  <a:pt x="485775" y="1933575"/>
                </a:lnTo>
                <a:lnTo>
                  <a:pt x="47625" y="1933575"/>
                </a:lnTo>
                <a:lnTo>
                  <a:pt x="41409" y="1933168"/>
                </a:lnTo>
                <a:lnTo>
                  <a:pt x="35299" y="1931952"/>
                </a:lnTo>
                <a:lnTo>
                  <a:pt x="29400" y="1929950"/>
                </a:lnTo>
                <a:lnTo>
                  <a:pt x="23813" y="1927194"/>
                </a:lnTo>
                <a:lnTo>
                  <a:pt x="18633" y="1923733"/>
                </a:lnTo>
                <a:lnTo>
                  <a:pt x="13949" y="1919626"/>
                </a:lnTo>
                <a:lnTo>
                  <a:pt x="9842" y="1914942"/>
                </a:lnTo>
                <a:lnTo>
                  <a:pt x="6381" y="1909763"/>
                </a:lnTo>
                <a:lnTo>
                  <a:pt x="3625" y="1904175"/>
                </a:lnTo>
                <a:lnTo>
                  <a:pt x="1623" y="1898276"/>
                </a:lnTo>
                <a:lnTo>
                  <a:pt x="407" y="1892166"/>
                </a:lnTo>
                <a:lnTo>
                  <a:pt x="0" y="1885950"/>
                </a:lnTo>
                <a:lnTo>
                  <a:pt x="0" y="47625"/>
                </a:lnTo>
                <a:lnTo>
                  <a:pt x="407" y="41409"/>
                </a:lnTo>
                <a:lnTo>
                  <a:pt x="1623" y="35299"/>
                </a:lnTo>
                <a:lnTo>
                  <a:pt x="3625" y="29400"/>
                </a:lnTo>
                <a:lnTo>
                  <a:pt x="6381" y="23813"/>
                </a:lnTo>
                <a:lnTo>
                  <a:pt x="9842" y="18633"/>
                </a:lnTo>
                <a:lnTo>
                  <a:pt x="13949" y="13949"/>
                </a:lnTo>
                <a:lnTo>
                  <a:pt x="18633" y="9842"/>
                </a:lnTo>
                <a:lnTo>
                  <a:pt x="23813" y="6381"/>
                </a:lnTo>
                <a:lnTo>
                  <a:pt x="29400" y="3625"/>
                </a:lnTo>
                <a:lnTo>
                  <a:pt x="35299" y="1623"/>
                </a:lnTo>
                <a:lnTo>
                  <a:pt x="41409" y="407"/>
                </a:lnTo>
                <a:lnTo>
                  <a:pt x="4762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66A72"/>
            </a:solidFill>
            <a:prstDash val="solid"/>
          </a:ln>
        </p:spPr>
      </p:sp>
      <p:sp>
        <p:nvSpPr>
          <p:cNvPr id="116" name="demand-base">
            <a:extLst xmlns:a="http://schemas.openxmlformats.org/drawingml/2006/main">
              <a:ext uri="{FF2B5EF4-FFF2-40B4-BE49-F238E27FC236}">
                <a16:creationId xmlns:a16="http://schemas.microsoft.com/office/drawing/2014/main" id="{C7BBA96C-2DC6-452F-A668-F1C4C1D3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86625"/>
            <a:ext cx="15240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BF8"/>
          </a:solidFill>
          <a:ln xmlns:a="http://schemas.openxmlformats.org/drawingml/2006/main" w="17145">
            <a:solidFill>
              <a:srgbClr val="397EAA"/>
            </a:solidFill>
            <a:prstDash val="solid"/>
          </a:ln>
        </p:spPr>
      </p:sp>
      <p:sp>
        <p:nvSpPr>
          <p:cNvPr id="117" name="demand-excess">
            <a:extLst xmlns:a="http://schemas.openxmlformats.org/drawingml/2006/main">
              <a:ext uri="{FF2B5EF4-FFF2-40B4-BE49-F238E27FC236}">
                <a16:creationId xmlns:a16="http://schemas.microsoft.com/office/drawing/2014/main" id="{572A7165-D47C-46AC-A86F-8236FA58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286625"/>
            <a:ext cx="457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8E9"/>
          </a:solidFill>
          <a:ln xmlns:a="http://schemas.openxmlformats.org/drawingml/2006/main" w="17145">
            <a:solidFill>
              <a:srgbClr val="C66A72"/>
            </a:solidFill>
            <a:prstDash val="solid"/>
          </a:ln>
        </p:spPr>
      </p:sp>
      <p:sp>
        <p:nvSpPr>
          <p:cNvPr id="118" name="demand-threshold">
            <a:extLst xmlns:a="http://schemas.openxmlformats.org/drawingml/2006/main">
              <a:ext uri="{FF2B5EF4-FFF2-40B4-BE49-F238E27FC236}">
                <a16:creationId xmlns:a16="http://schemas.microsoft.com/office/drawing/2014/main" id="{6B1F65EF-C93C-452D-BEC1-1CCEBCA1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200900"/>
            <a:ext cx="95" cy="457200"/>
          </a:xfrm>
          <a:custGeom xmlns:a="http://schemas.openxmlformats.org/drawingml/2006/main">
            <a:pathLst>
              <a:path w="9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66A72"/>
            </a:solidFill>
            <a:prstDash val="solid"/>
          </a:ln>
        </p:spPr>
      </p:sp>
      <p:sp>
        <p:nvSpPr>
          <p:cNvPr id="119" name="demand-label">
            <a:extLst xmlns:a="http://schemas.openxmlformats.org/drawingml/2006/main">
              <a:ext uri="{FF2B5EF4-FFF2-40B4-BE49-F238E27FC236}">
                <a16:creationId xmlns:a16="http://schemas.microsoft.com/office/drawing/2014/main" id="{CDF0B396-3EFD-418E-8E00-F70ACB7E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867525"/>
            <a:ext cx="247650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total demand 1.30</a:t>
            </a:r>
          </a:p>
        </p:txBody>
      </p:sp>
      <p:sp>
        <p:nvSpPr>
          <p:cNvPr id="120" name="demand-excess-label">
            <a:extLst xmlns:a="http://schemas.openxmlformats.org/drawingml/2006/main">
              <a:ext uri="{FF2B5EF4-FFF2-40B4-BE49-F238E27FC236}">
                <a16:creationId xmlns:a16="http://schemas.microsoft.com/office/drawing/2014/main" id="{0DA4AEB2-F27B-4E8D-B860-1D6D11FB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686675"/>
            <a:ext cx="27622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C66A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C66A72"/>
                </a:solidFill>
                <a:latin typeface="Times New Roman"/>
                <a:ea typeface="Times New Roman"/>
                <a:cs typeface="Times New Roman"/>
              </a:rPr>
              <a:t>excess = 0.30</a:t>
            </a:r>
          </a:p>
        </p:txBody>
      </p:sp>
      <p:sp>
        <p:nvSpPr>
          <p:cNvPr id="121" name="null-exemption-label">
            <a:extLst xmlns:a="http://schemas.openxmlformats.org/drawingml/2006/main">
              <a:ext uri="{FF2B5EF4-FFF2-40B4-BE49-F238E27FC236}">
                <a16:creationId xmlns:a16="http://schemas.microsoft.com/office/drawing/2014/main" id="{30A1BEA5-54DE-49FF-B4B9-82EF3454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43600"/>
            <a:ext cx="201930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c∅ = 0</a:t>
            </a:r>
          </a:p>
        </p:txBody>
      </p:sp>
      <p:sp>
        <p:nvSpPr>
          <p:cNvPr id="122" name="null-exemption-note">
            <a:extLst xmlns:a="http://schemas.openxmlformats.org/drawingml/2006/main">
              <a:ext uri="{FF2B5EF4-FFF2-40B4-BE49-F238E27FC236}">
                <a16:creationId xmlns:a16="http://schemas.microsoft.com/office/drawing/2014/main" id="{3F35C2F3-FE10-4DB1-9EE1-082CF2C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315075"/>
            <a:ext cx="1590675" cy="29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shared null</a:t>
            </a:r>
          </a:p>
        </p:txBody>
      </p:sp>
      <p:sp>
        <p:nvSpPr>
          <p:cNvPr id="123" name="excess-conditioning">
            <a:extLst xmlns:a="http://schemas.openxmlformats.org/drawingml/2006/main">
              <a:ext uri="{FF2B5EF4-FFF2-40B4-BE49-F238E27FC236}">
                <a16:creationId xmlns:a16="http://schemas.microsoft.com/office/drawing/2014/main" id="{68B71C21-380B-48F7-A55E-9667668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81650"/>
            <a:ext cx="3333750" cy="1852613"/>
          </a:xfrm>
          <a:custGeom xmlns:a="http://schemas.openxmlformats.org/drawingml/2006/main">
            <a:pathLst>
              <a:path w="3333750" h="1852613">
                <a:moveTo>
                  <a:pt x="0" y="1852613"/>
                </a:moveTo>
                <a:lnTo>
                  <a:pt x="1504950" y="1852613"/>
                </a:lnTo>
                <a:lnTo>
                  <a:pt x="1504950" y="0"/>
                </a:ln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66A72"/>
            </a:solidFill>
            <a:prstDash val="dash"/>
          </a:ln>
        </p:spPr>
      </p:sp>
      <p:sp>
        <p:nvSpPr>
          <p:cNvPr id="124" name="excess-conditioning--arrow">
            <a:extLst xmlns:a="http://schemas.openxmlformats.org/drawingml/2006/main">
              <a:ext uri="{FF2B5EF4-FFF2-40B4-BE49-F238E27FC236}">
                <a16:creationId xmlns:a16="http://schemas.microsoft.com/office/drawing/2014/main" id="{839C1E36-9B98-4E4A-9522-41FC2690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532501"/>
            <a:ext cx="114300" cy="98298"/>
          </a:xfrm>
          <a:custGeom xmlns:a="http://schemas.openxmlformats.org/drawingml/2006/main">
            <a:pathLst>
              <a:path w="114300" h="98298">
                <a:moveTo>
                  <a:pt x="114300" y="49149"/>
                </a:moveTo>
                <a:lnTo>
                  <a:pt x="0" y="0"/>
                </a:lnTo>
                <a:lnTo>
                  <a:pt x="0" y="98298"/>
                </a:lnTo>
                <a:close/>
              </a:path>
            </a:pathLst>
          </a:custGeom>
          <a:solidFill xmlns:a="http://schemas.openxmlformats.org/drawingml/2006/main">
            <a:srgbClr val="C66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competition-penalty-label">
            <a:extLst xmlns:a="http://schemas.openxmlformats.org/drawingml/2006/main">
              <a:ext uri="{FF2B5EF4-FFF2-40B4-BE49-F238E27FC236}">
                <a16:creationId xmlns:a16="http://schemas.microsoft.com/office/drawing/2014/main" id="{9FF4A0F3-D4A2-445C-A5B3-4EF0592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153025"/>
            <a:ext cx="132397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C66A7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0">
                <a:solidFill>
                  <a:srgbClr val="C66A72"/>
                </a:solidFill>
                <a:latin typeface="Times New Roman"/>
                <a:ea typeface="Times New Roman"/>
                <a:cs typeface="Times New Roman"/>
              </a:rPr>
              <a:t>−λcmp c₁</a:t>
            </a:r>
          </a:p>
        </p:txBody>
      </p:sp>
      <p:sp>
        <p:nvSpPr>
          <p:cNvPr id="126" name="verify-local-index">
            <a:extLst xmlns:a="http://schemas.openxmlformats.org/drawingml/2006/main">
              <a:ext uri="{FF2B5EF4-FFF2-40B4-BE49-F238E27FC236}">
                <a16:creationId xmlns:a16="http://schemas.microsoft.com/office/drawing/2014/main" id="{D7223244-AB74-4A35-A400-F64FEDC0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24425"/>
            <a:ext cx="234315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candidates for s₂</a:t>
            </a:r>
          </a:p>
        </p:txBody>
      </p:sp>
      <p:sp>
        <p:nvSpPr>
          <p:cNvPr id="127" name="verified-local-cell-0">
            <a:extLst xmlns:a="http://schemas.openxmlformats.org/drawingml/2006/main">
              <a:ext uri="{FF2B5EF4-FFF2-40B4-BE49-F238E27FC236}">
                <a16:creationId xmlns:a16="http://schemas.microsoft.com/office/drawing/2014/main" id="{3CFB8049-4A6B-4914-82BA-A887FF29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14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28" name="verified-local-label-0">
            <a:extLst xmlns:a="http://schemas.openxmlformats.org/drawingml/2006/main">
              <a:ext uri="{FF2B5EF4-FFF2-40B4-BE49-F238E27FC236}">
                <a16:creationId xmlns:a16="http://schemas.microsoft.com/office/drawing/2014/main" id="{1A745786-CE9C-408F-9BC3-1BA0608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81625"/>
            <a:ext cx="466725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o₁</a:t>
            </a:r>
          </a:p>
        </p:txBody>
      </p:sp>
      <p:sp>
        <p:nvSpPr>
          <p:cNvPr id="129" name="verified-local-cell-1">
            <a:extLst xmlns:a="http://schemas.openxmlformats.org/drawingml/2006/main">
              <a:ext uri="{FF2B5EF4-FFF2-40B4-BE49-F238E27FC236}">
                <a16:creationId xmlns:a16="http://schemas.microsoft.com/office/drawing/2014/main" id="{5579BFA8-3AF3-4DD1-BB9D-4141C6EA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314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30" name="verified-local-label-1">
            <a:extLst xmlns:a="http://schemas.openxmlformats.org/drawingml/2006/main">
              <a:ext uri="{FF2B5EF4-FFF2-40B4-BE49-F238E27FC236}">
                <a16:creationId xmlns:a16="http://schemas.microsoft.com/office/drawing/2014/main" id="{49FC2802-89A1-49B0-B153-013CE866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381625"/>
            <a:ext cx="466725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o₂</a:t>
            </a:r>
          </a:p>
        </p:txBody>
      </p:sp>
      <p:sp>
        <p:nvSpPr>
          <p:cNvPr id="131" name="verified-local-cell-2">
            <a:extLst xmlns:a="http://schemas.openxmlformats.org/drawingml/2006/main">
              <a:ext uri="{FF2B5EF4-FFF2-40B4-BE49-F238E27FC236}">
                <a16:creationId xmlns:a16="http://schemas.microsoft.com/office/drawing/2014/main" id="{6F39C538-CC7D-48AC-BDA3-43704128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3149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32" name="verified-local-label-2">
            <a:extLst xmlns:a="http://schemas.openxmlformats.org/drawingml/2006/main">
              <a:ext uri="{FF2B5EF4-FFF2-40B4-BE49-F238E27FC236}">
                <a16:creationId xmlns:a16="http://schemas.microsoft.com/office/drawing/2014/main" id="{7DABA698-029D-45EF-B89C-5A3DA893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81625"/>
            <a:ext cx="466725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∅</a:t>
            </a:r>
          </a:p>
        </p:txBody>
      </p:sp>
      <p:sp>
        <p:nvSpPr>
          <p:cNvPr id="133" name="verified-contested-outline">
            <a:extLst xmlns:a="http://schemas.openxmlformats.org/drawingml/2006/main">
              <a:ext uri="{FF2B5EF4-FFF2-40B4-BE49-F238E27FC236}">
                <a16:creationId xmlns:a16="http://schemas.microsoft.com/office/drawing/2014/main" id="{C4C3754C-C5AF-402D-9299-6235E5BF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295900"/>
            <a:ext cx="571500" cy="571500"/>
          </a:xfrm>
          <a:custGeom xmlns:a="http://schemas.openxmlformats.org/drawingml/2006/main">
            <a:pathLst>
              <a:path w="571500" h="571500">
                <a:moveTo>
                  <a:pt x="542925" y="0"/>
                </a:moveTo>
                <a:lnTo>
                  <a:pt x="546655" y="244"/>
                </a:lnTo>
                <a:lnTo>
                  <a:pt x="550321" y="974"/>
                </a:lnTo>
                <a:lnTo>
                  <a:pt x="553860" y="2175"/>
                </a:lnTo>
                <a:lnTo>
                  <a:pt x="557213" y="3828"/>
                </a:lnTo>
                <a:lnTo>
                  <a:pt x="560320" y="5905"/>
                </a:lnTo>
                <a:lnTo>
                  <a:pt x="563131" y="8369"/>
                </a:lnTo>
                <a:lnTo>
                  <a:pt x="565595" y="11180"/>
                </a:lnTo>
                <a:lnTo>
                  <a:pt x="567672" y="14288"/>
                </a:lnTo>
                <a:lnTo>
                  <a:pt x="569325" y="17640"/>
                </a:lnTo>
                <a:lnTo>
                  <a:pt x="570526" y="21179"/>
                </a:lnTo>
                <a:lnTo>
                  <a:pt x="571256" y="24845"/>
                </a:lnTo>
                <a:lnTo>
                  <a:pt x="571500" y="28575"/>
                </a:lnTo>
                <a:lnTo>
                  <a:pt x="571500" y="542925"/>
                </a:lnTo>
                <a:lnTo>
                  <a:pt x="571256" y="546655"/>
                </a:lnTo>
                <a:lnTo>
                  <a:pt x="570526" y="550321"/>
                </a:lnTo>
                <a:lnTo>
                  <a:pt x="569325" y="553860"/>
                </a:lnTo>
                <a:lnTo>
                  <a:pt x="567672" y="557213"/>
                </a:lnTo>
                <a:lnTo>
                  <a:pt x="565595" y="560320"/>
                </a:lnTo>
                <a:lnTo>
                  <a:pt x="563131" y="563131"/>
                </a:lnTo>
                <a:lnTo>
                  <a:pt x="560320" y="565595"/>
                </a:lnTo>
                <a:lnTo>
                  <a:pt x="557213" y="567672"/>
                </a:lnTo>
                <a:lnTo>
                  <a:pt x="553860" y="569325"/>
                </a:lnTo>
                <a:lnTo>
                  <a:pt x="550321" y="570526"/>
                </a:lnTo>
                <a:lnTo>
                  <a:pt x="546655" y="571256"/>
                </a:lnTo>
                <a:lnTo>
                  <a:pt x="542925" y="571500"/>
                </a:lnTo>
                <a:lnTo>
                  <a:pt x="28575" y="571500"/>
                </a:lnTo>
                <a:lnTo>
                  <a:pt x="24845" y="571256"/>
                </a:lnTo>
                <a:lnTo>
                  <a:pt x="21179" y="570526"/>
                </a:lnTo>
                <a:lnTo>
                  <a:pt x="17640" y="569325"/>
                </a:lnTo>
                <a:lnTo>
                  <a:pt x="14288" y="567672"/>
                </a:lnTo>
                <a:lnTo>
                  <a:pt x="11180" y="565595"/>
                </a:lnTo>
                <a:lnTo>
                  <a:pt x="8369" y="563131"/>
                </a:lnTo>
                <a:lnTo>
                  <a:pt x="5905" y="560320"/>
                </a:lnTo>
                <a:lnTo>
                  <a:pt x="3828" y="557213"/>
                </a:lnTo>
                <a:lnTo>
                  <a:pt x="2175" y="553860"/>
                </a:lnTo>
                <a:lnTo>
                  <a:pt x="974" y="550321"/>
                </a:lnTo>
                <a:lnTo>
                  <a:pt x="244" y="546655"/>
                </a:lnTo>
                <a:lnTo>
                  <a:pt x="0" y="542925"/>
                </a:lnTo>
                <a:lnTo>
                  <a:pt x="0" y="28575"/>
                </a:lnTo>
                <a:lnTo>
                  <a:pt x="244" y="24845"/>
                </a:lnTo>
                <a:lnTo>
                  <a:pt x="974" y="21179"/>
                </a:lnTo>
                <a:lnTo>
                  <a:pt x="2175" y="17640"/>
                </a:lnTo>
                <a:lnTo>
                  <a:pt x="3828" y="14288"/>
                </a:lnTo>
                <a:lnTo>
                  <a:pt x="5905" y="11180"/>
                </a:lnTo>
                <a:lnTo>
                  <a:pt x="8369" y="8369"/>
                </a:lnTo>
                <a:lnTo>
                  <a:pt x="11180" y="5905"/>
                </a:lnTo>
                <a:lnTo>
                  <a:pt x="14288" y="3828"/>
                </a:lnTo>
                <a:lnTo>
                  <a:pt x="17640" y="2175"/>
                </a:lnTo>
                <a:lnTo>
                  <a:pt x="21179" y="974"/>
                </a:lnTo>
                <a:lnTo>
                  <a:pt x="24845" y="244"/>
                </a:lnTo>
                <a:lnTo>
                  <a:pt x="28575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66A72"/>
            </a:solidFill>
            <a:prstDash val="solid"/>
          </a:ln>
        </p:spPr>
      </p:sp>
      <p:sp>
        <p:nvSpPr>
          <p:cNvPr id="134" name="association-to-decision">
            <a:extLst xmlns:a="http://schemas.openxmlformats.org/drawingml/2006/main">
              <a:ext uri="{FF2B5EF4-FFF2-40B4-BE49-F238E27FC236}">
                <a16:creationId xmlns:a16="http://schemas.microsoft.com/office/drawing/2014/main" id="{F4F426E4-2A27-4157-A89A-31CC762F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848350"/>
            <a:ext cx="95" cy="419100"/>
          </a:xfrm>
          <a:custGeom xmlns:a="http://schemas.openxmlformats.org/drawingml/2006/main">
            <a:pathLst>
              <a:path w="9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35" name="association-to-decision--arrow">
            <a:extLst xmlns:a="http://schemas.openxmlformats.org/drawingml/2006/main">
              <a:ext uri="{FF2B5EF4-FFF2-40B4-BE49-F238E27FC236}">
                <a16:creationId xmlns:a16="http://schemas.microsoft.com/office/drawing/2014/main" id="{C49F96BE-1CB4-4F01-9C5B-1A6735A1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57" y="6151245"/>
            <a:ext cx="99936" cy="116205"/>
          </a:xfrm>
          <a:custGeom xmlns:a="http://schemas.openxmlformats.org/drawingml/2006/main">
            <a:pathLst>
              <a:path w="99936" h="116205">
                <a:moveTo>
                  <a:pt x="49968" y="116205"/>
                </a:moveTo>
                <a:lnTo>
                  <a:pt x="999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history-evidence">
            <a:extLst xmlns:a="http://schemas.openxmlformats.org/drawingml/2006/main">
              <a:ext uri="{FF2B5EF4-FFF2-40B4-BE49-F238E27FC236}">
                <a16:creationId xmlns:a16="http://schemas.microsoft.com/office/drawing/2014/main" id="{15F0687F-5EBB-4A39-A452-FB423E75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276975"/>
            <a:ext cx="1057275" cy="466725"/>
          </a:xfrm>
          <a:custGeom xmlns:a="http://schemas.openxmlformats.org/drawingml/2006/main">
            <a:pathLst>
              <a:path w="1057275" h="466725">
                <a:moveTo>
                  <a:pt x="1000125" y="0"/>
                </a:moveTo>
                <a:lnTo>
                  <a:pt x="1007585" y="489"/>
                </a:lnTo>
                <a:lnTo>
                  <a:pt x="1014917" y="1947"/>
                </a:lnTo>
                <a:lnTo>
                  <a:pt x="1021995" y="4350"/>
                </a:lnTo>
                <a:lnTo>
                  <a:pt x="1028700" y="7657"/>
                </a:lnTo>
                <a:lnTo>
                  <a:pt x="1034916" y="11810"/>
                </a:lnTo>
                <a:lnTo>
                  <a:pt x="1040536" y="16739"/>
                </a:lnTo>
                <a:lnTo>
                  <a:pt x="1045465" y="22359"/>
                </a:lnTo>
                <a:lnTo>
                  <a:pt x="1049618" y="28575"/>
                </a:lnTo>
                <a:lnTo>
                  <a:pt x="1052925" y="35280"/>
                </a:lnTo>
                <a:lnTo>
                  <a:pt x="1055328" y="42358"/>
                </a:lnTo>
                <a:lnTo>
                  <a:pt x="1056786" y="49690"/>
                </a:lnTo>
                <a:lnTo>
                  <a:pt x="1057275" y="57150"/>
                </a:lnTo>
                <a:lnTo>
                  <a:pt x="1057275" y="409575"/>
                </a:lnTo>
                <a:lnTo>
                  <a:pt x="1056786" y="417035"/>
                </a:lnTo>
                <a:lnTo>
                  <a:pt x="1055328" y="424367"/>
                </a:lnTo>
                <a:lnTo>
                  <a:pt x="1052925" y="431445"/>
                </a:lnTo>
                <a:lnTo>
                  <a:pt x="1049618" y="438150"/>
                </a:lnTo>
                <a:lnTo>
                  <a:pt x="1045465" y="444366"/>
                </a:lnTo>
                <a:lnTo>
                  <a:pt x="1040536" y="449986"/>
                </a:lnTo>
                <a:lnTo>
                  <a:pt x="1034916" y="454915"/>
                </a:lnTo>
                <a:lnTo>
                  <a:pt x="1028700" y="459068"/>
                </a:lnTo>
                <a:lnTo>
                  <a:pt x="1021995" y="462375"/>
                </a:lnTo>
                <a:lnTo>
                  <a:pt x="1014917" y="464778"/>
                </a:lnTo>
                <a:lnTo>
                  <a:pt x="1007585" y="466236"/>
                </a:lnTo>
                <a:lnTo>
                  <a:pt x="1000125" y="466725"/>
                </a:lnTo>
                <a:lnTo>
                  <a:pt x="57150" y="466725"/>
                </a:lnTo>
                <a:lnTo>
                  <a:pt x="49690" y="466236"/>
                </a:lnTo>
                <a:lnTo>
                  <a:pt x="42358" y="464778"/>
                </a:lnTo>
                <a:lnTo>
                  <a:pt x="35280" y="462375"/>
                </a:lnTo>
                <a:lnTo>
                  <a:pt x="28575" y="459068"/>
                </a:lnTo>
                <a:lnTo>
                  <a:pt x="22359" y="454915"/>
                </a:lnTo>
                <a:lnTo>
                  <a:pt x="16739" y="449986"/>
                </a:lnTo>
                <a:lnTo>
                  <a:pt x="11810" y="444366"/>
                </a:lnTo>
                <a:lnTo>
                  <a:pt x="7657" y="438150"/>
                </a:lnTo>
                <a:lnTo>
                  <a:pt x="4350" y="431445"/>
                </a:lnTo>
                <a:lnTo>
                  <a:pt x="1947" y="424367"/>
                </a:lnTo>
                <a:lnTo>
                  <a:pt x="489" y="417035"/>
                </a:lnTo>
                <a:lnTo>
                  <a:pt x="0" y="409575"/>
                </a:lnTo>
                <a:lnTo>
                  <a:pt x="0" y="57150"/>
                </a:lnTo>
                <a:lnTo>
                  <a:pt x="489" y="49690"/>
                </a:lnTo>
                <a:lnTo>
                  <a:pt x="1947" y="42358"/>
                </a:lnTo>
                <a:lnTo>
                  <a:pt x="4350" y="35280"/>
                </a:lnTo>
                <a:lnTo>
                  <a:pt x="7657" y="28575"/>
                </a:lnTo>
                <a:lnTo>
                  <a:pt x="11810" y="22359"/>
                </a:lnTo>
                <a:lnTo>
                  <a:pt x="16739" y="16739"/>
                </a:lnTo>
                <a:lnTo>
                  <a:pt x="22359" y="11810"/>
                </a:lnTo>
                <a:lnTo>
                  <a:pt x="28575" y="7657"/>
                </a:lnTo>
                <a:lnTo>
                  <a:pt x="35280" y="4350"/>
                </a:lnTo>
                <a:lnTo>
                  <a:pt x="42358" y="1947"/>
                </a:lnTo>
                <a:lnTo>
                  <a:pt x="49690" y="489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DFEBD6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37" name="history-evidence-label">
            <a:extLst xmlns:a="http://schemas.openxmlformats.org/drawingml/2006/main">
              <a:ext uri="{FF2B5EF4-FFF2-40B4-BE49-F238E27FC236}">
                <a16:creationId xmlns:a16="http://schemas.microsoft.com/office/drawing/2014/main" id="{5DF9C75A-9A52-43FE-955A-EEB3CA86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353175"/>
            <a:ext cx="104775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history</a:t>
            </a:r>
          </a:p>
        </p:txBody>
      </p:sp>
      <p:sp>
        <p:nvSpPr>
          <p:cNvPr id="138" name="history-to-decision">
            <a:extLst xmlns:a="http://schemas.openxmlformats.org/drawingml/2006/main">
              <a:ext uri="{FF2B5EF4-FFF2-40B4-BE49-F238E27FC236}">
                <a16:creationId xmlns:a16="http://schemas.microsoft.com/office/drawing/2014/main" id="{41A87C08-16DD-41BD-81C2-0F16446B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6510338"/>
            <a:ext cx="419100" cy="95"/>
          </a:xfrm>
          <a:custGeom xmlns:a="http://schemas.openxmlformats.org/drawingml/2006/main">
            <a:pathLst>
              <a:path w="419100" h="9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27D51"/>
            </a:solidFill>
            <a:prstDash val="solid"/>
          </a:ln>
        </p:spPr>
      </p:sp>
      <p:sp>
        <p:nvSpPr>
          <p:cNvPr id="139" name="history-to-decision--arrow">
            <a:extLst xmlns:a="http://schemas.openxmlformats.org/drawingml/2006/main">
              <a:ext uri="{FF2B5EF4-FFF2-40B4-BE49-F238E27FC236}">
                <a16:creationId xmlns:a16="http://schemas.microsoft.com/office/drawing/2014/main" id="{E09C78F7-33C8-460F-8349-2786CBB0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295" y="6460369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ecision-features">
            <a:extLst xmlns:a="http://schemas.openxmlformats.org/drawingml/2006/main">
              <a:ext uri="{FF2B5EF4-FFF2-40B4-BE49-F238E27FC236}">
                <a16:creationId xmlns:a16="http://schemas.microsoft.com/office/drawing/2014/main" id="{CB9A0637-94EB-4C59-965D-297905AE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276975"/>
            <a:ext cx="2009775" cy="466725"/>
          </a:xfrm>
          <a:custGeom xmlns:a="http://schemas.openxmlformats.org/drawingml/2006/main">
            <a:pathLst>
              <a:path w="2009775" h="466725">
                <a:moveTo>
                  <a:pt x="1952625" y="0"/>
                </a:moveTo>
                <a:lnTo>
                  <a:pt x="1960085" y="489"/>
                </a:lnTo>
                <a:lnTo>
                  <a:pt x="1967417" y="1947"/>
                </a:lnTo>
                <a:lnTo>
                  <a:pt x="1974495" y="4350"/>
                </a:lnTo>
                <a:lnTo>
                  <a:pt x="1981200" y="7657"/>
                </a:lnTo>
                <a:lnTo>
                  <a:pt x="1987416" y="11810"/>
                </a:lnTo>
                <a:lnTo>
                  <a:pt x="1993036" y="16739"/>
                </a:lnTo>
                <a:lnTo>
                  <a:pt x="1997965" y="22359"/>
                </a:lnTo>
                <a:lnTo>
                  <a:pt x="2002118" y="28575"/>
                </a:lnTo>
                <a:lnTo>
                  <a:pt x="2005425" y="35280"/>
                </a:lnTo>
                <a:lnTo>
                  <a:pt x="2007828" y="42358"/>
                </a:lnTo>
                <a:lnTo>
                  <a:pt x="2009286" y="49690"/>
                </a:lnTo>
                <a:lnTo>
                  <a:pt x="2009775" y="57150"/>
                </a:lnTo>
                <a:lnTo>
                  <a:pt x="2009775" y="409575"/>
                </a:lnTo>
                <a:lnTo>
                  <a:pt x="2009286" y="417035"/>
                </a:lnTo>
                <a:lnTo>
                  <a:pt x="2007828" y="424367"/>
                </a:lnTo>
                <a:lnTo>
                  <a:pt x="2005425" y="431445"/>
                </a:lnTo>
                <a:lnTo>
                  <a:pt x="2002118" y="438150"/>
                </a:lnTo>
                <a:lnTo>
                  <a:pt x="1997965" y="444366"/>
                </a:lnTo>
                <a:lnTo>
                  <a:pt x="1993036" y="449986"/>
                </a:lnTo>
                <a:lnTo>
                  <a:pt x="1987416" y="454915"/>
                </a:lnTo>
                <a:lnTo>
                  <a:pt x="1981200" y="459068"/>
                </a:lnTo>
                <a:lnTo>
                  <a:pt x="1974495" y="462375"/>
                </a:lnTo>
                <a:lnTo>
                  <a:pt x="1967417" y="464778"/>
                </a:lnTo>
                <a:lnTo>
                  <a:pt x="1960085" y="466236"/>
                </a:lnTo>
                <a:lnTo>
                  <a:pt x="1952625" y="466725"/>
                </a:lnTo>
                <a:lnTo>
                  <a:pt x="57150" y="466725"/>
                </a:lnTo>
                <a:lnTo>
                  <a:pt x="49690" y="466236"/>
                </a:lnTo>
                <a:lnTo>
                  <a:pt x="42358" y="464778"/>
                </a:lnTo>
                <a:lnTo>
                  <a:pt x="35280" y="462375"/>
                </a:lnTo>
                <a:lnTo>
                  <a:pt x="28575" y="459068"/>
                </a:lnTo>
                <a:lnTo>
                  <a:pt x="22359" y="454915"/>
                </a:lnTo>
                <a:lnTo>
                  <a:pt x="16739" y="449986"/>
                </a:lnTo>
                <a:lnTo>
                  <a:pt x="11810" y="444366"/>
                </a:lnTo>
                <a:lnTo>
                  <a:pt x="7657" y="438150"/>
                </a:lnTo>
                <a:lnTo>
                  <a:pt x="4350" y="431445"/>
                </a:lnTo>
                <a:lnTo>
                  <a:pt x="1947" y="424367"/>
                </a:lnTo>
                <a:lnTo>
                  <a:pt x="489" y="417035"/>
                </a:lnTo>
                <a:lnTo>
                  <a:pt x="0" y="409575"/>
                </a:lnTo>
                <a:lnTo>
                  <a:pt x="0" y="57150"/>
                </a:lnTo>
                <a:lnTo>
                  <a:pt x="489" y="49690"/>
                </a:lnTo>
                <a:lnTo>
                  <a:pt x="1947" y="42358"/>
                </a:lnTo>
                <a:lnTo>
                  <a:pt x="4350" y="35280"/>
                </a:lnTo>
                <a:lnTo>
                  <a:pt x="7657" y="28575"/>
                </a:lnTo>
                <a:lnTo>
                  <a:pt x="11810" y="22359"/>
                </a:lnTo>
                <a:lnTo>
                  <a:pt x="16739" y="16739"/>
                </a:lnTo>
                <a:lnTo>
                  <a:pt x="22359" y="11810"/>
                </a:lnTo>
                <a:lnTo>
                  <a:pt x="28575" y="7657"/>
                </a:lnTo>
                <a:lnTo>
                  <a:pt x="35280" y="4350"/>
                </a:lnTo>
                <a:lnTo>
                  <a:pt x="42358" y="1947"/>
                </a:lnTo>
                <a:lnTo>
                  <a:pt x="49690" y="489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5F7F8"/>
          </a:solidFill>
          <a:ln xmlns:a="http://schemas.openxmlformats.org/drawingml/2006/main" w="17145">
            <a:solidFill>
              <a:srgbClr val="8D9AA2"/>
            </a:solidFill>
            <a:prstDash val="solid"/>
          </a:ln>
        </p:spPr>
      </p:sp>
      <p:sp>
        <p:nvSpPr>
          <p:cNvPr id="141" name="decision-features-label">
            <a:extLst xmlns:a="http://schemas.openxmlformats.org/drawingml/2006/main">
              <a:ext uri="{FF2B5EF4-FFF2-40B4-BE49-F238E27FC236}">
                <a16:creationId xmlns:a16="http://schemas.microsoft.com/office/drawing/2014/main" id="{CE8B0101-365A-4EC9-A0A4-512C702E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334125"/>
            <a:ext cx="19240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state + evidence</a:t>
            </a:r>
          </a:p>
        </p:txBody>
      </p:sp>
      <p:sp>
        <p:nvSpPr>
          <p:cNvPr id="142" name="decision-to-actions">
            <a:extLst xmlns:a="http://schemas.openxmlformats.org/drawingml/2006/main">
              <a:ext uri="{FF2B5EF4-FFF2-40B4-BE49-F238E27FC236}">
                <a16:creationId xmlns:a16="http://schemas.microsoft.com/office/drawing/2014/main" id="{2FC19199-84EC-419A-B2D8-B8589A8E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743700"/>
            <a:ext cx="95" cy="514350"/>
          </a:xfrm>
          <a:custGeom xmlns:a="http://schemas.openxmlformats.org/drawingml/2006/main">
            <a:pathLst>
              <a:path w="9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43" name="decision-to-actions--arrow">
            <a:extLst xmlns:a="http://schemas.openxmlformats.org/drawingml/2006/main">
              <a:ext uri="{FF2B5EF4-FFF2-40B4-BE49-F238E27FC236}">
                <a16:creationId xmlns:a16="http://schemas.microsoft.com/office/drawing/2014/main" id="{DD677499-74F3-4D7E-B64A-0F3A5FE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557" y="7141845"/>
            <a:ext cx="99936" cy="116205"/>
          </a:xfrm>
          <a:custGeom xmlns:a="http://schemas.openxmlformats.org/drawingml/2006/main">
            <a:pathLst>
              <a:path w="99936" h="116205">
                <a:moveTo>
                  <a:pt x="49968" y="116205"/>
                </a:moveTo>
                <a:lnTo>
                  <a:pt x="999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actions-label">
            <a:extLst xmlns:a="http://schemas.openxmlformats.org/drawingml/2006/main">
              <a:ext uri="{FF2B5EF4-FFF2-40B4-BE49-F238E27FC236}">
                <a16:creationId xmlns:a16="http://schemas.microsoft.com/office/drawing/2014/main" id="{D917BCEC-64EA-4F13-AA07-C322116D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819900"/>
            <a:ext cx="12382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actions</a:t>
            </a:r>
          </a:p>
        </p:txBody>
      </p:sp>
      <p:sp>
        <p:nvSpPr>
          <p:cNvPr id="145" name="actions-cell-0">
            <a:extLst xmlns:a="http://schemas.openxmlformats.org/drawingml/2006/main">
              <a:ext uri="{FF2B5EF4-FFF2-40B4-BE49-F238E27FC236}">
                <a16:creationId xmlns:a16="http://schemas.microsoft.com/office/drawing/2014/main" id="{87915F77-3F45-490B-8BA0-22F6A389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725805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146" name="actions-label-0">
            <a:extLst xmlns:a="http://schemas.openxmlformats.org/drawingml/2006/main">
              <a:ext uri="{FF2B5EF4-FFF2-40B4-BE49-F238E27FC236}">
                <a16:creationId xmlns:a16="http://schemas.microsoft.com/office/drawing/2014/main" id="{375CA77C-7B5C-429F-AEBA-3D50F59B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7324725"/>
            <a:ext cx="3810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147" name="actions-cell-1">
            <a:extLst xmlns:a="http://schemas.openxmlformats.org/drawingml/2006/main">
              <a:ext uri="{FF2B5EF4-FFF2-40B4-BE49-F238E27FC236}">
                <a16:creationId xmlns:a16="http://schemas.microsoft.com/office/drawing/2014/main" id="{B66F4F1D-AF6B-4242-BCD0-02D94D35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725805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148" name="actions-label-1">
            <a:extLst xmlns:a="http://schemas.openxmlformats.org/drawingml/2006/main">
              <a:ext uri="{FF2B5EF4-FFF2-40B4-BE49-F238E27FC236}">
                <a16:creationId xmlns:a16="http://schemas.microsoft.com/office/drawing/2014/main" id="{C98C46BA-A567-486D-BD28-86D27108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324725"/>
            <a:ext cx="3810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149" name="actions-cell-2">
            <a:extLst xmlns:a="http://schemas.openxmlformats.org/drawingml/2006/main">
              <a:ext uri="{FF2B5EF4-FFF2-40B4-BE49-F238E27FC236}">
                <a16:creationId xmlns:a16="http://schemas.microsoft.com/office/drawing/2014/main" id="{5329358B-6A21-4FCF-937E-E9DE1477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25805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150" name="actions-label-2">
            <a:extLst xmlns:a="http://schemas.openxmlformats.org/drawingml/2006/main">
              <a:ext uri="{FF2B5EF4-FFF2-40B4-BE49-F238E27FC236}">
                <a16:creationId xmlns:a16="http://schemas.microsoft.com/office/drawing/2014/main" id="{6C3E3BCC-6F2E-47BC-A256-2D36B0FF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7324725"/>
            <a:ext cx="3810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151" name="actions-cell-3">
            <a:extLst xmlns:a="http://schemas.openxmlformats.org/drawingml/2006/main">
              <a:ext uri="{FF2B5EF4-FFF2-40B4-BE49-F238E27FC236}">
                <a16:creationId xmlns:a16="http://schemas.microsoft.com/office/drawing/2014/main" id="{C49CAD03-1339-46C6-95CF-150F85B9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7258050"/>
            <a:ext cx="4476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152" name="actions-label-3">
            <a:extLst xmlns:a="http://schemas.openxmlformats.org/drawingml/2006/main">
              <a:ext uri="{FF2B5EF4-FFF2-40B4-BE49-F238E27FC236}">
                <a16:creationId xmlns:a16="http://schemas.microsoft.com/office/drawing/2014/main" id="{BFF01C0C-5CFA-4FD6-878A-6138CD29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324725"/>
            <a:ext cx="3810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153" name="write-boundary">
            <a:extLst xmlns:a="http://schemas.openxmlformats.org/drawingml/2006/main">
              <a:ext uri="{FF2B5EF4-FFF2-40B4-BE49-F238E27FC236}">
                <a16:creationId xmlns:a16="http://schemas.microsoft.com/office/drawing/2014/main" id="{2C591373-8AE0-4424-90AD-EFFCA5E6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05250"/>
            <a:ext cx="5334000" cy="4333875"/>
          </a:xfrm>
          <a:custGeom xmlns:a="http://schemas.openxmlformats.org/drawingml/2006/main">
            <a:pathLst>
              <a:path w="5334000" h="4333875">
                <a:moveTo>
                  <a:pt x="5219700" y="0"/>
                </a:moveTo>
                <a:lnTo>
                  <a:pt x="5234619" y="978"/>
                </a:lnTo>
                <a:lnTo>
                  <a:pt x="5249283" y="3895"/>
                </a:lnTo>
                <a:lnTo>
                  <a:pt x="5263441" y="8701"/>
                </a:lnTo>
                <a:lnTo>
                  <a:pt x="5276850" y="15313"/>
                </a:lnTo>
                <a:lnTo>
                  <a:pt x="5289281" y="23620"/>
                </a:lnTo>
                <a:lnTo>
                  <a:pt x="5300522" y="33478"/>
                </a:lnTo>
                <a:lnTo>
                  <a:pt x="5310380" y="44719"/>
                </a:lnTo>
                <a:lnTo>
                  <a:pt x="5318687" y="57150"/>
                </a:lnTo>
                <a:lnTo>
                  <a:pt x="5325299" y="70559"/>
                </a:lnTo>
                <a:lnTo>
                  <a:pt x="5330105" y="84717"/>
                </a:lnTo>
                <a:lnTo>
                  <a:pt x="5333022" y="99381"/>
                </a:lnTo>
                <a:lnTo>
                  <a:pt x="5334000" y="114300"/>
                </a:lnTo>
                <a:lnTo>
                  <a:pt x="5334000" y="4219575"/>
                </a:lnTo>
                <a:lnTo>
                  <a:pt x="5333022" y="4234494"/>
                </a:lnTo>
                <a:lnTo>
                  <a:pt x="5330105" y="4249158"/>
                </a:lnTo>
                <a:lnTo>
                  <a:pt x="5325299" y="4263316"/>
                </a:lnTo>
                <a:lnTo>
                  <a:pt x="5318687" y="4276725"/>
                </a:lnTo>
                <a:lnTo>
                  <a:pt x="5310380" y="4289156"/>
                </a:lnTo>
                <a:lnTo>
                  <a:pt x="5300522" y="4300397"/>
                </a:lnTo>
                <a:lnTo>
                  <a:pt x="5289281" y="4310255"/>
                </a:lnTo>
                <a:lnTo>
                  <a:pt x="5276850" y="4318562"/>
                </a:lnTo>
                <a:lnTo>
                  <a:pt x="5263441" y="4325174"/>
                </a:lnTo>
                <a:lnTo>
                  <a:pt x="5249283" y="4329980"/>
                </a:lnTo>
                <a:lnTo>
                  <a:pt x="5234619" y="4332897"/>
                </a:lnTo>
                <a:lnTo>
                  <a:pt x="5219700" y="4333875"/>
                </a:lnTo>
                <a:lnTo>
                  <a:pt x="114300" y="4333875"/>
                </a:lnTo>
                <a:lnTo>
                  <a:pt x="99381" y="4332897"/>
                </a:lnTo>
                <a:lnTo>
                  <a:pt x="84717" y="4329980"/>
                </a:lnTo>
                <a:lnTo>
                  <a:pt x="70559" y="4325174"/>
                </a:lnTo>
                <a:lnTo>
                  <a:pt x="57150" y="4318562"/>
                </a:lnTo>
                <a:lnTo>
                  <a:pt x="44719" y="4310255"/>
                </a:lnTo>
                <a:lnTo>
                  <a:pt x="33478" y="4300397"/>
                </a:lnTo>
                <a:lnTo>
                  <a:pt x="23620" y="4289156"/>
                </a:lnTo>
                <a:lnTo>
                  <a:pt x="15313" y="4276725"/>
                </a:lnTo>
                <a:lnTo>
                  <a:pt x="8701" y="4263316"/>
                </a:lnTo>
                <a:lnTo>
                  <a:pt x="3895" y="4249158"/>
                </a:lnTo>
                <a:lnTo>
                  <a:pt x="978" y="4234494"/>
                </a:lnTo>
                <a:lnTo>
                  <a:pt x="0" y="4219575"/>
                </a:lnTo>
                <a:lnTo>
                  <a:pt x="0" y="114300"/>
                </a:lnTo>
                <a:lnTo>
                  <a:pt x="978" y="99381"/>
                </a:lnTo>
                <a:lnTo>
                  <a:pt x="3895" y="84717"/>
                </a:lnTo>
                <a:lnTo>
                  <a:pt x="8701" y="70559"/>
                </a:lnTo>
                <a:lnTo>
                  <a:pt x="15313" y="57150"/>
                </a:lnTo>
                <a:lnTo>
                  <a:pt x="23620" y="44719"/>
                </a:lnTo>
                <a:lnTo>
                  <a:pt x="33478" y="33478"/>
                </a:lnTo>
                <a:lnTo>
                  <a:pt x="44719" y="23620"/>
                </a:lnTo>
                <a:lnTo>
                  <a:pt x="57150" y="15313"/>
                </a:lnTo>
                <a:lnTo>
                  <a:pt x="70559" y="8701"/>
                </a:lnTo>
                <a:lnTo>
                  <a:pt x="84717" y="3895"/>
                </a:lnTo>
                <a:lnTo>
                  <a:pt x="99381" y="978"/>
                </a:lnTo>
                <a:lnTo>
                  <a:pt x="11430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9AA3AA"/>
            </a:solidFill>
            <a:prstDash val="dash"/>
          </a:ln>
        </p:spPr>
      </p:sp>
      <p:sp>
        <p:nvSpPr>
          <p:cNvPr id="154" name="write-title">
            <a:extLst xmlns:a="http://schemas.openxmlformats.org/drawingml/2006/main">
              <a:ext uri="{FF2B5EF4-FFF2-40B4-BE49-F238E27FC236}">
                <a16:creationId xmlns:a16="http://schemas.microsoft.com/office/drawing/2014/main" id="{4502207E-72AD-4F48-A4BA-5F758126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00500"/>
            <a:ext cx="4724400" cy="450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1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(b) Verified write</a:t>
            </a:r>
          </a:p>
        </p:txBody>
      </p:sp>
      <p:sp>
        <p:nvSpPr>
          <p:cNvPr id="155" name="candidate-boundary">
            <a:extLst xmlns:a="http://schemas.openxmlformats.org/drawingml/2006/main">
              <a:ext uri="{FF2B5EF4-FFF2-40B4-BE49-F238E27FC236}">
                <a16:creationId xmlns:a16="http://schemas.microsoft.com/office/drawing/2014/main" id="{F81FFACB-0C0F-42F5-AF0E-327F570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667250"/>
            <a:ext cx="4857750" cy="1781175"/>
          </a:xfrm>
          <a:custGeom xmlns:a="http://schemas.openxmlformats.org/drawingml/2006/main">
            <a:pathLst>
              <a:path w="4857750" h="1781175">
                <a:moveTo>
                  <a:pt x="4772025" y="0"/>
                </a:moveTo>
                <a:lnTo>
                  <a:pt x="4783214" y="733"/>
                </a:lnTo>
                <a:lnTo>
                  <a:pt x="4794212" y="2921"/>
                </a:lnTo>
                <a:lnTo>
                  <a:pt x="4804831" y="6525"/>
                </a:lnTo>
                <a:lnTo>
                  <a:pt x="4814888" y="11485"/>
                </a:lnTo>
                <a:lnTo>
                  <a:pt x="4824211" y="17715"/>
                </a:lnTo>
                <a:lnTo>
                  <a:pt x="4832642" y="25108"/>
                </a:lnTo>
                <a:lnTo>
                  <a:pt x="4840035" y="33539"/>
                </a:lnTo>
                <a:lnTo>
                  <a:pt x="4846265" y="42863"/>
                </a:lnTo>
                <a:lnTo>
                  <a:pt x="4851225" y="52919"/>
                </a:lnTo>
                <a:lnTo>
                  <a:pt x="4854829" y="63538"/>
                </a:lnTo>
                <a:lnTo>
                  <a:pt x="4857017" y="74536"/>
                </a:lnTo>
                <a:lnTo>
                  <a:pt x="4857750" y="85725"/>
                </a:lnTo>
                <a:lnTo>
                  <a:pt x="4857750" y="1695450"/>
                </a:lnTo>
                <a:lnTo>
                  <a:pt x="4857017" y="1706639"/>
                </a:lnTo>
                <a:lnTo>
                  <a:pt x="4854829" y="1717637"/>
                </a:lnTo>
                <a:lnTo>
                  <a:pt x="4851225" y="1728256"/>
                </a:lnTo>
                <a:lnTo>
                  <a:pt x="4846265" y="1738313"/>
                </a:lnTo>
                <a:lnTo>
                  <a:pt x="4840035" y="1747636"/>
                </a:lnTo>
                <a:lnTo>
                  <a:pt x="4832642" y="1756067"/>
                </a:lnTo>
                <a:lnTo>
                  <a:pt x="4824211" y="1763460"/>
                </a:lnTo>
                <a:lnTo>
                  <a:pt x="4814888" y="1769690"/>
                </a:lnTo>
                <a:lnTo>
                  <a:pt x="4804831" y="1774650"/>
                </a:lnTo>
                <a:lnTo>
                  <a:pt x="4794212" y="1778254"/>
                </a:lnTo>
                <a:lnTo>
                  <a:pt x="4783214" y="1780442"/>
                </a:lnTo>
                <a:lnTo>
                  <a:pt x="4772025" y="1781175"/>
                </a:lnTo>
                <a:lnTo>
                  <a:pt x="85725" y="1781175"/>
                </a:lnTo>
                <a:lnTo>
                  <a:pt x="74536" y="1780442"/>
                </a:lnTo>
                <a:lnTo>
                  <a:pt x="63538" y="1778254"/>
                </a:lnTo>
                <a:lnTo>
                  <a:pt x="52919" y="1774650"/>
                </a:lnTo>
                <a:lnTo>
                  <a:pt x="42863" y="1769690"/>
                </a:lnTo>
                <a:lnTo>
                  <a:pt x="33539" y="1763460"/>
                </a:lnTo>
                <a:lnTo>
                  <a:pt x="25108" y="1756067"/>
                </a:lnTo>
                <a:lnTo>
                  <a:pt x="17715" y="1747636"/>
                </a:lnTo>
                <a:lnTo>
                  <a:pt x="11485" y="1738313"/>
                </a:lnTo>
                <a:lnTo>
                  <a:pt x="6525" y="1728256"/>
                </a:lnTo>
                <a:lnTo>
                  <a:pt x="2921" y="1717637"/>
                </a:lnTo>
                <a:lnTo>
                  <a:pt x="733" y="1706639"/>
                </a:lnTo>
                <a:lnTo>
                  <a:pt x="0" y="1695450"/>
                </a:lnTo>
                <a:lnTo>
                  <a:pt x="0" y="85725"/>
                </a:lnTo>
                <a:lnTo>
                  <a:pt x="733" y="74536"/>
                </a:lnTo>
                <a:lnTo>
                  <a:pt x="2921" y="63538"/>
                </a:lnTo>
                <a:lnTo>
                  <a:pt x="6525" y="52919"/>
                </a:lnTo>
                <a:lnTo>
                  <a:pt x="11485" y="42863"/>
                </a:lnTo>
                <a:lnTo>
                  <a:pt x="17715" y="33539"/>
                </a:lnTo>
                <a:lnTo>
                  <a:pt x="25108" y="25108"/>
                </a:lnTo>
                <a:lnTo>
                  <a:pt x="33539" y="17715"/>
                </a:lnTo>
                <a:lnTo>
                  <a:pt x="42863" y="11485"/>
                </a:lnTo>
                <a:lnTo>
                  <a:pt x="52919" y="6525"/>
                </a:lnTo>
                <a:lnTo>
                  <a:pt x="63538" y="2921"/>
                </a:lnTo>
                <a:lnTo>
                  <a:pt x="74536" y="733"/>
                </a:lnTo>
                <a:lnTo>
                  <a:pt x="85725" y="0"/>
                </a:lnTo>
                <a:close/>
              </a:path>
            </a:pathLst>
          </a:custGeom>
          <a:solidFill xmlns:a="http://schemas.openxmlformats.org/drawingml/2006/main">
            <a:srgbClr val="F6F9F1"/>
          </a:solidFill>
          <a:ln xmlns:a="http://schemas.openxmlformats.org/drawingml/2006/main" w="17145">
            <a:solidFill>
              <a:srgbClr val="9EB28F"/>
            </a:solidFill>
            <a:prstDash val="solid"/>
          </a:ln>
        </p:spPr>
      </p:sp>
      <p:sp>
        <p:nvSpPr>
          <p:cNvPr id="156" name="candidate-input-h">
            <a:extLst xmlns:a="http://schemas.openxmlformats.org/drawingml/2006/main">
              <a:ext uri="{FF2B5EF4-FFF2-40B4-BE49-F238E27FC236}">
                <a16:creationId xmlns:a16="http://schemas.microsoft.com/office/drawing/2014/main" id="{24E24E85-21B4-4B08-A61A-C920B67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867275"/>
            <a:ext cx="8096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h²</a:t>
            </a:r>
          </a:p>
        </p:txBody>
      </p:sp>
      <p:sp>
        <p:nvSpPr>
          <p:cNvPr id="157" name="candidate-input-u">
            <a:extLst xmlns:a="http://schemas.openxmlformats.org/drawingml/2006/main">
              <a:ext uri="{FF2B5EF4-FFF2-40B4-BE49-F238E27FC236}">
                <a16:creationId xmlns:a16="http://schemas.microsoft.com/office/drawing/2014/main" id="{F31490BE-811B-4A2D-B42B-2C8219C0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391150"/>
            <a:ext cx="8096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ū²</a:t>
            </a:r>
          </a:p>
        </p:txBody>
      </p:sp>
      <p:sp>
        <p:nvSpPr>
          <p:cNvPr id="158" name="candidate-feature-bus">
            <a:extLst xmlns:a="http://schemas.openxmlformats.org/drawingml/2006/main">
              <a:ext uri="{FF2B5EF4-FFF2-40B4-BE49-F238E27FC236}">
                <a16:creationId xmlns:a16="http://schemas.microsoft.com/office/drawing/2014/main" id="{CBFF8BE3-D724-498F-AB96-AEFD0D78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153025"/>
            <a:ext cx="523875" cy="657225"/>
          </a:xfrm>
          <a:custGeom xmlns:a="http://schemas.openxmlformats.org/drawingml/2006/main">
            <a:pathLst>
              <a:path w="523875" h="657225">
                <a:moveTo>
                  <a:pt x="0" y="0"/>
                </a:moveTo>
                <a:lnTo>
                  <a:pt x="276225" y="0"/>
                </a:lnTo>
                <a:lnTo>
                  <a:pt x="276225" y="657225"/>
                </a:lnTo>
                <a:lnTo>
                  <a:pt x="523875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59" name="candidate-feature-bus--arrow">
            <a:extLst xmlns:a="http://schemas.openxmlformats.org/drawingml/2006/main">
              <a:ext uri="{FF2B5EF4-FFF2-40B4-BE49-F238E27FC236}">
                <a16:creationId xmlns:a16="http://schemas.microsoft.com/office/drawing/2014/main" id="{676BB8F4-9EE1-4E62-A662-881348CC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605" y="5761920"/>
            <a:ext cx="112395" cy="96660"/>
          </a:xfrm>
          <a:custGeom xmlns:a="http://schemas.openxmlformats.org/drawingml/2006/main">
            <a:pathLst>
              <a:path w="112395" h="96660">
                <a:moveTo>
                  <a:pt x="112395" y="48330"/>
                </a:moveTo>
                <a:lnTo>
                  <a:pt x="0" y="0"/>
                </a:lnTo>
                <a:lnTo>
                  <a:pt x="0" y="96660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candidate-feature-u">
            <a:extLst xmlns:a="http://schemas.openxmlformats.org/drawingml/2006/main">
              <a:ext uri="{FF2B5EF4-FFF2-40B4-BE49-F238E27FC236}">
                <a16:creationId xmlns:a16="http://schemas.microsoft.com/office/drawing/2014/main" id="{C01F40D9-5FE3-44CC-A63E-57CF12F2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572125"/>
            <a:ext cx="276225" cy="95"/>
          </a:xfrm>
          <a:custGeom xmlns:a="http://schemas.openxmlformats.org/drawingml/2006/main">
            <a:pathLst>
              <a:path w="276225" h="9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61" name="candidate-reset-input">
            <a:extLst xmlns:a="http://schemas.openxmlformats.org/drawingml/2006/main">
              <a:ext uri="{FF2B5EF4-FFF2-40B4-BE49-F238E27FC236}">
                <a16:creationId xmlns:a16="http://schemas.microsoft.com/office/drawing/2014/main" id="{69F8DFF4-6F82-44C7-BEBB-C2C944FB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153025"/>
            <a:ext cx="247650" cy="95"/>
          </a:xfrm>
          <a:custGeom xmlns:a="http://schemas.openxmlformats.org/drawingml/2006/main">
            <a:pathLst>
              <a:path w="247650" h="9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162" name="candidate-reset-input--arrow">
            <a:extLst xmlns:a="http://schemas.openxmlformats.org/drawingml/2006/main">
              <a:ext uri="{FF2B5EF4-FFF2-40B4-BE49-F238E27FC236}">
                <a16:creationId xmlns:a16="http://schemas.microsoft.com/office/drawing/2014/main" id="{82319723-F059-4BD6-B503-35EE9027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605" y="5104695"/>
            <a:ext cx="112395" cy="96660"/>
          </a:xfrm>
          <a:custGeom xmlns:a="http://schemas.openxmlformats.org/drawingml/2006/main">
            <a:pathLst>
              <a:path w="112395" h="96660">
                <a:moveTo>
                  <a:pt x="112395" y="48330"/>
                </a:moveTo>
                <a:lnTo>
                  <a:pt x="0" y="0"/>
                </a:lnTo>
                <a:lnTo>
                  <a:pt x="0" y="96660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internal-reset">
            <a:extLst xmlns:a="http://schemas.openxmlformats.org/drawingml/2006/main">
              <a:ext uri="{FF2B5EF4-FFF2-40B4-BE49-F238E27FC236}">
                <a16:creationId xmlns:a16="http://schemas.microsoft.com/office/drawing/2014/main" id="{81B52E3C-14EE-483F-8D3E-444B2202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43475"/>
            <a:ext cx="971550" cy="419100"/>
          </a:xfrm>
          <a:custGeom xmlns:a="http://schemas.openxmlformats.org/drawingml/2006/main">
            <a:pathLst>
              <a:path w="971550" h="419100">
                <a:moveTo>
                  <a:pt x="923925" y="0"/>
                </a:moveTo>
                <a:lnTo>
                  <a:pt x="930141" y="407"/>
                </a:lnTo>
                <a:lnTo>
                  <a:pt x="936251" y="1623"/>
                </a:lnTo>
                <a:lnTo>
                  <a:pt x="942150" y="3625"/>
                </a:lnTo>
                <a:lnTo>
                  <a:pt x="947738" y="6381"/>
                </a:lnTo>
                <a:lnTo>
                  <a:pt x="952917" y="9842"/>
                </a:lnTo>
                <a:lnTo>
                  <a:pt x="957601" y="13949"/>
                </a:lnTo>
                <a:lnTo>
                  <a:pt x="961708" y="18633"/>
                </a:lnTo>
                <a:lnTo>
                  <a:pt x="965169" y="23813"/>
                </a:lnTo>
                <a:lnTo>
                  <a:pt x="967925" y="29400"/>
                </a:lnTo>
                <a:lnTo>
                  <a:pt x="969927" y="35299"/>
                </a:lnTo>
                <a:lnTo>
                  <a:pt x="971143" y="41409"/>
                </a:lnTo>
                <a:lnTo>
                  <a:pt x="971550" y="47625"/>
                </a:lnTo>
                <a:lnTo>
                  <a:pt x="971550" y="371475"/>
                </a:lnTo>
                <a:lnTo>
                  <a:pt x="971143" y="377691"/>
                </a:lnTo>
                <a:lnTo>
                  <a:pt x="969927" y="383801"/>
                </a:lnTo>
                <a:lnTo>
                  <a:pt x="967925" y="389700"/>
                </a:lnTo>
                <a:lnTo>
                  <a:pt x="965169" y="395288"/>
                </a:lnTo>
                <a:lnTo>
                  <a:pt x="961708" y="400467"/>
                </a:lnTo>
                <a:lnTo>
                  <a:pt x="957601" y="405151"/>
                </a:lnTo>
                <a:lnTo>
                  <a:pt x="952917" y="409258"/>
                </a:lnTo>
                <a:lnTo>
                  <a:pt x="947738" y="412719"/>
                </a:lnTo>
                <a:lnTo>
                  <a:pt x="942150" y="415475"/>
                </a:lnTo>
                <a:lnTo>
                  <a:pt x="936251" y="417477"/>
                </a:lnTo>
                <a:lnTo>
                  <a:pt x="930141" y="418693"/>
                </a:lnTo>
                <a:lnTo>
                  <a:pt x="923925" y="419100"/>
                </a:lnTo>
                <a:lnTo>
                  <a:pt x="47625" y="419100"/>
                </a:lnTo>
                <a:lnTo>
                  <a:pt x="41409" y="418693"/>
                </a:lnTo>
                <a:lnTo>
                  <a:pt x="35299" y="417477"/>
                </a:lnTo>
                <a:lnTo>
                  <a:pt x="29400" y="415475"/>
                </a:lnTo>
                <a:lnTo>
                  <a:pt x="23813" y="412719"/>
                </a:lnTo>
                <a:lnTo>
                  <a:pt x="18633" y="409258"/>
                </a:lnTo>
                <a:lnTo>
                  <a:pt x="13949" y="405151"/>
                </a:lnTo>
                <a:lnTo>
                  <a:pt x="9842" y="400467"/>
                </a:lnTo>
                <a:lnTo>
                  <a:pt x="6381" y="395288"/>
                </a:lnTo>
                <a:lnTo>
                  <a:pt x="3625" y="389700"/>
                </a:lnTo>
                <a:lnTo>
                  <a:pt x="1623" y="383801"/>
                </a:lnTo>
                <a:lnTo>
                  <a:pt x="407" y="377691"/>
                </a:lnTo>
                <a:lnTo>
                  <a:pt x="0" y="371475"/>
                </a:lnTo>
                <a:lnTo>
                  <a:pt x="0" y="47625"/>
                </a:lnTo>
                <a:lnTo>
                  <a:pt x="407" y="41409"/>
                </a:lnTo>
                <a:lnTo>
                  <a:pt x="1623" y="35299"/>
                </a:lnTo>
                <a:lnTo>
                  <a:pt x="3625" y="29400"/>
                </a:lnTo>
                <a:lnTo>
                  <a:pt x="6381" y="23813"/>
                </a:lnTo>
                <a:lnTo>
                  <a:pt x="9842" y="18633"/>
                </a:lnTo>
                <a:lnTo>
                  <a:pt x="13949" y="13949"/>
                </a:lnTo>
                <a:lnTo>
                  <a:pt x="18633" y="9842"/>
                </a:lnTo>
                <a:lnTo>
                  <a:pt x="23813" y="6381"/>
                </a:lnTo>
                <a:lnTo>
                  <a:pt x="29400" y="3625"/>
                </a:lnTo>
                <a:lnTo>
                  <a:pt x="35299" y="1623"/>
                </a:lnTo>
                <a:lnTo>
                  <a:pt x="41409" y="407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DFEBD6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64" name="internal-reset-label">
            <a:extLst xmlns:a="http://schemas.openxmlformats.org/drawingml/2006/main">
              <a:ext uri="{FF2B5EF4-FFF2-40B4-BE49-F238E27FC236}">
                <a16:creationId xmlns:a16="http://schemas.microsoft.com/office/drawing/2014/main" id="{F55EAB4F-4126-4AD2-A66A-E2E45E73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000625"/>
            <a:ext cx="95250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Reset</a:t>
            </a:r>
          </a:p>
        </p:txBody>
      </p:sp>
      <p:sp>
        <p:nvSpPr>
          <p:cNvPr id="165" name="nonlinear-branch">
            <a:extLst xmlns:a="http://schemas.openxmlformats.org/drawingml/2006/main">
              <a:ext uri="{FF2B5EF4-FFF2-40B4-BE49-F238E27FC236}">
                <a16:creationId xmlns:a16="http://schemas.microsoft.com/office/drawing/2014/main" id="{BD1E8BD8-B77A-4014-9533-2EC86B8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4943475"/>
            <a:ext cx="1047750" cy="419100"/>
          </a:xfrm>
          <a:custGeom xmlns:a="http://schemas.openxmlformats.org/drawingml/2006/main">
            <a:pathLst>
              <a:path w="1047750" h="419100">
                <a:moveTo>
                  <a:pt x="1000125" y="0"/>
                </a:moveTo>
                <a:lnTo>
                  <a:pt x="1006341" y="407"/>
                </a:lnTo>
                <a:lnTo>
                  <a:pt x="1012451" y="1623"/>
                </a:lnTo>
                <a:lnTo>
                  <a:pt x="1018350" y="3625"/>
                </a:lnTo>
                <a:lnTo>
                  <a:pt x="1023938" y="6381"/>
                </a:lnTo>
                <a:lnTo>
                  <a:pt x="1029117" y="9842"/>
                </a:lnTo>
                <a:lnTo>
                  <a:pt x="1033801" y="13949"/>
                </a:lnTo>
                <a:lnTo>
                  <a:pt x="1037908" y="18633"/>
                </a:lnTo>
                <a:lnTo>
                  <a:pt x="1041369" y="23813"/>
                </a:lnTo>
                <a:lnTo>
                  <a:pt x="1044125" y="29400"/>
                </a:lnTo>
                <a:lnTo>
                  <a:pt x="1046127" y="35299"/>
                </a:lnTo>
                <a:lnTo>
                  <a:pt x="1047343" y="41409"/>
                </a:lnTo>
                <a:lnTo>
                  <a:pt x="1047750" y="47625"/>
                </a:lnTo>
                <a:lnTo>
                  <a:pt x="1047750" y="371475"/>
                </a:lnTo>
                <a:lnTo>
                  <a:pt x="1047343" y="377691"/>
                </a:lnTo>
                <a:lnTo>
                  <a:pt x="1046127" y="383801"/>
                </a:lnTo>
                <a:lnTo>
                  <a:pt x="1044125" y="389700"/>
                </a:lnTo>
                <a:lnTo>
                  <a:pt x="1041369" y="395288"/>
                </a:lnTo>
                <a:lnTo>
                  <a:pt x="1037908" y="400467"/>
                </a:lnTo>
                <a:lnTo>
                  <a:pt x="1033801" y="405151"/>
                </a:lnTo>
                <a:lnTo>
                  <a:pt x="1029117" y="409258"/>
                </a:lnTo>
                <a:lnTo>
                  <a:pt x="1023938" y="412719"/>
                </a:lnTo>
                <a:lnTo>
                  <a:pt x="1018350" y="415475"/>
                </a:lnTo>
                <a:lnTo>
                  <a:pt x="1012451" y="417477"/>
                </a:lnTo>
                <a:lnTo>
                  <a:pt x="1006341" y="418693"/>
                </a:lnTo>
                <a:lnTo>
                  <a:pt x="1000125" y="419100"/>
                </a:lnTo>
                <a:lnTo>
                  <a:pt x="47625" y="419100"/>
                </a:lnTo>
                <a:lnTo>
                  <a:pt x="41409" y="418693"/>
                </a:lnTo>
                <a:lnTo>
                  <a:pt x="35299" y="417477"/>
                </a:lnTo>
                <a:lnTo>
                  <a:pt x="29400" y="415475"/>
                </a:lnTo>
                <a:lnTo>
                  <a:pt x="23813" y="412719"/>
                </a:lnTo>
                <a:lnTo>
                  <a:pt x="18633" y="409258"/>
                </a:lnTo>
                <a:lnTo>
                  <a:pt x="13949" y="405151"/>
                </a:lnTo>
                <a:lnTo>
                  <a:pt x="9842" y="400467"/>
                </a:lnTo>
                <a:lnTo>
                  <a:pt x="6381" y="395288"/>
                </a:lnTo>
                <a:lnTo>
                  <a:pt x="3625" y="389700"/>
                </a:lnTo>
                <a:lnTo>
                  <a:pt x="1623" y="383801"/>
                </a:lnTo>
                <a:lnTo>
                  <a:pt x="407" y="377691"/>
                </a:lnTo>
                <a:lnTo>
                  <a:pt x="0" y="371475"/>
                </a:lnTo>
                <a:lnTo>
                  <a:pt x="0" y="47625"/>
                </a:lnTo>
                <a:lnTo>
                  <a:pt x="407" y="41409"/>
                </a:lnTo>
                <a:lnTo>
                  <a:pt x="1623" y="35299"/>
                </a:lnTo>
                <a:lnTo>
                  <a:pt x="3625" y="29400"/>
                </a:lnTo>
                <a:lnTo>
                  <a:pt x="6381" y="23813"/>
                </a:lnTo>
                <a:lnTo>
                  <a:pt x="9842" y="18633"/>
                </a:lnTo>
                <a:lnTo>
                  <a:pt x="13949" y="13949"/>
                </a:lnTo>
                <a:lnTo>
                  <a:pt x="18633" y="9842"/>
                </a:lnTo>
                <a:lnTo>
                  <a:pt x="23813" y="6381"/>
                </a:lnTo>
                <a:lnTo>
                  <a:pt x="29400" y="3625"/>
                </a:lnTo>
                <a:lnTo>
                  <a:pt x="35299" y="1623"/>
                </a:lnTo>
                <a:lnTo>
                  <a:pt x="41409" y="407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EAF1E2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66" name="nonlinear-label">
            <a:extLst xmlns:a="http://schemas.openxmlformats.org/drawingml/2006/main">
              <a:ext uri="{FF2B5EF4-FFF2-40B4-BE49-F238E27FC236}">
                <a16:creationId xmlns:a16="http://schemas.microsoft.com/office/drawing/2014/main" id="{A4D8B82A-C0C8-4DC8-AA97-57263BE9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0" y="5000625"/>
            <a:ext cx="92392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φ</a:t>
            </a:r>
          </a:p>
        </p:txBody>
      </p:sp>
      <p:sp>
        <p:nvSpPr>
          <p:cNvPr id="167" name="reset-to-nonlinear">
            <a:extLst xmlns:a="http://schemas.openxmlformats.org/drawingml/2006/main">
              <a:ext uri="{FF2B5EF4-FFF2-40B4-BE49-F238E27FC236}">
                <a16:creationId xmlns:a16="http://schemas.microsoft.com/office/drawing/2014/main" id="{1DFD5CFB-F815-4347-A04E-6D7181A2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153025"/>
            <a:ext cx="295275" cy="95"/>
          </a:xfrm>
          <a:custGeom xmlns:a="http://schemas.openxmlformats.org/drawingml/2006/main">
            <a:pathLst>
              <a:path w="295275" h="9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68" name="reset-to-nonlinear--arrow">
            <a:extLst xmlns:a="http://schemas.openxmlformats.org/drawingml/2006/main">
              <a:ext uri="{FF2B5EF4-FFF2-40B4-BE49-F238E27FC236}">
                <a16:creationId xmlns:a16="http://schemas.microsoft.com/office/drawing/2014/main" id="{93457637-9638-4ADA-90CB-DFDB3A0E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9620" y="510305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internal-update">
            <a:extLst xmlns:a="http://schemas.openxmlformats.org/drawingml/2006/main">
              <a:ext uri="{FF2B5EF4-FFF2-40B4-BE49-F238E27FC236}">
                <a16:creationId xmlns:a16="http://schemas.microsoft.com/office/drawing/2014/main" id="{FBDAA843-6E58-419A-A4F1-36C20145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600700"/>
            <a:ext cx="971550" cy="419100"/>
          </a:xfrm>
          <a:custGeom xmlns:a="http://schemas.openxmlformats.org/drawingml/2006/main">
            <a:pathLst>
              <a:path w="971550" h="419100">
                <a:moveTo>
                  <a:pt x="923925" y="0"/>
                </a:moveTo>
                <a:lnTo>
                  <a:pt x="930141" y="407"/>
                </a:lnTo>
                <a:lnTo>
                  <a:pt x="936251" y="1623"/>
                </a:lnTo>
                <a:lnTo>
                  <a:pt x="942150" y="3625"/>
                </a:lnTo>
                <a:lnTo>
                  <a:pt x="947738" y="6381"/>
                </a:lnTo>
                <a:lnTo>
                  <a:pt x="952917" y="9842"/>
                </a:lnTo>
                <a:lnTo>
                  <a:pt x="957601" y="13949"/>
                </a:lnTo>
                <a:lnTo>
                  <a:pt x="961708" y="18633"/>
                </a:lnTo>
                <a:lnTo>
                  <a:pt x="965169" y="23813"/>
                </a:lnTo>
                <a:lnTo>
                  <a:pt x="967925" y="29400"/>
                </a:lnTo>
                <a:lnTo>
                  <a:pt x="969927" y="35299"/>
                </a:lnTo>
                <a:lnTo>
                  <a:pt x="971143" y="41409"/>
                </a:lnTo>
                <a:lnTo>
                  <a:pt x="971550" y="47625"/>
                </a:lnTo>
                <a:lnTo>
                  <a:pt x="971550" y="371475"/>
                </a:lnTo>
                <a:lnTo>
                  <a:pt x="971143" y="377691"/>
                </a:lnTo>
                <a:lnTo>
                  <a:pt x="969927" y="383801"/>
                </a:lnTo>
                <a:lnTo>
                  <a:pt x="967925" y="389700"/>
                </a:lnTo>
                <a:lnTo>
                  <a:pt x="965169" y="395288"/>
                </a:lnTo>
                <a:lnTo>
                  <a:pt x="961708" y="400467"/>
                </a:lnTo>
                <a:lnTo>
                  <a:pt x="957601" y="405151"/>
                </a:lnTo>
                <a:lnTo>
                  <a:pt x="952917" y="409258"/>
                </a:lnTo>
                <a:lnTo>
                  <a:pt x="947738" y="412719"/>
                </a:lnTo>
                <a:lnTo>
                  <a:pt x="942150" y="415475"/>
                </a:lnTo>
                <a:lnTo>
                  <a:pt x="936251" y="417477"/>
                </a:lnTo>
                <a:lnTo>
                  <a:pt x="930141" y="418693"/>
                </a:lnTo>
                <a:lnTo>
                  <a:pt x="923925" y="419100"/>
                </a:lnTo>
                <a:lnTo>
                  <a:pt x="47625" y="419100"/>
                </a:lnTo>
                <a:lnTo>
                  <a:pt x="41409" y="418693"/>
                </a:lnTo>
                <a:lnTo>
                  <a:pt x="35299" y="417477"/>
                </a:lnTo>
                <a:lnTo>
                  <a:pt x="29400" y="415475"/>
                </a:lnTo>
                <a:lnTo>
                  <a:pt x="23813" y="412719"/>
                </a:lnTo>
                <a:lnTo>
                  <a:pt x="18633" y="409258"/>
                </a:lnTo>
                <a:lnTo>
                  <a:pt x="13949" y="405151"/>
                </a:lnTo>
                <a:lnTo>
                  <a:pt x="9842" y="400467"/>
                </a:lnTo>
                <a:lnTo>
                  <a:pt x="6381" y="395288"/>
                </a:lnTo>
                <a:lnTo>
                  <a:pt x="3625" y="389700"/>
                </a:lnTo>
                <a:lnTo>
                  <a:pt x="1623" y="383801"/>
                </a:lnTo>
                <a:lnTo>
                  <a:pt x="407" y="377691"/>
                </a:lnTo>
                <a:lnTo>
                  <a:pt x="0" y="371475"/>
                </a:lnTo>
                <a:lnTo>
                  <a:pt x="0" y="47625"/>
                </a:lnTo>
                <a:lnTo>
                  <a:pt x="407" y="41409"/>
                </a:lnTo>
                <a:lnTo>
                  <a:pt x="1623" y="35299"/>
                </a:lnTo>
                <a:lnTo>
                  <a:pt x="3625" y="29400"/>
                </a:lnTo>
                <a:lnTo>
                  <a:pt x="6381" y="23813"/>
                </a:lnTo>
                <a:lnTo>
                  <a:pt x="9842" y="18633"/>
                </a:lnTo>
                <a:lnTo>
                  <a:pt x="13949" y="13949"/>
                </a:lnTo>
                <a:lnTo>
                  <a:pt x="18633" y="9842"/>
                </a:lnTo>
                <a:lnTo>
                  <a:pt x="23813" y="6381"/>
                </a:lnTo>
                <a:lnTo>
                  <a:pt x="29400" y="3625"/>
                </a:lnTo>
                <a:lnTo>
                  <a:pt x="35299" y="1623"/>
                </a:lnTo>
                <a:lnTo>
                  <a:pt x="41409" y="407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DFEBD6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70" name="internal-update-label">
            <a:extLst xmlns:a="http://schemas.openxmlformats.org/drawingml/2006/main">
              <a:ext uri="{FF2B5EF4-FFF2-40B4-BE49-F238E27FC236}">
                <a16:creationId xmlns:a16="http://schemas.microsoft.com/office/drawing/2014/main" id="{43D75361-A0B8-4FC1-9939-9BFF556B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667375"/>
            <a:ext cx="9525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171" name="carry-weight-beta">
            <a:extLst xmlns:a="http://schemas.openxmlformats.org/drawingml/2006/main">
              <a:ext uri="{FF2B5EF4-FFF2-40B4-BE49-F238E27FC236}">
                <a16:creationId xmlns:a16="http://schemas.microsoft.com/office/drawing/2014/main" id="{06BE089C-B443-499E-90F5-A2FA486C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29275"/>
            <a:ext cx="5905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627D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627D51"/>
                </a:solidFill>
                <a:latin typeface="Times New Roman"/>
                <a:ea typeface="Times New Roman"/>
                <a:cs typeface="Times New Roman"/>
              </a:rPr>
              <a:t>β</a:t>
            </a:r>
          </a:p>
        </p:txBody>
      </p:sp>
      <p:sp>
        <p:nvSpPr>
          <p:cNvPr id="172" name="update-to-beta">
            <a:extLst xmlns:a="http://schemas.openxmlformats.org/drawingml/2006/main">
              <a:ext uri="{FF2B5EF4-FFF2-40B4-BE49-F238E27FC236}">
                <a16:creationId xmlns:a16="http://schemas.microsoft.com/office/drawing/2014/main" id="{C96CE555-8366-457E-A27A-482ADB34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810250"/>
            <a:ext cx="219075" cy="95"/>
          </a:xfrm>
          <a:custGeom xmlns:a="http://schemas.openxmlformats.org/drawingml/2006/main">
            <a:pathLst>
              <a:path w="219075" h="9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73" name="update-to-beta--arrow">
            <a:extLst xmlns:a="http://schemas.openxmlformats.org/drawingml/2006/main">
              <a:ext uri="{FF2B5EF4-FFF2-40B4-BE49-F238E27FC236}">
                <a16:creationId xmlns:a16="http://schemas.microsoft.com/office/drawing/2014/main" id="{B380A64F-D2AB-43BB-B833-6743BDAA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7230" y="5761920"/>
            <a:ext cx="112395" cy="96660"/>
          </a:xfrm>
          <a:custGeom xmlns:a="http://schemas.openxmlformats.org/drawingml/2006/main">
            <a:pathLst>
              <a:path w="112395" h="96660">
                <a:moveTo>
                  <a:pt x="112395" y="48330"/>
                </a:moveTo>
                <a:lnTo>
                  <a:pt x="0" y="0"/>
                </a:lnTo>
                <a:lnTo>
                  <a:pt x="0" y="96660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candidate-blend">
            <a:extLst xmlns:a="http://schemas.openxmlformats.org/drawingml/2006/main">
              <a:ext uri="{FF2B5EF4-FFF2-40B4-BE49-F238E27FC236}">
                <a16:creationId xmlns:a16="http://schemas.microsoft.com/office/drawing/2014/main" id="{255A5983-4273-4788-A0ED-48D2BA66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5429250"/>
            <a:ext cx="657225" cy="400050"/>
          </a:xfrm>
          <a:custGeom xmlns:a="http://schemas.openxmlformats.org/drawingml/2006/main">
            <a:pathLst>
              <a:path w="657225" h="400050">
                <a:moveTo>
                  <a:pt x="609600" y="0"/>
                </a:moveTo>
                <a:lnTo>
                  <a:pt x="615816" y="407"/>
                </a:lnTo>
                <a:lnTo>
                  <a:pt x="621926" y="1623"/>
                </a:lnTo>
                <a:lnTo>
                  <a:pt x="627825" y="3625"/>
                </a:lnTo>
                <a:lnTo>
                  <a:pt x="633413" y="6381"/>
                </a:lnTo>
                <a:lnTo>
                  <a:pt x="638592" y="9842"/>
                </a:lnTo>
                <a:lnTo>
                  <a:pt x="643276" y="13949"/>
                </a:lnTo>
                <a:lnTo>
                  <a:pt x="647383" y="18633"/>
                </a:lnTo>
                <a:lnTo>
                  <a:pt x="650844" y="23813"/>
                </a:lnTo>
                <a:lnTo>
                  <a:pt x="653600" y="29400"/>
                </a:lnTo>
                <a:lnTo>
                  <a:pt x="655602" y="35299"/>
                </a:lnTo>
                <a:lnTo>
                  <a:pt x="656818" y="41409"/>
                </a:lnTo>
                <a:lnTo>
                  <a:pt x="657225" y="47625"/>
                </a:lnTo>
                <a:lnTo>
                  <a:pt x="657225" y="352425"/>
                </a:lnTo>
                <a:lnTo>
                  <a:pt x="656818" y="358641"/>
                </a:lnTo>
                <a:lnTo>
                  <a:pt x="655602" y="364751"/>
                </a:lnTo>
                <a:lnTo>
                  <a:pt x="653600" y="370650"/>
                </a:lnTo>
                <a:lnTo>
                  <a:pt x="650844" y="376238"/>
                </a:lnTo>
                <a:lnTo>
                  <a:pt x="647383" y="381417"/>
                </a:lnTo>
                <a:lnTo>
                  <a:pt x="643276" y="386101"/>
                </a:lnTo>
                <a:lnTo>
                  <a:pt x="638592" y="390208"/>
                </a:lnTo>
                <a:lnTo>
                  <a:pt x="633413" y="393669"/>
                </a:lnTo>
                <a:lnTo>
                  <a:pt x="627825" y="396425"/>
                </a:lnTo>
                <a:lnTo>
                  <a:pt x="621926" y="398427"/>
                </a:lnTo>
                <a:lnTo>
                  <a:pt x="615816" y="399643"/>
                </a:lnTo>
                <a:lnTo>
                  <a:pt x="609600" y="400050"/>
                </a:lnTo>
                <a:lnTo>
                  <a:pt x="47625" y="400050"/>
                </a:lnTo>
                <a:lnTo>
                  <a:pt x="41409" y="399643"/>
                </a:lnTo>
                <a:lnTo>
                  <a:pt x="35299" y="398427"/>
                </a:lnTo>
                <a:lnTo>
                  <a:pt x="29400" y="396425"/>
                </a:lnTo>
                <a:lnTo>
                  <a:pt x="23813" y="393669"/>
                </a:lnTo>
                <a:lnTo>
                  <a:pt x="18633" y="390208"/>
                </a:lnTo>
                <a:lnTo>
                  <a:pt x="13949" y="386101"/>
                </a:lnTo>
                <a:lnTo>
                  <a:pt x="9842" y="381417"/>
                </a:lnTo>
                <a:lnTo>
                  <a:pt x="6381" y="376238"/>
                </a:lnTo>
                <a:lnTo>
                  <a:pt x="3625" y="370650"/>
                </a:lnTo>
                <a:lnTo>
                  <a:pt x="1623" y="364751"/>
                </a:lnTo>
                <a:lnTo>
                  <a:pt x="407" y="358641"/>
                </a:lnTo>
                <a:lnTo>
                  <a:pt x="0" y="352425"/>
                </a:lnTo>
                <a:lnTo>
                  <a:pt x="0" y="47625"/>
                </a:lnTo>
                <a:lnTo>
                  <a:pt x="407" y="41409"/>
                </a:lnTo>
                <a:lnTo>
                  <a:pt x="1623" y="35299"/>
                </a:lnTo>
                <a:lnTo>
                  <a:pt x="3625" y="29400"/>
                </a:lnTo>
                <a:lnTo>
                  <a:pt x="6381" y="23813"/>
                </a:lnTo>
                <a:lnTo>
                  <a:pt x="9842" y="18633"/>
                </a:lnTo>
                <a:lnTo>
                  <a:pt x="13949" y="13949"/>
                </a:lnTo>
                <a:lnTo>
                  <a:pt x="18633" y="9842"/>
                </a:lnTo>
                <a:lnTo>
                  <a:pt x="23813" y="6381"/>
                </a:lnTo>
                <a:lnTo>
                  <a:pt x="29400" y="3625"/>
                </a:lnTo>
                <a:lnTo>
                  <a:pt x="35299" y="1623"/>
                </a:lnTo>
                <a:lnTo>
                  <a:pt x="41409" y="407"/>
                </a:lnTo>
                <a:lnTo>
                  <a:pt x="4762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75" name="candidate-blend-label">
            <a:extLst xmlns:a="http://schemas.openxmlformats.org/drawingml/2006/main">
              <a:ext uri="{FF2B5EF4-FFF2-40B4-BE49-F238E27FC236}">
                <a16:creationId xmlns:a16="http://schemas.microsoft.com/office/drawing/2014/main" id="{71DB72BA-4028-4547-BC10-63D2D0B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495925"/>
            <a:ext cx="600075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mix</a:t>
            </a:r>
          </a:p>
        </p:txBody>
      </p:sp>
      <p:sp>
        <p:nvSpPr>
          <p:cNvPr id="176" name="nonlinear-to-mix">
            <a:extLst xmlns:a="http://schemas.openxmlformats.org/drawingml/2006/main">
              <a:ext uri="{FF2B5EF4-FFF2-40B4-BE49-F238E27FC236}">
                <a16:creationId xmlns:a16="http://schemas.microsoft.com/office/drawing/2014/main" id="{EDC95954-F835-4379-ABB4-206A679F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5153025"/>
            <a:ext cx="361950" cy="276225"/>
          </a:xfrm>
          <a:custGeom xmlns:a="http://schemas.openxmlformats.org/drawingml/2006/main">
            <a:pathLst>
              <a:path w="361950" h="276225">
                <a:moveTo>
                  <a:pt x="0" y="0"/>
                </a:moveTo>
                <a:lnTo>
                  <a:pt x="361950" y="0"/>
                </a:lnTo>
                <a:lnTo>
                  <a:pt x="3619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27D51"/>
            </a:solidFill>
            <a:prstDash val="solid"/>
          </a:ln>
        </p:spPr>
      </p:sp>
      <p:sp>
        <p:nvSpPr>
          <p:cNvPr id="177" name="nonlinear-to-mix--arrow">
            <a:extLst xmlns:a="http://schemas.openxmlformats.org/drawingml/2006/main">
              <a:ext uri="{FF2B5EF4-FFF2-40B4-BE49-F238E27FC236}">
                <a16:creationId xmlns:a16="http://schemas.microsoft.com/office/drawing/2014/main" id="{67701BE2-016C-4D23-9F16-E5FBF75D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5557" y="5313045"/>
            <a:ext cx="99936" cy="116205"/>
          </a:xfrm>
          <a:custGeom xmlns:a="http://schemas.openxmlformats.org/drawingml/2006/main">
            <a:pathLst>
              <a:path w="99936" h="116205">
                <a:moveTo>
                  <a:pt x="49968" y="116205"/>
                </a:moveTo>
                <a:lnTo>
                  <a:pt x="999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beta-to-mix">
            <a:extLst xmlns:a="http://schemas.openxmlformats.org/drawingml/2006/main">
              <a:ext uri="{FF2B5EF4-FFF2-40B4-BE49-F238E27FC236}">
                <a16:creationId xmlns:a16="http://schemas.microsoft.com/office/drawing/2014/main" id="{8CE3608C-730A-4C46-95EA-A54BB1C6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5629275"/>
            <a:ext cx="819150" cy="190500"/>
          </a:xfrm>
          <a:custGeom xmlns:a="http://schemas.openxmlformats.org/drawingml/2006/main">
            <a:pathLst>
              <a:path w="819150" h="190500">
                <a:moveTo>
                  <a:pt x="0" y="190500"/>
                </a:moveTo>
                <a:lnTo>
                  <a:pt x="590550" y="190500"/>
                </a:lnTo>
                <a:lnTo>
                  <a:pt x="590550" y="0"/>
                </a:ln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27D51"/>
            </a:solidFill>
            <a:prstDash val="dash"/>
          </a:ln>
        </p:spPr>
      </p:sp>
      <p:sp>
        <p:nvSpPr>
          <p:cNvPr id="179" name="beta-to-mix--arrow">
            <a:extLst xmlns:a="http://schemas.openxmlformats.org/drawingml/2006/main">
              <a:ext uri="{FF2B5EF4-FFF2-40B4-BE49-F238E27FC236}">
                <a16:creationId xmlns:a16="http://schemas.microsoft.com/office/drawing/2014/main" id="{1115D48C-9C08-450E-8AA3-A1252C54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9280" y="5580945"/>
            <a:ext cx="112395" cy="96660"/>
          </a:xfrm>
          <a:custGeom xmlns:a="http://schemas.openxmlformats.org/drawingml/2006/main">
            <a:pathLst>
              <a:path w="112395" h="96660">
                <a:moveTo>
                  <a:pt x="112395" y="48330"/>
                </a:moveTo>
                <a:lnTo>
                  <a:pt x="0" y="0"/>
                </a:lnTo>
                <a:lnTo>
                  <a:pt x="0" y="96660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candidate-carry-route">
            <a:extLst xmlns:a="http://schemas.openxmlformats.org/drawingml/2006/main">
              <a:ext uri="{FF2B5EF4-FFF2-40B4-BE49-F238E27FC236}">
                <a16:creationId xmlns:a16="http://schemas.microsoft.com/office/drawing/2014/main" id="{67ED9ED9-16A1-498B-B992-7564A156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5572125"/>
            <a:ext cx="2924175" cy="657225"/>
          </a:xfrm>
          <a:custGeom xmlns:a="http://schemas.openxmlformats.org/drawingml/2006/main">
            <a:pathLst>
              <a:path w="2924175" h="657225">
                <a:moveTo>
                  <a:pt x="0" y="0"/>
                </a:moveTo>
                <a:lnTo>
                  <a:pt x="0" y="657225"/>
                </a:lnTo>
                <a:lnTo>
                  <a:pt x="2924175" y="657225"/>
                </a:lnTo>
                <a:lnTo>
                  <a:pt x="292417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627D51"/>
            </a:solidFill>
            <a:prstDash val="solid"/>
          </a:ln>
        </p:spPr>
      </p:sp>
      <p:sp>
        <p:nvSpPr>
          <p:cNvPr id="181" name="candidate-carry-route--arrow">
            <a:extLst xmlns:a="http://schemas.openxmlformats.org/drawingml/2006/main">
              <a:ext uri="{FF2B5EF4-FFF2-40B4-BE49-F238E27FC236}">
                <a16:creationId xmlns:a16="http://schemas.microsoft.com/office/drawing/2014/main" id="{F152CCDB-F39D-4139-942E-12EF534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195" y="5829300"/>
            <a:ext cx="96660" cy="112395"/>
          </a:xfrm>
          <a:custGeom xmlns:a="http://schemas.openxmlformats.org/drawingml/2006/main">
            <a:pathLst>
              <a:path w="96660" h="112395">
                <a:moveTo>
                  <a:pt x="48330" y="0"/>
                </a:moveTo>
                <a:lnTo>
                  <a:pt x="0" y="112395"/>
                </a:lnTo>
                <a:lnTo>
                  <a:pt x="96660" y="112395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candidate-carry-label">
            <a:extLst xmlns:a="http://schemas.openxmlformats.org/drawingml/2006/main">
              <a:ext uri="{FF2B5EF4-FFF2-40B4-BE49-F238E27FC236}">
                <a16:creationId xmlns:a16="http://schemas.microsoft.com/office/drawing/2014/main" id="{E65D299D-66AD-4B10-AF63-60DC5A93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53125"/>
            <a:ext cx="10477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27D51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 i="0">
                <a:solidFill>
                  <a:srgbClr val="627D51"/>
                </a:solidFill>
                <a:latin typeface="Comic Sans MS"/>
                <a:ea typeface="Comic Sans MS"/>
                <a:cs typeface="Comic Sans MS"/>
              </a:rPr>
              <a:t>carry</a:t>
            </a:r>
          </a:p>
        </p:txBody>
      </p:sp>
      <p:sp>
        <p:nvSpPr>
          <p:cNvPr id="183" name="candidate-output">
            <a:extLst xmlns:a="http://schemas.openxmlformats.org/drawingml/2006/main">
              <a:ext uri="{FF2B5EF4-FFF2-40B4-BE49-F238E27FC236}">
                <a16:creationId xmlns:a16="http://schemas.microsoft.com/office/drawing/2014/main" id="{EDC81341-1DC2-4CB8-B294-23A852F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629275"/>
            <a:ext cx="695325" cy="1819275"/>
          </a:xfrm>
          <a:custGeom xmlns:a="http://schemas.openxmlformats.org/drawingml/2006/main">
            <a:pathLst>
              <a:path w="695325" h="1819275">
                <a:moveTo>
                  <a:pt x="361950" y="0"/>
                </a:moveTo>
                <a:lnTo>
                  <a:pt x="695325" y="0"/>
                </a:lnTo>
                <a:lnTo>
                  <a:pt x="695325" y="1819275"/>
                </a:lnTo>
                <a:lnTo>
                  <a:pt x="0" y="18192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27D51"/>
            </a:solidFill>
            <a:prstDash val="solid"/>
          </a:ln>
        </p:spPr>
      </p:sp>
      <p:sp>
        <p:nvSpPr>
          <p:cNvPr id="184" name="candidate-output--arrow">
            <a:extLst xmlns:a="http://schemas.openxmlformats.org/drawingml/2006/main">
              <a:ext uri="{FF2B5EF4-FFF2-40B4-BE49-F238E27FC236}">
                <a16:creationId xmlns:a16="http://schemas.microsoft.com/office/drawing/2014/main" id="{B09D6083-35E4-4454-93E5-95023531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398582"/>
            <a:ext cx="116205" cy="99936"/>
          </a:xfrm>
          <a:custGeom xmlns:a="http://schemas.openxmlformats.org/drawingml/2006/main">
            <a:pathLst>
              <a:path w="116205" h="99936">
                <a:moveTo>
                  <a:pt x="0" y="49968"/>
                </a:moveTo>
                <a:lnTo>
                  <a:pt x="116205" y="99936"/>
                </a:lnTo>
                <a:lnTo>
                  <a:pt x="116205" y="0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candidate-z-label">
            <a:extLst xmlns:a="http://schemas.openxmlformats.org/drawingml/2006/main">
              <a:ext uri="{FF2B5EF4-FFF2-40B4-BE49-F238E27FC236}">
                <a16:creationId xmlns:a16="http://schemas.microsoft.com/office/drawing/2014/main" id="{A3FAEC8F-4BDF-453A-8CD2-A324C460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6505575"/>
            <a:ext cx="457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627D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 i="0">
                <a:solidFill>
                  <a:srgbClr val="627D51"/>
                </a:solidFill>
                <a:latin typeface="Times New Roman"/>
                <a:ea typeface="Times New Roman"/>
                <a:cs typeface="Times New Roman"/>
              </a:rPr>
              <a:t>ẑₜ</a:t>
            </a:r>
          </a:p>
        </p:txBody>
      </p:sp>
      <p:sp>
        <p:nvSpPr>
          <p:cNvPr id="186" name="external-gate-factors">
            <a:extLst xmlns:a="http://schemas.openxmlformats.org/drawingml/2006/main">
              <a:ext uri="{FF2B5EF4-FFF2-40B4-BE49-F238E27FC236}">
                <a16:creationId xmlns:a16="http://schemas.microsoft.com/office/drawing/2014/main" id="{43A1EA41-1B72-4396-B41B-4324F4E84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543675"/>
            <a:ext cx="4019550" cy="321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(πU + πR) · max real p · (1 − p∅)</a:t>
            </a:r>
          </a:p>
        </p:txBody>
      </p:sp>
      <p:sp>
        <p:nvSpPr>
          <p:cNvPr id="187" name="external-write-gate">
            <a:extLst xmlns:a="http://schemas.openxmlformats.org/drawingml/2006/main">
              <a:ext uri="{FF2B5EF4-FFF2-40B4-BE49-F238E27FC236}">
                <a16:creationId xmlns:a16="http://schemas.microsoft.com/office/drawing/2014/main" id="{1DEBAD80-C26E-4879-9924-5A358DF0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896100"/>
            <a:ext cx="771525" cy="447675"/>
          </a:xfrm>
          <a:custGeom xmlns:a="http://schemas.openxmlformats.org/drawingml/2006/main">
            <a:pathLst>
              <a:path w="771525" h="447675">
                <a:moveTo>
                  <a:pt x="714375" y="0"/>
                </a:moveTo>
                <a:lnTo>
                  <a:pt x="721835" y="489"/>
                </a:lnTo>
                <a:lnTo>
                  <a:pt x="729167" y="1947"/>
                </a:lnTo>
                <a:lnTo>
                  <a:pt x="736245" y="4350"/>
                </a:lnTo>
                <a:lnTo>
                  <a:pt x="742950" y="7657"/>
                </a:lnTo>
                <a:lnTo>
                  <a:pt x="749166" y="11810"/>
                </a:lnTo>
                <a:lnTo>
                  <a:pt x="754786" y="16739"/>
                </a:lnTo>
                <a:lnTo>
                  <a:pt x="759715" y="22359"/>
                </a:lnTo>
                <a:lnTo>
                  <a:pt x="763868" y="28575"/>
                </a:lnTo>
                <a:lnTo>
                  <a:pt x="767175" y="35280"/>
                </a:lnTo>
                <a:lnTo>
                  <a:pt x="769578" y="42358"/>
                </a:lnTo>
                <a:lnTo>
                  <a:pt x="771036" y="49690"/>
                </a:lnTo>
                <a:lnTo>
                  <a:pt x="771525" y="57150"/>
                </a:lnTo>
                <a:lnTo>
                  <a:pt x="771525" y="390525"/>
                </a:lnTo>
                <a:lnTo>
                  <a:pt x="771036" y="397985"/>
                </a:lnTo>
                <a:lnTo>
                  <a:pt x="769578" y="405317"/>
                </a:lnTo>
                <a:lnTo>
                  <a:pt x="767175" y="412395"/>
                </a:lnTo>
                <a:lnTo>
                  <a:pt x="763868" y="419100"/>
                </a:lnTo>
                <a:lnTo>
                  <a:pt x="759715" y="425316"/>
                </a:lnTo>
                <a:lnTo>
                  <a:pt x="754786" y="430936"/>
                </a:lnTo>
                <a:lnTo>
                  <a:pt x="749166" y="435865"/>
                </a:lnTo>
                <a:lnTo>
                  <a:pt x="742950" y="440018"/>
                </a:lnTo>
                <a:lnTo>
                  <a:pt x="736245" y="443325"/>
                </a:lnTo>
                <a:lnTo>
                  <a:pt x="729167" y="445728"/>
                </a:lnTo>
                <a:lnTo>
                  <a:pt x="721835" y="447186"/>
                </a:lnTo>
                <a:lnTo>
                  <a:pt x="714375" y="447675"/>
                </a:lnTo>
                <a:lnTo>
                  <a:pt x="57150" y="447675"/>
                </a:lnTo>
                <a:lnTo>
                  <a:pt x="49690" y="447186"/>
                </a:lnTo>
                <a:lnTo>
                  <a:pt x="42358" y="445728"/>
                </a:lnTo>
                <a:lnTo>
                  <a:pt x="35280" y="443325"/>
                </a:lnTo>
                <a:lnTo>
                  <a:pt x="28575" y="440018"/>
                </a:lnTo>
                <a:lnTo>
                  <a:pt x="22359" y="435865"/>
                </a:lnTo>
                <a:lnTo>
                  <a:pt x="16739" y="430936"/>
                </a:lnTo>
                <a:lnTo>
                  <a:pt x="11810" y="425316"/>
                </a:lnTo>
                <a:lnTo>
                  <a:pt x="7657" y="419100"/>
                </a:lnTo>
                <a:lnTo>
                  <a:pt x="4350" y="412395"/>
                </a:lnTo>
                <a:lnTo>
                  <a:pt x="1947" y="405317"/>
                </a:lnTo>
                <a:lnTo>
                  <a:pt x="489" y="397985"/>
                </a:lnTo>
                <a:lnTo>
                  <a:pt x="0" y="390525"/>
                </a:lnTo>
                <a:lnTo>
                  <a:pt x="0" y="57150"/>
                </a:lnTo>
                <a:lnTo>
                  <a:pt x="489" y="49690"/>
                </a:lnTo>
                <a:lnTo>
                  <a:pt x="1947" y="42358"/>
                </a:lnTo>
                <a:lnTo>
                  <a:pt x="4350" y="35280"/>
                </a:lnTo>
                <a:lnTo>
                  <a:pt x="7657" y="28575"/>
                </a:lnTo>
                <a:lnTo>
                  <a:pt x="11810" y="22359"/>
                </a:lnTo>
                <a:lnTo>
                  <a:pt x="16739" y="16739"/>
                </a:lnTo>
                <a:lnTo>
                  <a:pt x="22359" y="11810"/>
                </a:lnTo>
                <a:lnTo>
                  <a:pt x="28575" y="7657"/>
                </a:lnTo>
                <a:lnTo>
                  <a:pt x="35280" y="4350"/>
                </a:lnTo>
                <a:lnTo>
                  <a:pt x="42358" y="1947"/>
                </a:lnTo>
                <a:lnTo>
                  <a:pt x="49690" y="489"/>
                </a:lnTo>
                <a:lnTo>
                  <a:pt x="57150" y="0"/>
                </a:lnTo>
                <a:close/>
              </a:path>
            </a:pathLst>
          </a:cu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188" name="external-write-gate-label">
            <a:extLst xmlns:a="http://schemas.openxmlformats.org/drawingml/2006/main">
              <a:ext uri="{FF2B5EF4-FFF2-40B4-BE49-F238E27FC236}">
                <a16:creationId xmlns:a16="http://schemas.microsoft.com/office/drawing/2014/main" id="{14ED828B-92B7-45C1-8728-E2698AB2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2475" y="6924675"/>
            <a:ext cx="5429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189" name="gate-input-line">
            <a:extLst xmlns:a="http://schemas.openxmlformats.org/drawingml/2006/main">
              <a:ext uri="{FF2B5EF4-FFF2-40B4-BE49-F238E27FC236}">
                <a16:creationId xmlns:a16="http://schemas.microsoft.com/office/drawing/2014/main" id="{BAC5EFCF-F582-4BF0-B9DC-C6FEB3C3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858000"/>
            <a:ext cx="95" cy="38100"/>
          </a:xfrm>
          <a:custGeom xmlns:a="http://schemas.openxmlformats.org/drawingml/2006/main"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AC893B"/>
            </a:solidFill>
            <a:prstDash val="solid"/>
          </a:ln>
        </p:spPr>
      </p:sp>
      <p:sp>
        <p:nvSpPr>
          <p:cNvPr id="190" name="gate-input-line--arrow">
            <a:extLst xmlns:a="http://schemas.openxmlformats.org/drawingml/2006/main">
              <a:ext uri="{FF2B5EF4-FFF2-40B4-BE49-F238E27FC236}">
                <a16:creationId xmlns:a16="http://schemas.microsoft.com/office/drawing/2014/main" id="{D1B3A8E4-61E7-470E-AC12-B84E2E96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739" y="6785610"/>
            <a:ext cx="95021" cy="110490"/>
          </a:xfrm>
          <a:custGeom xmlns:a="http://schemas.openxmlformats.org/drawingml/2006/main">
            <a:pathLst>
              <a:path w="95021" h="110490">
                <a:moveTo>
                  <a:pt x="47511" y="110490"/>
                </a:moveTo>
                <a:lnTo>
                  <a:pt x="9502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8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old-state-label">
            <a:extLst xmlns:a="http://schemas.openxmlformats.org/drawingml/2006/main">
              <a:ext uri="{FF2B5EF4-FFF2-40B4-BE49-F238E27FC236}">
                <a16:creationId xmlns:a16="http://schemas.microsoft.com/office/drawing/2014/main" id="{321010D8-F317-4F7D-BB09-F1AE8F4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581900"/>
            <a:ext cx="10477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zₜ₋₁</a:t>
            </a:r>
          </a:p>
        </p:txBody>
      </p:sp>
      <p:sp>
        <p:nvSpPr>
          <p:cNvPr id="192" name="write-scale-old">
            <a:extLst xmlns:a="http://schemas.openxmlformats.org/drawingml/2006/main">
              <a:ext uri="{FF2B5EF4-FFF2-40B4-BE49-F238E27FC236}">
                <a16:creationId xmlns:a16="http://schemas.microsoft.com/office/drawing/2014/main" id="{4B02685E-D1C8-4C9F-894A-7EF8100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756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313A"/>
            </a:solidFill>
            <a:prstDash val="solid"/>
          </a:ln>
        </p:spPr>
      </p:sp>
      <p:sp>
        <p:nvSpPr>
          <p:cNvPr id="193" name="write-scale-old-symbol">
            <a:extLst xmlns:a="http://schemas.openxmlformats.org/drawingml/2006/main">
              <a:ext uri="{FF2B5EF4-FFF2-40B4-BE49-F238E27FC236}">
                <a16:creationId xmlns:a16="http://schemas.microsoft.com/office/drawing/2014/main" id="{77A9AD10-7BA5-4C1D-A04A-2ABD3065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7515225"/>
            <a:ext cx="30480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94" name="write-scale-candidate">
            <a:extLst xmlns:a="http://schemas.openxmlformats.org/drawingml/2006/main">
              <a:ext uri="{FF2B5EF4-FFF2-40B4-BE49-F238E27FC236}">
                <a16:creationId xmlns:a16="http://schemas.microsoft.com/office/drawing/2014/main" id="{906D9F4A-4C70-4A39-A976-C204B593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267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313A"/>
            </a:solidFill>
            <a:prstDash val="solid"/>
          </a:ln>
        </p:spPr>
      </p:sp>
      <p:sp>
        <p:nvSpPr>
          <p:cNvPr id="195" name="write-scale-candidate-symbol">
            <a:extLst xmlns:a="http://schemas.openxmlformats.org/drawingml/2006/main">
              <a:ext uri="{FF2B5EF4-FFF2-40B4-BE49-F238E27FC236}">
                <a16:creationId xmlns:a16="http://schemas.microsoft.com/office/drawing/2014/main" id="{B7507601-644D-4B65-9185-A6BA0318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7219950"/>
            <a:ext cx="30480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×</a:t>
            </a:r>
          </a:p>
        </p:txBody>
      </p:sp>
      <p:sp>
        <p:nvSpPr>
          <p:cNvPr id="196" name="write-sum">
            <a:extLst xmlns:a="http://schemas.openxmlformats.org/drawingml/2006/main">
              <a:ext uri="{FF2B5EF4-FFF2-40B4-BE49-F238E27FC236}">
                <a16:creationId xmlns:a16="http://schemas.microsoft.com/office/drawing/2014/main" id="{B827F4FD-A481-4534-8626-2987B1BC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562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313A"/>
            </a:solidFill>
            <a:prstDash val="solid"/>
          </a:ln>
        </p:spPr>
      </p:sp>
      <p:sp>
        <p:nvSpPr>
          <p:cNvPr id="197" name="write-sum-symbol">
            <a:extLst xmlns:a="http://schemas.openxmlformats.org/drawingml/2006/main">
              <a:ext uri="{FF2B5EF4-FFF2-40B4-BE49-F238E27FC236}">
                <a16:creationId xmlns:a16="http://schemas.microsoft.com/office/drawing/2014/main" id="{859328E0-BFCC-47F2-ADB1-380228E5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7515225"/>
            <a:ext cx="304800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8" name="old-state-to-scale">
            <a:extLst xmlns:a="http://schemas.openxmlformats.org/drawingml/2006/main">
              <a:ext uri="{FF2B5EF4-FFF2-40B4-BE49-F238E27FC236}">
                <a16:creationId xmlns:a16="http://schemas.microsoft.com/office/drawing/2014/main" id="{FDA091D4-CB67-4C89-8883-4B90CF3D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743825"/>
            <a:ext cx="390525" cy="95"/>
          </a:xfrm>
          <a:custGeom xmlns:a="http://schemas.openxmlformats.org/drawingml/2006/main">
            <a:pathLst>
              <a:path w="390525" h="9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199" name="old-state-to-scale--arrow">
            <a:extLst xmlns:a="http://schemas.openxmlformats.org/drawingml/2006/main">
              <a:ext uri="{FF2B5EF4-FFF2-40B4-BE49-F238E27FC236}">
                <a16:creationId xmlns:a16="http://schemas.microsoft.com/office/drawing/2014/main" id="{E18DF123-B646-4654-800F-9CC2FB14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2320" y="769385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old-scale-to-sum">
            <a:extLst xmlns:a="http://schemas.openxmlformats.org/drawingml/2006/main">
              <a:ext uri="{FF2B5EF4-FFF2-40B4-BE49-F238E27FC236}">
                <a16:creationId xmlns:a16="http://schemas.microsoft.com/office/drawing/2014/main" id="{174E7436-CD53-4F9E-87F3-C0E78378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7743825"/>
            <a:ext cx="866775" cy="95"/>
          </a:xfrm>
          <a:custGeom xmlns:a="http://schemas.openxmlformats.org/drawingml/2006/main">
            <a:pathLst>
              <a:path w="866775" h="95">
                <a:moveTo>
                  <a:pt x="0" y="0"/>
                </a:moveTo>
                <a:lnTo>
                  <a:pt x="866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201" name="old-scale-to-sum--arrow">
            <a:extLst xmlns:a="http://schemas.openxmlformats.org/drawingml/2006/main">
              <a:ext uri="{FF2B5EF4-FFF2-40B4-BE49-F238E27FC236}">
                <a16:creationId xmlns:a16="http://schemas.microsoft.com/office/drawing/2014/main" id="{E7C72AF5-DD0C-4B02-8E59-E21A90A6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045" y="7693857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gate-to-candidate-scale">
            <a:extLst xmlns:a="http://schemas.openxmlformats.org/drawingml/2006/main">
              <a:ext uri="{FF2B5EF4-FFF2-40B4-BE49-F238E27FC236}">
                <a16:creationId xmlns:a16="http://schemas.microsoft.com/office/drawing/2014/main" id="{AC32BC27-5A99-4B5F-93DD-1839925A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7115175"/>
            <a:ext cx="838200" cy="152400"/>
          </a:xfrm>
          <a:custGeom xmlns:a="http://schemas.openxmlformats.org/drawingml/2006/main">
            <a:pathLst>
              <a:path w="838200" h="152400">
                <a:moveTo>
                  <a:pt x="0" y="0"/>
                </a:moveTo>
                <a:lnTo>
                  <a:pt x="838200" y="0"/>
                </a:lnTo>
                <a:lnTo>
                  <a:pt x="8382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C893B"/>
            </a:solidFill>
            <a:prstDash val="dash"/>
          </a:ln>
        </p:spPr>
      </p:sp>
      <p:sp>
        <p:nvSpPr>
          <p:cNvPr id="203" name="gate-to-candidate-scale--arrow">
            <a:extLst xmlns:a="http://schemas.openxmlformats.org/drawingml/2006/main">
              <a:ext uri="{FF2B5EF4-FFF2-40B4-BE49-F238E27FC236}">
                <a16:creationId xmlns:a16="http://schemas.microsoft.com/office/drawing/2014/main" id="{6341F9AA-9B1F-4C63-A1DD-76684059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7645" y="7155180"/>
            <a:ext cx="96660" cy="112395"/>
          </a:xfrm>
          <a:custGeom xmlns:a="http://schemas.openxmlformats.org/drawingml/2006/main">
            <a:pathLst>
              <a:path w="96660" h="112395">
                <a:moveTo>
                  <a:pt x="48330" y="112395"/>
                </a:moveTo>
                <a:lnTo>
                  <a:pt x="966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8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candidate-scale-g-label">
            <a:extLst xmlns:a="http://schemas.openxmlformats.org/drawingml/2006/main">
              <a:ext uri="{FF2B5EF4-FFF2-40B4-BE49-F238E27FC236}">
                <a16:creationId xmlns:a16="http://schemas.microsoft.com/office/drawing/2014/main" id="{D6F2AE87-5856-4CB3-9CBC-D327A47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905625"/>
            <a:ext cx="5143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AC89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0" i="0">
                <a:solidFill>
                  <a:srgbClr val="AC893B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05" name="gate-to-old-scale">
            <a:extLst xmlns:a="http://schemas.openxmlformats.org/drawingml/2006/main">
              <a:ext uri="{FF2B5EF4-FFF2-40B4-BE49-F238E27FC236}">
                <a16:creationId xmlns:a16="http://schemas.microsoft.com/office/drawing/2014/main" id="{1C395975-5505-4592-B18C-A348277F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115175"/>
            <a:ext cx="666750" cy="447675"/>
          </a:xfrm>
          <a:custGeom xmlns:a="http://schemas.openxmlformats.org/drawingml/2006/main">
            <a:pathLst>
              <a:path w="666750" h="447675">
                <a:moveTo>
                  <a:pt x="666750" y="0"/>
                </a:moveTo>
                <a:lnTo>
                  <a:pt x="0" y="0"/>
                </a:ln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AC893B"/>
            </a:solidFill>
            <a:prstDash val="dash"/>
          </a:ln>
        </p:spPr>
      </p:sp>
      <p:sp>
        <p:nvSpPr>
          <p:cNvPr id="206" name="gate-to-old-scale--arrow">
            <a:extLst xmlns:a="http://schemas.openxmlformats.org/drawingml/2006/main">
              <a:ext uri="{FF2B5EF4-FFF2-40B4-BE49-F238E27FC236}">
                <a16:creationId xmlns:a16="http://schemas.microsoft.com/office/drawing/2014/main" id="{811E4E59-42B9-4D65-B385-0F7E4132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170" y="7450455"/>
            <a:ext cx="96660" cy="112395"/>
          </a:xfrm>
          <a:custGeom xmlns:a="http://schemas.openxmlformats.org/drawingml/2006/main">
            <a:pathLst>
              <a:path w="96660" h="112395">
                <a:moveTo>
                  <a:pt x="48330" y="112395"/>
                </a:moveTo>
                <a:lnTo>
                  <a:pt x="9666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C8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old-scale-g-label">
            <a:extLst xmlns:a="http://schemas.openxmlformats.org/drawingml/2006/main">
              <a:ext uri="{FF2B5EF4-FFF2-40B4-BE49-F238E27FC236}">
                <a16:creationId xmlns:a16="http://schemas.microsoft.com/office/drawing/2014/main" id="{CB502389-96D2-4351-A95B-43494A2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172325"/>
            <a:ext cx="8382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AC89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AC893B"/>
                </a:solidFill>
                <a:latin typeface="Times New Roman"/>
                <a:ea typeface="Times New Roman"/>
                <a:cs typeface="Times New Roman"/>
              </a:rPr>
              <a:t>1 − g</a:t>
            </a:r>
          </a:p>
        </p:txBody>
      </p:sp>
      <p:sp>
        <p:nvSpPr>
          <p:cNvPr id="208" name="candidate-scale-to-sum">
            <a:extLst xmlns:a="http://schemas.openxmlformats.org/drawingml/2006/main">
              <a:ext uri="{FF2B5EF4-FFF2-40B4-BE49-F238E27FC236}">
                <a16:creationId xmlns:a16="http://schemas.microsoft.com/office/drawing/2014/main" id="{14E1918B-3A82-4E68-BF3B-83B636A9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629525"/>
            <a:ext cx="866775" cy="114300"/>
          </a:xfrm>
          <a:custGeom xmlns:a="http://schemas.openxmlformats.org/drawingml/2006/main">
            <a:pathLst>
              <a:path w="866775" h="114300">
                <a:moveTo>
                  <a:pt x="866775" y="0"/>
                </a:moveTo>
                <a:lnTo>
                  <a:pt x="866775" y="114300"/>
                </a:ln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27D51"/>
            </a:solidFill>
            <a:prstDash val="solid"/>
          </a:ln>
        </p:spPr>
      </p:sp>
      <p:sp>
        <p:nvSpPr>
          <p:cNvPr id="209" name="candidate-scale-to-sum--arrow">
            <a:extLst xmlns:a="http://schemas.openxmlformats.org/drawingml/2006/main">
              <a:ext uri="{FF2B5EF4-FFF2-40B4-BE49-F238E27FC236}">
                <a16:creationId xmlns:a16="http://schemas.microsoft.com/office/drawing/2014/main" id="{F4FFD1C0-824A-48FF-AC0B-0A62ECEA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7693857"/>
            <a:ext cx="116205" cy="99936"/>
          </a:xfrm>
          <a:custGeom xmlns:a="http://schemas.openxmlformats.org/drawingml/2006/main">
            <a:pathLst>
              <a:path w="116205" h="99936">
                <a:moveTo>
                  <a:pt x="0" y="49968"/>
                </a:moveTo>
                <a:lnTo>
                  <a:pt x="116205" y="99936"/>
                </a:lnTo>
                <a:lnTo>
                  <a:pt x="116205" y="0"/>
                </a:lnTo>
                <a:close/>
              </a:path>
            </a:pathLst>
          </a:custGeom>
          <a:solidFill xmlns:a="http://schemas.openxmlformats.org/drawingml/2006/main">
            <a:srgbClr val="627D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sum-to-state">
            <a:extLst xmlns:a="http://schemas.openxmlformats.org/drawingml/2006/main">
              <a:ext uri="{FF2B5EF4-FFF2-40B4-BE49-F238E27FC236}">
                <a16:creationId xmlns:a16="http://schemas.microsoft.com/office/drawing/2014/main" id="{E10BC3DD-0814-4529-B858-1D8128F2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7924800"/>
            <a:ext cx="1781175" cy="171450"/>
          </a:xfrm>
          <a:custGeom xmlns:a="http://schemas.openxmlformats.org/drawingml/2006/main">
            <a:pathLst>
              <a:path w="1781175" h="171450">
                <a:moveTo>
                  <a:pt x="0" y="0"/>
                </a:moveTo>
                <a:lnTo>
                  <a:pt x="0" y="171450"/>
                </a:lnTo>
                <a:lnTo>
                  <a:pt x="17811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25313A"/>
            </a:solidFill>
            <a:prstDash val="solid"/>
          </a:ln>
        </p:spPr>
      </p:sp>
      <p:sp>
        <p:nvSpPr>
          <p:cNvPr id="211" name="sum-to-state--arrow">
            <a:extLst xmlns:a="http://schemas.openxmlformats.org/drawingml/2006/main">
              <a:ext uri="{FF2B5EF4-FFF2-40B4-BE49-F238E27FC236}">
                <a16:creationId xmlns:a16="http://schemas.microsoft.com/office/drawing/2014/main" id="{9E08D425-EF55-4ADE-AA8A-3C6FE007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3195" y="8046282"/>
            <a:ext cx="116205" cy="99936"/>
          </a:xfrm>
          <a:custGeom xmlns:a="http://schemas.openxmlformats.org/drawingml/2006/main">
            <a:pathLst>
              <a:path w="116205" h="99936">
                <a:moveTo>
                  <a:pt x="116205" y="49968"/>
                </a:moveTo>
                <a:lnTo>
                  <a:pt x="0" y="0"/>
                </a:lnTo>
                <a:lnTo>
                  <a:pt x="0" y="99936"/>
                </a:lnTo>
                <a:close/>
              </a:path>
            </a:pathLst>
          </a:custGeom>
          <a:solidFill xmlns:a="http://schemas.openxmlformats.org/drawingml/2006/main">
            <a:srgbClr val="253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final-state-label">
            <a:extLst xmlns:a="http://schemas.openxmlformats.org/drawingml/2006/main">
              <a:ext uri="{FF2B5EF4-FFF2-40B4-BE49-F238E27FC236}">
                <a16:creationId xmlns:a16="http://schemas.microsoft.com/office/drawing/2014/main" id="{2385782C-4616-4532-92E2-1F48476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7886700"/>
            <a:ext cx="581025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zₜ</a:t>
            </a:r>
          </a:p>
        </p:txBody>
      </p:sp>
      <p:sp>
        <p:nvSpPr>
          <p:cNvPr id="213" name="write-once-label">
            <a:extLst xmlns:a="http://schemas.openxmlformats.org/drawingml/2006/main">
              <a:ext uri="{FF2B5EF4-FFF2-40B4-BE49-F238E27FC236}">
                <a16:creationId xmlns:a16="http://schemas.microsoft.com/office/drawing/2014/main" id="{38D8909F-C312-407C-B64B-8A91D3FB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6475" y="7505700"/>
            <a:ext cx="1114425" cy="29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one write</a:t>
            </a:r>
          </a:p>
        </p:txBody>
      </p:sp>
      <p:sp>
        <p:nvSpPr>
          <p:cNvPr id="214" name="legend-action-K">
            <a:extLst xmlns:a="http://schemas.openxmlformats.org/drawingml/2006/main">
              <a:ext uri="{FF2B5EF4-FFF2-40B4-BE49-F238E27FC236}">
                <a16:creationId xmlns:a16="http://schemas.microsoft.com/office/drawing/2014/main" id="{8BC1487A-19E2-41D4-9C0F-40A730C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5058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285750" y="0"/>
                </a:moveTo>
                <a:lnTo>
                  <a:pt x="288237" y="163"/>
                </a:lnTo>
                <a:lnTo>
                  <a:pt x="290681" y="649"/>
                </a:lnTo>
                <a:lnTo>
                  <a:pt x="293040" y="1450"/>
                </a:lnTo>
                <a:lnTo>
                  <a:pt x="295275" y="2552"/>
                </a:lnTo>
                <a:lnTo>
                  <a:pt x="297347" y="3937"/>
                </a:lnTo>
                <a:lnTo>
                  <a:pt x="299220" y="5580"/>
                </a:lnTo>
                <a:lnTo>
                  <a:pt x="300863" y="7453"/>
                </a:lnTo>
                <a:lnTo>
                  <a:pt x="302248" y="9525"/>
                </a:lnTo>
                <a:lnTo>
                  <a:pt x="303350" y="11760"/>
                </a:lnTo>
                <a:lnTo>
                  <a:pt x="304151" y="14119"/>
                </a:lnTo>
                <a:lnTo>
                  <a:pt x="304637" y="16563"/>
                </a:lnTo>
                <a:lnTo>
                  <a:pt x="304800" y="19050"/>
                </a:lnTo>
                <a:lnTo>
                  <a:pt x="304800" y="285750"/>
                </a:lnTo>
                <a:lnTo>
                  <a:pt x="304637" y="288237"/>
                </a:lnTo>
                <a:lnTo>
                  <a:pt x="304151" y="290681"/>
                </a:lnTo>
                <a:lnTo>
                  <a:pt x="303350" y="293040"/>
                </a:lnTo>
                <a:lnTo>
                  <a:pt x="302248" y="295275"/>
                </a:lnTo>
                <a:lnTo>
                  <a:pt x="300863" y="297347"/>
                </a:lnTo>
                <a:lnTo>
                  <a:pt x="299220" y="299220"/>
                </a:lnTo>
                <a:lnTo>
                  <a:pt x="297347" y="300863"/>
                </a:lnTo>
                <a:lnTo>
                  <a:pt x="295275" y="302248"/>
                </a:lnTo>
                <a:lnTo>
                  <a:pt x="293040" y="303350"/>
                </a:lnTo>
                <a:lnTo>
                  <a:pt x="290681" y="304151"/>
                </a:lnTo>
                <a:lnTo>
                  <a:pt x="288237" y="304637"/>
                </a:lnTo>
                <a:lnTo>
                  <a:pt x="285750" y="304800"/>
                </a:lnTo>
                <a:lnTo>
                  <a:pt x="19050" y="304800"/>
                </a:lnTo>
                <a:lnTo>
                  <a:pt x="16563" y="304637"/>
                </a:lnTo>
                <a:lnTo>
                  <a:pt x="14119" y="304151"/>
                </a:lnTo>
                <a:lnTo>
                  <a:pt x="11760" y="303350"/>
                </a:lnTo>
                <a:lnTo>
                  <a:pt x="9525" y="302248"/>
                </a:lnTo>
                <a:lnTo>
                  <a:pt x="7453" y="300863"/>
                </a:lnTo>
                <a:lnTo>
                  <a:pt x="5580" y="299220"/>
                </a:lnTo>
                <a:lnTo>
                  <a:pt x="3937" y="297347"/>
                </a:lnTo>
                <a:lnTo>
                  <a:pt x="2552" y="295275"/>
                </a:lnTo>
                <a:lnTo>
                  <a:pt x="1450" y="293040"/>
                </a:lnTo>
                <a:lnTo>
                  <a:pt x="649" y="290681"/>
                </a:lnTo>
                <a:lnTo>
                  <a:pt x="163" y="288237"/>
                </a:lnTo>
                <a:lnTo>
                  <a:pt x="0" y="285750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215" name="legend-letter-K">
            <a:extLst xmlns:a="http://schemas.openxmlformats.org/drawingml/2006/main">
              <a:ext uri="{FF2B5EF4-FFF2-40B4-BE49-F238E27FC236}">
                <a16:creationId xmlns:a16="http://schemas.microsoft.com/office/drawing/2014/main" id="{90C6BA3E-CBBA-4A57-A51D-3A458D4B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486775"/>
            <a:ext cx="2857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216" name="legend-word-K">
            <a:extLst xmlns:a="http://schemas.openxmlformats.org/drawingml/2006/main">
              <a:ext uri="{FF2B5EF4-FFF2-40B4-BE49-F238E27FC236}">
                <a16:creationId xmlns:a16="http://schemas.microsoft.com/office/drawing/2014/main" id="{EA1CD85D-5B24-4A3C-B336-1870A2E3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67725"/>
            <a:ext cx="13906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17" name="legend-action-U">
            <a:extLst xmlns:a="http://schemas.openxmlformats.org/drawingml/2006/main">
              <a:ext uri="{FF2B5EF4-FFF2-40B4-BE49-F238E27FC236}">
                <a16:creationId xmlns:a16="http://schemas.microsoft.com/office/drawing/2014/main" id="{3C4449D0-DAFC-45DD-919B-DAC293E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85058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285750" y="0"/>
                </a:moveTo>
                <a:lnTo>
                  <a:pt x="288237" y="163"/>
                </a:lnTo>
                <a:lnTo>
                  <a:pt x="290681" y="649"/>
                </a:lnTo>
                <a:lnTo>
                  <a:pt x="293040" y="1450"/>
                </a:lnTo>
                <a:lnTo>
                  <a:pt x="295275" y="2552"/>
                </a:lnTo>
                <a:lnTo>
                  <a:pt x="297347" y="3937"/>
                </a:lnTo>
                <a:lnTo>
                  <a:pt x="299220" y="5580"/>
                </a:lnTo>
                <a:lnTo>
                  <a:pt x="300863" y="7453"/>
                </a:lnTo>
                <a:lnTo>
                  <a:pt x="302248" y="9525"/>
                </a:lnTo>
                <a:lnTo>
                  <a:pt x="303350" y="11760"/>
                </a:lnTo>
                <a:lnTo>
                  <a:pt x="304151" y="14119"/>
                </a:lnTo>
                <a:lnTo>
                  <a:pt x="304637" y="16563"/>
                </a:lnTo>
                <a:lnTo>
                  <a:pt x="304800" y="19050"/>
                </a:lnTo>
                <a:lnTo>
                  <a:pt x="304800" y="285750"/>
                </a:lnTo>
                <a:lnTo>
                  <a:pt x="304637" y="288237"/>
                </a:lnTo>
                <a:lnTo>
                  <a:pt x="304151" y="290681"/>
                </a:lnTo>
                <a:lnTo>
                  <a:pt x="303350" y="293040"/>
                </a:lnTo>
                <a:lnTo>
                  <a:pt x="302248" y="295275"/>
                </a:lnTo>
                <a:lnTo>
                  <a:pt x="300863" y="297347"/>
                </a:lnTo>
                <a:lnTo>
                  <a:pt x="299220" y="299220"/>
                </a:lnTo>
                <a:lnTo>
                  <a:pt x="297347" y="300863"/>
                </a:lnTo>
                <a:lnTo>
                  <a:pt x="295275" y="302248"/>
                </a:lnTo>
                <a:lnTo>
                  <a:pt x="293040" y="303350"/>
                </a:lnTo>
                <a:lnTo>
                  <a:pt x="290681" y="304151"/>
                </a:lnTo>
                <a:lnTo>
                  <a:pt x="288237" y="304637"/>
                </a:lnTo>
                <a:lnTo>
                  <a:pt x="285750" y="304800"/>
                </a:lnTo>
                <a:lnTo>
                  <a:pt x="19050" y="304800"/>
                </a:lnTo>
                <a:lnTo>
                  <a:pt x="16563" y="304637"/>
                </a:lnTo>
                <a:lnTo>
                  <a:pt x="14119" y="304151"/>
                </a:lnTo>
                <a:lnTo>
                  <a:pt x="11760" y="303350"/>
                </a:lnTo>
                <a:lnTo>
                  <a:pt x="9525" y="302248"/>
                </a:lnTo>
                <a:lnTo>
                  <a:pt x="7453" y="300863"/>
                </a:lnTo>
                <a:lnTo>
                  <a:pt x="5580" y="299220"/>
                </a:lnTo>
                <a:lnTo>
                  <a:pt x="3937" y="297347"/>
                </a:lnTo>
                <a:lnTo>
                  <a:pt x="2552" y="295275"/>
                </a:lnTo>
                <a:lnTo>
                  <a:pt x="1450" y="293040"/>
                </a:lnTo>
                <a:lnTo>
                  <a:pt x="649" y="290681"/>
                </a:lnTo>
                <a:lnTo>
                  <a:pt x="163" y="288237"/>
                </a:lnTo>
                <a:lnTo>
                  <a:pt x="0" y="285750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218" name="legend-letter-U">
            <a:extLst xmlns:a="http://schemas.openxmlformats.org/drawingml/2006/main">
              <a:ext uri="{FF2B5EF4-FFF2-40B4-BE49-F238E27FC236}">
                <a16:creationId xmlns:a16="http://schemas.microsoft.com/office/drawing/2014/main" id="{7622C7BC-2A1E-4522-8D8F-8D23FC07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486775"/>
            <a:ext cx="2857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U</a:t>
            </a:r>
          </a:p>
        </p:txBody>
      </p:sp>
      <p:sp>
        <p:nvSpPr>
          <p:cNvPr id="219" name="legend-word-U">
            <a:extLst xmlns:a="http://schemas.openxmlformats.org/drawingml/2006/main">
              <a:ext uri="{FF2B5EF4-FFF2-40B4-BE49-F238E27FC236}">
                <a16:creationId xmlns:a16="http://schemas.microsoft.com/office/drawing/2014/main" id="{9A098D1B-0D63-4970-ACB1-21AE4C50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8467725"/>
            <a:ext cx="13906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Update</a:t>
            </a:r>
          </a:p>
        </p:txBody>
      </p:sp>
      <p:sp>
        <p:nvSpPr>
          <p:cNvPr id="220" name="legend-action-R">
            <a:extLst xmlns:a="http://schemas.openxmlformats.org/drawingml/2006/main">
              <a:ext uri="{FF2B5EF4-FFF2-40B4-BE49-F238E27FC236}">
                <a16:creationId xmlns:a16="http://schemas.microsoft.com/office/drawing/2014/main" id="{9DBF3697-B088-4284-809A-8CCA861C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5058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285750" y="0"/>
                </a:moveTo>
                <a:lnTo>
                  <a:pt x="288237" y="163"/>
                </a:lnTo>
                <a:lnTo>
                  <a:pt x="290681" y="649"/>
                </a:lnTo>
                <a:lnTo>
                  <a:pt x="293040" y="1450"/>
                </a:lnTo>
                <a:lnTo>
                  <a:pt x="295275" y="2552"/>
                </a:lnTo>
                <a:lnTo>
                  <a:pt x="297347" y="3937"/>
                </a:lnTo>
                <a:lnTo>
                  <a:pt x="299220" y="5580"/>
                </a:lnTo>
                <a:lnTo>
                  <a:pt x="300863" y="7453"/>
                </a:lnTo>
                <a:lnTo>
                  <a:pt x="302248" y="9525"/>
                </a:lnTo>
                <a:lnTo>
                  <a:pt x="303350" y="11760"/>
                </a:lnTo>
                <a:lnTo>
                  <a:pt x="304151" y="14119"/>
                </a:lnTo>
                <a:lnTo>
                  <a:pt x="304637" y="16563"/>
                </a:lnTo>
                <a:lnTo>
                  <a:pt x="304800" y="19050"/>
                </a:lnTo>
                <a:lnTo>
                  <a:pt x="304800" y="285750"/>
                </a:lnTo>
                <a:lnTo>
                  <a:pt x="304637" y="288237"/>
                </a:lnTo>
                <a:lnTo>
                  <a:pt x="304151" y="290681"/>
                </a:lnTo>
                <a:lnTo>
                  <a:pt x="303350" y="293040"/>
                </a:lnTo>
                <a:lnTo>
                  <a:pt x="302248" y="295275"/>
                </a:lnTo>
                <a:lnTo>
                  <a:pt x="300863" y="297347"/>
                </a:lnTo>
                <a:lnTo>
                  <a:pt x="299220" y="299220"/>
                </a:lnTo>
                <a:lnTo>
                  <a:pt x="297347" y="300863"/>
                </a:lnTo>
                <a:lnTo>
                  <a:pt x="295275" y="302248"/>
                </a:lnTo>
                <a:lnTo>
                  <a:pt x="293040" y="303350"/>
                </a:lnTo>
                <a:lnTo>
                  <a:pt x="290681" y="304151"/>
                </a:lnTo>
                <a:lnTo>
                  <a:pt x="288237" y="304637"/>
                </a:lnTo>
                <a:lnTo>
                  <a:pt x="285750" y="304800"/>
                </a:lnTo>
                <a:lnTo>
                  <a:pt x="19050" y="304800"/>
                </a:lnTo>
                <a:lnTo>
                  <a:pt x="16563" y="304637"/>
                </a:lnTo>
                <a:lnTo>
                  <a:pt x="14119" y="304151"/>
                </a:lnTo>
                <a:lnTo>
                  <a:pt x="11760" y="303350"/>
                </a:lnTo>
                <a:lnTo>
                  <a:pt x="9525" y="302248"/>
                </a:lnTo>
                <a:lnTo>
                  <a:pt x="7453" y="300863"/>
                </a:lnTo>
                <a:lnTo>
                  <a:pt x="5580" y="299220"/>
                </a:lnTo>
                <a:lnTo>
                  <a:pt x="3937" y="297347"/>
                </a:lnTo>
                <a:lnTo>
                  <a:pt x="2552" y="295275"/>
                </a:lnTo>
                <a:lnTo>
                  <a:pt x="1450" y="293040"/>
                </a:lnTo>
                <a:lnTo>
                  <a:pt x="649" y="290681"/>
                </a:lnTo>
                <a:lnTo>
                  <a:pt x="163" y="288237"/>
                </a:lnTo>
                <a:lnTo>
                  <a:pt x="0" y="285750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221" name="legend-letter-R">
            <a:extLst xmlns:a="http://schemas.openxmlformats.org/drawingml/2006/main">
              <a:ext uri="{FF2B5EF4-FFF2-40B4-BE49-F238E27FC236}">
                <a16:creationId xmlns:a16="http://schemas.microsoft.com/office/drawing/2014/main" id="{B8A43F59-1E0E-4011-B1D8-53DF92D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8486775"/>
            <a:ext cx="2857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R</a:t>
            </a:r>
          </a:p>
        </p:txBody>
      </p:sp>
      <p:sp>
        <p:nvSpPr>
          <p:cNvPr id="222" name="legend-word-R">
            <a:extLst xmlns:a="http://schemas.openxmlformats.org/drawingml/2006/main">
              <a:ext uri="{FF2B5EF4-FFF2-40B4-BE49-F238E27FC236}">
                <a16:creationId xmlns:a16="http://schemas.microsoft.com/office/drawing/2014/main" id="{596D1AB2-F4C0-450E-BA4B-8F39D1E4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467725"/>
            <a:ext cx="13906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Revive</a:t>
            </a:r>
          </a:p>
        </p:txBody>
      </p:sp>
      <p:sp>
        <p:nvSpPr>
          <p:cNvPr id="223" name="legend-action-S">
            <a:extLst xmlns:a="http://schemas.openxmlformats.org/drawingml/2006/main">
              <a:ext uri="{FF2B5EF4-FFF2-40B4-BE49-F238E27FC236}">
                <a16:creationId xmlns:a16="http://schemas.microsoft.com/office/drawing/2014/main" id="{7266DC9E-B9E3-4829-A5A1-14C00EA1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505825"/>
            <a:ext cx="304800" cy="304800"/>
          </a:xfrm>
          <a:custGeom xmlns:a="http://schemas.openxmlformats.org/drawingml/2006/main">
            <a:pathLst>
              <a:path w="304800" h="304800">
                <a:moveTo>
                  <a:pt x="285750" y="0"/>
                </a:moveTo>
                <a:lnTo>
                  <a:pt x="288237" y="163"/>
                </a:lnTo>
                <a:lnTo>
                  <a:pt x="290681" y="649"/>
                </a:lnTo>
                <a:lnTo>
                  <a:pt x="293040" y="1450"/>
                </a:lnTo>
                <a:lnTo>
                  <a:pt x="295275" y="2552"/>
                </a:lnTo>
                <a:lnTo>
                  <a:pt x="297347" y="3937"/>
                </a:lnTo>
                <a:lnTo>
                  <a:pt x="299220" y="5580"/>
                </a:lnTo>
                <a:lnTo>
                  <a:pt x="300863" y="7453"/>
                </a:lnTo>
                <a:lnTo>
                  <a:pt x="302248" y="9525"/>
                </a:lnTo>
                <a:lnTo>
                  <a:pt x="303350" y="11760"/>
                </a:lnTo>
                <a:lnTo>
                  <a:pt x="304151" y="14119"/>
                </a:lnTo>
                <a:lnTo>
                  <a:pt x="304637" y="16563"/>
                </a:lnTo>
                <a:lnTo>
                  <a:pt x="304800" y="19050"/>
                </a:lnTo>
                <a:lnTo>
                  <a:pt x="304800" y="285750"/>
                </a:lnTo>
                <a:lnTo>
                  <a:pt x="304637" y="288237"/>
                </a:lnTo>
                <a:lnTo>
                  <a:pt x="304151" y="290681"/>
                </a:lnTo>
                <a:lnTo>
                  <a:pt x="303350" y="293040"/>
                </a:lnTo>
                <a:lnTo>
                  <a:pt x="302248" y="295275"/>
                </a:lnTo>
                <a:lnTo>
                  <a:pt x="300863" y="297347"/>
                </a:lnTo>
                <a:lnTo>
                  <a:pt x="299220" y="299220"/>
                </a:lnTo>
                <a:lnTo>
                  <a:pt x="297347" y="300863"/>
                </a:lnTo>
                <a:lnTo>
                  <a:pt x="295275" y="302248"/>
                </a:lnTo>
                <a:lnTo>
                  <a:pt x="293040" y="303350"/>
                </a:lnTo>
                <a:lnTo>
                  <a:pt x="290681" y="304151"/>
                </a:lnTo>
                <a:lnTo>
                  <a:pt x="288237" y="304637"/>
                </a:lnTo>
                <a:lnTo>
                  <a:pt x="285750" y="304800"/>
                </a:lnTo>
                <a:lnTo>
                  <a:pt x="19050" y="304800"/>
                </a:lnTo>
                <a:lnTo>
                  <a:pt x="16563" y="304637"/>
                </a:lnTo>
                <a:lnTo>
                  <a:pt x="14119" y="304151"/>
                </a:lnTo>
                <a:lnTo>
                  <a:pt x="11760" y="303350"/>
                </a:lnTo>
                <a:lnTo>
                  <a:pt x="9525" y="302248"/>
                </a:lnTo>
                <a:lnTo>
                  <a:pt x="7453" y="300863"/>
                </a:lnTo>
                <a:lnTo>
                  <a:pt x="5580" y="299220"/>
                </a:lnTo>
                <a:lnTo>
                  <a:pt x="3937" y="297347"/>
                </a:lnTo>
                <a:lnTo>
                  <a:pt x="2552" y="295275"/>
                </a:lnTo>
                <a:lnTo>
                  <a:pt x="1450" y="293040"/>
                </a:lnTo>
                <a:lnTo>
                  <a:pt x="649" y="290681"/>
                </a:lnTo>
                <a:lnTo>
                  <a:pt x="163" y="288237"/>
                </a:lnTo>
                <a:lnTo>
                  <a:pt x="0" y="285750"/>
                </a:lnTo>
                <a:lnTo>
                  <a:pt x="0" y="19050"/>
                </a:lnTo>
                <a:lnTo>
                  <a:pt x="163" y="16563"/>
                </a:lnTo>
                <a:lnTo>
                  <a:pt x="649" y="14119"/>
                </a:lnTo>
                <a:lnTo>
                  <a:pt x="1450" y="11760"/>
                </a:lnTo>
                <a:lnTo>
                  <a:pt x="2552" y="9525"/>
                </a:lnTo>
                <a:lnTo>
                  <a:pt x="3937" y="7453"/>
                </a:lnTo>
                <a:lnTo>
                  <a:pt x="5580" y="5580"/>
                </a:lnTo>
                <a:lnTo>
                  <a:pt x="7453" y="3937"/>
                </a:lnTo>
                <a:lnTo>
                  <a:pt x="9525" y="2552"/>
                </a:lnTo>
                <a:lnTo>
                  <a:pt x="11760" y="1450"/>
                </a:lnTo>
                <a:lnTo>
                  <a:pt x="14119" y="649"/>
                </a:lnTo>
                <a:lnTo>
                  <a:pt x="16563" y="163"/>
                </a:lnTo>
                <a:lnTo>
                  <a:pt x="19050" y="0"/>
                </a:lnTo>
                <a:close/>
              </a:path>
            </a:pathLst>
          </a:custGeom>
          <a:solidFill xmlns:a="http://schemas.openxmlformats.org/drawingml/2006/main">
            <a:srgbClr val="FFF1CC"/>
          </a:solidFill>
          <a:ln xmlns:a="http://schemas.openxmlformats.org/drawingml/2006/main" w="17145">
            <a:solidFill>
              <a:srgbClr val="AC893B"/>
            </a:solidFill>
            <a:prstDash val="solid"/>
          </a:ln>
        </p:spPr>
      </p:sp>
      <p:sp>
        <p:nvSpPr>
          <p:cNvPr id="224" name="legend-letter-S">
            <a:extLst xmlns:a="http://schemas.openxmlformats.org/drawingml/2006/main">
              <a:ext uri="{FF2B5EF4-FFF2-40B4-BE49-F238E27FC236}">
                <a16:creationId xmlns:a16="http://schemas.microsoft.com/office/drawing/2014/main" id="{A6A246C1-848B-4B2F-98EC-33B50A1F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8486775"/>
            <a:ext cx="28575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25" name="legend-word-S">
            <a:extLst xmlns:a="http://schemas.openxmlformats.org/drawingml/2006/main">
              <a:ext uri="{FF2B5EF4-FFF2-40B4-BE49-F238E27FC236}">
                <a16:creationId xmlns:a16="http://schemas.microsoft.com/office/drawing/2014/main" id="{5A72AB58-C482-4F94-BD56-0EA60727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467725"/>
            <a:ext cx="139065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0" i="0">
                <a:solidFill>
                  <a:srgbClr val="25313A"/>
                </a:solidFill>
                <a:latin typeface="Comic Sans MS"/>
                <a:ea typeface="Comic Sans MS"/>
                <a:cs typeface="Comic Sans MS"/>
              </a:rPr>
              <a:t>Suppress</a:t>
            </a:r>
          </a:p>
        </p:txBody>
      </p:sp>
      <p:sp>
        <p:nvSpPr>
          <p:cNvPr id="226" name="legend-prob-0">
            <a:extLst xmlns:a="http://schemas.openxmlformats.org/drawingml/2006/main">
              <a:ext uri="{FF2B5EF4-FFF2-40B4-BE49-F238E27FC236}">
                <a16:creationId xmlns:a16="http://schemas.microsoft.com/office/drawing/2014/main" id="{27F5F57D-2218-4FEF-A4C8-0B63DC99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85248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E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227" name="legend-prob-1">
            <a:extLst xmlns:a="http://schemas.openxmlformats.org/drawingml/2006/main">
              <a:ext uri="{FF2B5EF4-FFF2-40B4-BE49-F238E27FC236}">
                <a16:creationId xmlns:a16="http://schemas.microsoft.com/office/drawing/2014/main" id="{301CA25F-31B5-4441-A065-0797857F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85248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E6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228" name="legend-prob-2">
            <a:extLst xmlns:a="http://schemas.openxmlformats.org/drawingml/2006/main">
              <a:ext uri="{FF2B5EF4-FFF2-40B4-BE49-F238E27FC236}">
                <a16:creationId xmlns:a16="http://schemas.microsoft.com/office/drawing/2014/main" id="{F416547C-735D-4BE7-8445-897A2F1F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85248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7CE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229" name="legend-prob-3">
            <a:extLst xmlns:a="http://schemas.openxmlformats.org/drawingml/2006/main">
              <a:ext uri="{FF2B5EF4-FFF2-40B4-BE49-F238E27FC236}">
                <a16:creationId xmlns:a16="http://schemas.microsoft.com/office/drawing/2014/main" id="{DDBE6631-9B30-47E2-A874-753DE91D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85248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94B6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230" name="legend-prob-4">
            <a:extLst xmlns:a="http://schemas.openxmlformats.org/drawingml/2006/main">
              <a:ext uri="{FF2B5EF4-FFF2-40B4-BE49-F238E27FC236}">
                <a16:creationId xmlns:a16="http://schemas.microsoft.com/office/drawing/2014/main" id="{E818CE5B-78C1-4A22-8B31-251F3F4D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85248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19E"/>
          </a:solidFill>
          <a:ln xmlns:a="http://schemas.openxmlformats.org/drawingml/2006/main" w="17145">
            <a:solidFill>
              <a:srgbClr val="25313A"/>
            </a:solidFill>
            <a:prstDash val="solid"/>
          </a:ln>
        </p:spPr>
      </p:sp>
      <p:sp>
        <p:nvSpPr>
          <p:cNvPr id="231" name="legend-prob-low">
            <a:extLst xmlns:a="http://schemas.openxmlformats.org/drawingml/2006/main">
              <a:ext uri="{FF2B5EF4-FFF2-40B4-BE49-F238E27FC236}">
                <a16:creationId xmlns:a16="http://schemas.microsoft.com/office/drawing/2014/main" id="{2E1D2287-1D9D-4004-8D9F-F15F578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8467725"/>
            <a:ext cx="523875" cy="29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low</a:t>
            </a:r>
          </a:p>
        </p:txBody>
      </p:sp>
      <p:sp>
        <p:nvSpPr>
          <p:cNvPr id="232" name="legend-prob-high">
            <a:extLst xmlns:a="http://schemas.openxmlformats.org/drawingml/2006/main">
              <a:ext uri="{FF2B5EF4-FFF2-40B4-BE49-F238E27FC236}">
                <a16:creationId xmlns:a16="http://schemas.microsoft.com/office/drawing/2014/main" id="{3A17A17C-FDDB-4AC8-BAD4-7E398167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8467725"/>
            <a:ext cx="571500" cy="29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high</a:t>
            </a:r>
          </a:p>
        </p:txBody>
      </p:sp>
      <p:sp>
        <p:nvSpPr>
          <p:cNvPr id="233" name="legend-prob-label">
            <a:extLst xmlns:a="http://schemas.openxmlformats.org/drawingml/2006/main">
              <a:ext uri="{FF2B5EF4-FFF2-40B4-BE49-F238E27FC236}">
                <a16:creationId xmlns:a16="http://schemas.microsoft.com/office/drawing/2014/main" id="{BE8E376A-F1C9-4A9E-988D-F262CCEB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8791575"/>
            <a:ext cx="1771650" cy="295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Propose p</a:t>
            </a:r>
          </a:p>
        </p:txBody>
      </p:sp>
      <p:sp>
        <p:nvSpPr>
          <p:cNvPr id="234" name="operator-scale-key">
            <a:extLst xmlns:a="http://schemas.openxmlformats.org/drawingml/2006/main">
              <a:ext uri="{FF2B5EF4-FFF2-40B4-BE49-F238E27FC236}">
                <a16:creationId xmlns:a16="http://schemas.microsoft.com/office/drawing/2014/main" id="{1B85B6A1-B175-4A51-AC8E-BC174DAD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8467725"/>
            <a:ext cx="195262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×  scaling</a:t>
            </a:r>
          </a:p>
        </p:txBody>
      </p:sp>
      <p:sp>
        <p:nvSpPr>
          <p:cNvPr id="235" name="operator-sum-key">
            <a:extLst xmlns:a="http://schemas.openxmlformats.org/drawingml/2006/main">
              <a:ext uri="{FF2B5EF4-FFF2-40B4-BE49-F238E27FC236}">
                <a16:creationId xmlns:a16="http://schemas.microsoft.com/office/drawing/2014/main" id="{22727F1F-2CCE-4684-8BDA-54C0D7B4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467725"/>
            <a:ext cx="1724025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 i="0">
                <a:solidFill>
                  <a:srgbClr val="25313A"/>
                </a:solidFill>
                <a:latin typeface="Times New Roman"/>
                <a:ea typeface="Times New Roman"/>
                <a:cs typeface="Times New Roman"/>
              </a:rPr>
              <a:t>+  addition</a:t>
            </a:r>
          </a:p>
        </p:txBody>
      </p:sp>
      <p:sp>
        <p:nvSpPr>
          <p:cNvPr id="236" name="schematic-disclosure">
            <a:extLst xmlns:a="http://schemas.openxmlformats.org/drawingml/2006/main">
              <a:ext uri="{FF2B5EF4-FFF2-40B4-BE49-F238E27FC236}">
                <a16:creationId xmlns:a16="http://schemas.microsoft.com/office/drawing/2014/main" id="{DEC69409-50A1-44AC-B5A5-2F3DBC9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077325"/>
            <a:ext cx="14382750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 i="0">
                <a:solidFill>
                  <a:srgbClr val="6F7B82"/>
                </a:solidFill>
                <a:latin typeface="Comic Sans MS"/>
                <a:ea typeface="Comic Sans MS"/>
                <a:cs typeface="Comic Sans MS"/>
              </a:rPr>
              <a:t>Interfaces and Propose values are schematic; Verify strips show categories only, not predicted outcomes.</a:t>
            </a:r>
          </a:p>
        </p:txBody>
      </p:sp>
    </p:spTree>
    <p:extLst>
      <p:ext uri="{BB962C8B-B14F-4D97-AF65-F5344CB8AC3E}">
        <p14:creationId xmlns:p14="http://schemas.microsoft.com/office/powerpoint/2010/main" val="875465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2026-09-07T11:13:39.1530000Z</dcterms:created>
  <dcterms:modified xsi:type="dcterms:W3CDTF">2026-09-07T11:13:39.1530000Z</dcterms:modified>
</coreProperties>
</file>