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a87ed1f842478b" /><Relationship Type="http://schemas.openxmlformats.org/officeDocument/2006/relationships/extended-properties" Target="/docProps/app.xml" Id="Rf7579882437c451f" /><Relationship Type="http://schemas.openxmlformats.org/officeDocument/2006/relationships/officeDocument" Target="/ppt/presentation.xml" Id="Rbb42c667c3ee4c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b3ec6d2aa48f7"/>
  </p:sldMasterIdLst>
  <p:notesMasterIdLst>
    <p:notesMasterId xmlns:r="http://schemas.openxmlformats.org/officeDocument/2006/relationships" r:id="Rf277cb35c45048f5"/>
  </p:notesMasterIdLst>
  <p:sldIdLst>
    <p:sldId xmlns:r="http://schemas.openxmlformats.org/officeDocument/2006/relationships" id="256" r:id="Rbb066bbd862d46c3"/>
    <p:sldId xmlns:r="http://schemas.openxmlformats.org/officeDocument/2006/relationships" id="257" r:id="R51e4a0c5a9bd4f79"/>
    <p:sldId xmlns:r="http://schemas.openxmlformats.org/officeDocument/2006/relationships" id="258" r:id="R8955b35cf4014acf"/>
    <p:sldId xmlns:r="http://schemas.openxmlformats.org/officeDocument/2006/relationships" id="259" r:id="R0a9033435edb4f23"/>
    <p:sldId xmlns:r="http://schemas.openxmlformats.org/officeDocument/2006/relationships" id="260" r:id="Rb4713ed596af4f39"/>
    <p:sldId xmlns:r="http://schemas.openxmlformats.org/officeDocument/2006/relationships" id="261" r:id="R5d063bbd22014045"/>
    <p:sldId xmlns:r="http://schemas.openxmlformats.org/officeDocument/2006/relationships" id="262" r:id="Rf4bb405d850741dd"/>
    <p:sldId xmlns:r="http://schemas.openxmlformats.org/officeDocument/2006/relationships" id="263" r:id="R2a822cff6b594a0f"/>
    <p:sldId xmlns:r="http://schemas.openxmlformats.org/officeDocument/2006/relationships" id="264" r:id="Rf2a07729397e483a"/>
  </p:sldIdLst>
  <p:sldSz cx="11430000" cy="647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1e5520649e4dec" /><Relationship Type="http://schemas.openxmlformats.org/officeDocument/2006/relationships/slideMaster" Target="/ppt/slideMasters/slideMaster1.xml" Id="Rb6fb3ec6d2aa48f7" /><Relationship Type="http://schemas.openxmlformats.org/officeDocument/2006/relationships/notesMaster" Target="/ppt/notesMasters/notesMaster1.xml" Id="Rf277cb35c45048f5" /><Relationship Type="http://schemas.openxmlformats.org/officeDocument/2006/relationships/presProps" Target="/ppt/presProps.xml" Id="Rb0afac155265482b" /><Relationship Type="http://schemas.openxmlformats.org/officeDocument/2006/relationships/tableStyles" Target="/ppt/tableStyles.xml" Id="R91326602365b4fae" /><Relationship Type="http://schemas.openxmlformats.org/officeDocument/2006/relationships/slide" Target="/ppt/slides/slide1.xml" Id="Rbb066bbd862d46c3" /><Relationship Type="http://schemas.openxmlformats.org/officeDocument/2006/relationships/slide" Target="/ppt/slides/slide2.xml" Id="R51e4a0c5a9bd4f79" /><Relationship Type="http://schemas.openxmlformats.org/officeDocument/2006/relationships/slide" Target="/ppt/slides/slide3.xml" Id="R8955b35cf4014acf" /><Relationship Type="http://schemas.openxmlformats.org/officeDocument/2006/relationships/slide" Target="/ppt/slides/slide4.xml" Id="R0a9033435edb4f23" /><Relationship Type="http://schemas.openxmlformats.org/officeDocument/2006/relationships/slide" Target="/ppt/slides/slide5.xml" Id="Rb4713ed596af4f39" /><Relationship Type="http://schemas.openxmlformats.org/officeDocument/2006/relationships/slide" Target="/ppt/slides/slide6.xml" Id="R5d063bbd22014045" /><Relationship Type="http://schemas.openxmlformats.org/officeDocument/2006/relationships/slide" Target="/ppt/slides/slide7.xml" Id="Rf4bb405d850741dd" /><Relationship Type="http://schemas.openxmlformats.org/officeDocument/2006/relationships/slide" Target="/ppt/slides/slide8.xml" Id="R2a822cff6b594a0f" /><Relationship Type="http://schemas.openxmlformats.org/officeDocument/2006/relationships/slide" Target="/ppt/slides/slide9.xml" Id="Rf2a07729397e48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31a711df07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6c54fb77ea4db1" /><Relationship Type="http://schemas.openxmlformats.org/officeDocument/2006/relationships/notesMaster" Target="/ppt/notesMasters/notesMaster1.xml" Id="R0e31aaa30fad40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52dc227734c05" /><Relationship Type="http://schemas.openxmlformats.org/officeDocument/2006/relationships/notesMaster" Target="/ppt/notesMasters/notesMaster1.xml" Id="R6390d8a7c8c9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92788b5786446c" /><Relationship Type="http://schemas.openxmlformats.org/officeDocument/2006/relationships/notesMaster" Target="/ppt/notesMasters/notesMaster1.xml" Id="Rb1fb0c49829941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f127ba91d94dac" /><Relationship Type="http://schemas.openxmlformats.org/officeDocument/2006/relationships/notesMaster" Target="/ppt/notesMasters/notesMaster1.xml" Id="R94cf964d8c044a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4b1d2d395240d4" /><Relationship Type="http://schemas.openxmlformats.org/officeDocument/2006/relationships/notesMaster" Target="/ppt/notesMasters/notesMaster1.xml" Id="R5797d98c409247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6a328b6826464e" /><Relationship Type="http://schemas.openxmlformats.org/officeDocument/2006/relationships/notesMaster" Target="/ppt/notesMasters/notesMaster1.xml" Id="Rb195a18d661743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f13522e86d4b89" /><Relationship Type="http://schemas.openxmlformats.org/officeDocument/2006/relationships/notesMaster" Target="/ppt/notesMasters/notesMaster1.xml" Id="R981efc90f79449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f0cb828d344d70" /><Relationship Type="http://schemas.openxmlformats.org/officeDocument/2006/relationships/notesMaster" Target="/ppt/notesMasters/notesMaster1.xml" Id="R0837107f9d4443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36b979b5104e29" /><Relationship Type="http://schemas.openxmlformats.org/officeDocument/2006/relationships/notesMaster" Target="/ppt/notesMasters/notesMaster1.xml" Id="R9e30186b70a1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geometric illustration, not numerical integration or empirical data.</a:t>
            </a:r>
          </a:p>
          <a:p xmlns:a="http://schemas.openxmlformats.org/drawingml/2006/main">
            <a:r>
              <a:t>Uniqueness requires appropriate regularity of the velocity field. The displayed trajectories do not branch or intersect at equal time.</a:t>
            </a:r>
          </a:p>
          <a:p xmlns:a="http://schemas.openxmlformats.org/drawingml/2006/main">
            <a:r>
              <a:t>The horizontal coordinate represents time. Vertical position is an illustrative one-dimensional state coordinate.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geometric illustration, not numerical integration or empirical data.</a:t>
            </a:r>
          </a:p>
          <a:p xmlns:a="http://schemas.openxmlformats.org/drawingml/2006/main">
            <a:r>
              <a:t>Uniqueness requires appropriate regularity of the velocity field. The displayed trajectories do not branch or intersect at equal time.</a:t>
            </a:r>
          </a:p>
          <a:p xmlns:a="http://schemas.openxmlformats.org/drawingml/2006/main">
            <a:r>
              <a:t>The horizontal coordinate represents time. Vertical position is an illustrative one-dimensional state coordinate.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geometric illustration, not numerical integration or empirical data.</a:t>
            </a:r>
          </a:p>
          <a:p xmlns:a="http://schemas.openxmlformats.org/drawingml/2006/main">
            <a:r>
              <a:t>Uniqueness requires appropriate regularity of the velocity field. The displayed trajectories do not branch or intersect at equal time.</a:t>
            </a:r>
          </a:p>
          <a:p xmlns:a="http://schemas.openxmlformats.org/drawingml/2006/main">
            <a:r>
              <a:t>The horizontal coordinate represents time. Vertical position is an illustrative one-dimensional state coordinate.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hand-designed noisy paths. They are illustrative and are not simulated Brownian or SDE sample paths.</a:t>
            </a:r>
          </a:p>
          <a:p xmlns:a="http://schemas.openxmlformats.org/drawingml/2006/main">
            <a:r>
              <a:t>A common initial state is shown under different noise realizations. Smooth baseline intuition is not a claim about the expected solution.</a:t>
            </a:r>
          </a:p>
          <a:p xmlns:a="http://schemas.openxmlformats.org/drawingml/2006/main">
            <a:r>
              <a:t>State-dependent drift and diffusion may produce behavior different from this example.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hand-designed noisy paths. They are illustrative and are not simulated Brownian or SDE sample paths.</a:t>
            </a:r>
          </a:p>
          <a:p xmlns:a="http://schemas.openxmlformats.org/drawingml/2006/main">
            <a:r>
              <a:t>A common initial state is shown under different noise realizations. Smooth baseline intuition is not a claim about the expected solution.</a:t>
            </a:r>
          </a:p>
          <a:p xmlns:a="http://schemas.openxmlformats.org/drawingml/2006/main">
            <a:r>
              <a:t>State-dependent drift and diffusion may produce behavior different from this example.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hand-designed noisy paths. They are illustrative and are not simulated Brownian or SDE sample paths.</a:t>
            </a:r>
          </a:p>
          <a:p xmlns:a="http://schemas.openxmlformats.org/drawingml/2006/main">
            <a:r>
              <a:t>A common initial state is shown under different noise realizations. Smooth baseline intuition is not a claim about the expected solution.</a:t>
            </a:r>
          </a:p>
          <a:p xmlns:a="http://schemas.openxmlformats.org/drawingml/2006/main">
            <a:r>
              <a:t>State-dependent drift and diffusion may produce behavior different from this example.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geometric illustration, not a trained model or numerical simulation.</a:t>
            </a:r>
          </a:p>
          <a:p xmlns:a="http://schemas.openxmlformats.org/drawingml/2006/main">
            <a:r>
              <a:t>The training example uses straight conditional interpolation between a source-target pair. This is one choice, not a universal Flow Matching path.</a:t>
            </a:r>
          </a:p>
          <a:p xmlns:a="http://schemas.openxmlformats.org/drawingml/2006/main">
            <a:r>
              <a:t>Target velocity x1-x0 belongs to this conditional path. The learned marginal velocity field can yield curved sampling trajectories.</a:t>
            </a:r>
          </a:p>
          <a:p xmlns:a="http://schemas.openxmlformats.org/drawingml/2006/main">
            <a:r>
              <a:t>The two training pairs do not assert a specific coupling algorithm. Sampling starts from the prior and does not access a paired target.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geometric illustration, not a trained model or numerical simulation.</a:t>
            </a:r>
          </a:p>
          <a:p xmlns:a="http://schemas.openxmlformats.org/drawingml/2006/main">
            <a:r>
              <a:t>The training example uses straight conditional interpolation between a source-target pair. This is one choice, not a universal Flow Matching path.</a:t>
            </a:r>
          </a:p>
          <a:p xmlns:a="http://schemas.openxmlformats.org/drawingml/2006/main">
            <a:r>
              <a:t>Target velocity x1-x0 belongs to this conditional path. The learned marginal velocity field can yield curved sampling trajectories.</a:t>
            </a:r>
          </a:p>
          <a:p xmlns:a="http://schemas.openxmlformats.org/drawingml/2006/main">
            <a:r>
              <a:t>The two training pairs do not assert a specific coupling algorithm. Sampling starts from the prior and does not access a paired target.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geometric illustration, not a trained model or numerical simulation.</a:t>
            </a:r>
          </a:p>
          <a:p xmlns:a="http://schemas.openxmlformats.org/drawingml/2006/main">
            <a:r>
              <a:t>The training example uses straight conditional interpolation between a source-target pair. This is one choice, not a universal Flow Matching path.</a:t>
            </a:r>
          </a:p>
          <a:p xmlns:a="http://schemas.openxmlformats.org/drawingml/2006/main">
            <a:r>
              <a:t>Target velocity x1-x0 belongs to this conditional path. The learned marginal velocity field can yield curved sampling trajectories.</a:t>
            </a:r>
          </a:p>
          <a:p xmlns:a="http://schemas.openxmlformats.org/drawingml/2006/main">
            <a:r>
              <a:t>The two training pairs do not assert a specific coupling algorithm. Sampling starts from the prior and does not access a paired target.</a:t>
            </a:r>
          </a:p>
          <a:p xmlns:a="http://schemas.openxmlformats.org/drawingml/2006/main">
            <a:r>
              <a:t>Original component geometry created for this project. Style variants preserve the same mechanism. All shapes and text remain editable. Arrowheads are separate editable native shapes.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885a42cf94f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7c0eefadc74b2c" /><Relationship Type="http://schemas.openxmlformats.org/officeDocument/2006/relationships/slideLayout" Target="/ppt/slideLayouts/slideLayout1.xml" Id="Rb47b37bab1f1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b37bab1f1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0dfca90c545c0" /><Relationship Type="http://schemas.openxmlformats.org/officeDocument/2006/relationships/notesSlide" Target="/ppt/notesSlides/notesSlide1.xml" Id="R7b6930fc1e1243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fc91803704eea" /><Relationship Type="http://schemas.openxmlformats.org/officeDocument/2006/relationships/notesSlide" Target="/ppt/notesSlides/notesSlide2.xml" Id="R133aee8870a748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dd9e20fc74bf3" /><Relationship Type="http://schemas.openxmlformats.org/officeDocument/2006/relationships/notesSlide" Target="/ppt/notesSlides/notesSlide3.xml" Id="Rcbddc3e1f8a04f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9e672bea145f4" /><Relationship Type="http://schemas.openxmlformats.org/officeDocument/2006/relationships/notesSlide" Target="/ppt/notesSlides/notesSlide4.xml" Id="Rb1075627152348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09ed898fe4a7c" /><Relationship Type="http://schemas.openxmlformats.org/officeDocument/2006/relationships/notesSlide" Target="/ppt/notesSlides/notesSlide5.xml" Id="Ra24c1406b25d4b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cf69098e440b2" /><Relationship Type="http://schemas.openxmlformats.org/officeDocument/2006/relationships/notesSlide" Target="/ppt/notesSlides/notesSlide6.xml" Id="R32e78a393c1445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d85cfa8644c36" /><Relationship Type="http://schemas.openxmlformats.org/officeDocument/2006/relationships/notesSlide" Target="/ppt/notesSlides/notesSlide7.xml" Id="Recc65d15921441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7b19b3a784ec3" /><Relationship Type="http://schemas.openxmlformats.org/officeDocument/2006/relationships/notesSlide" Target="/ppt/notesSlides/notesSlide8.xml" Id="R024c9430565648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2f3c4f5c0462a" /><Relationship Type="http://schemas.openxmlformats.org/officeDocument/2006/relationships/notesSlide" Target="/ppt/notesSlides/notesSlide9.xml" Id="R1ee9474f705341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BF538EA7-0BC7-4460-A849-4587EFF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ODE · deterministic evolution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EAE5884F-90C9-4551-BD85-ED68A7D2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dx / dt = v(x, t)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D26A2A2-BD31-4E2E-AAEB-4B518EF5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initial-label">
            <a:extLst xmlns:a="http://schemas.openxmlformats.org/drawingml/2006/main">
              <a:ext uri="{FF2B5EF4-FFF2-40B4-BE49-F238E27FC236}">
                <a16:creationId xmlns:a16="http://schemas.microsoft.com/office/drawing/2014/main" id="{0D2DDB75-B370-4665-BE8F-47A57051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1905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Initial states</a:t>
            </a:r>
          </a:p>
        </p:txBody>
      </p:sp>
      <p:sp>
        <p:nvSpPr>
          <p:cNvPr id="5" name="terminal-label">
            <a:extLst xmlns:a="http://schemas.openxmlformats.org/drawingml/2006/main">
              <a:ext uri="{FF2B5EF4-FFF2-40B4-BE49-F238E27FC236}">
                <a16:creationId xmlns:a16="http://schemas.microsoft.com/office/drawing/2014/main" id="{75292C63-5BDA-493E-8E98-F58C743F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1905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Final states</a:t>
            </a:r>
          </a:p>
        </p:txBody>
      </p:sp>
      <p:sp>
        <p:nvSpPr>
          <p:cNvPr id="6" name="path-1">
            <a:extLst xmlns:a="http://schemas.openxmlformats.org/drawingml/2006/main">
              <a:ext uri="{FF2B5EF4-FFF2-40B4-BE49-F238E27FC236}">
                <a16:creationId xmlns:a16="http://schemas.microsoft.com/office/drawing/2014/main" id="{FB94C505-C2AF-48B5-8A48-E3120F2E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8096250" cy="406081"/>
          </a:xfrm>
          <a:custGeom xmlns:a="http://schemas.openxmlformats.org/drawingml/2006/main">
            <a:pathLst>
              <a:path w="8096250" h="406081">
                <a:moveTo>
                  <a:pt x="0" y="190500"/>
                </a:moveTo>
                <a:lnTo>
                  <a:pt x="80963" y="198169"/>
                </a:lnTo>
                <a:lnTo>
                  <a:pt x="161925" y="205829"/>
                </a:lnTo>
                <a:lnTo>
                  <a:pt x="242888" y="213469"/>
                </a:lnTo>
                <a:lnTo>
                  <a:pt x="323850" y="221082"/>
                </a:lnTo>
                <a:lnTo>
                  <a:pt x="404813" y="228656"/>
                </a:lnTo>
                <a:lnTo>
                  <a:pt x="485775" y="236184"/>
                </a:lnTo>
                <a:lnTo>
                  <a:pt x="566738" y="243655"/>
                </a:lnTo>
                <a:lnTo>
                  <a:pt x="647700" y="251061"/>
                </a:lnTo>
                <a:lnTo>
                  <a:pt x="728663" y="258391"/>
                </a:lnTo>
                <a:lnTo>
                  <a:pt x="809625" y="265638"/>
                </a:lnTo>
                <a:lnTo>
                  <a:pt x="890588" y="272792"/>
                </a:lnTo>
                <a:lnTo>
                  <a:pt x="971550" y="279844"/>
                </a:lnTo>
                <a:lnTo>
                  <a:pt x="1052513" y="286786"/>
                </a:lnTo>
                <a:lnTo>
                  <a:pt x="1133475" y="293608"/>
                </a:lnTo>
                <a:lnTo>
                  <a:pt x="1214438" y="300301"/>
                </a:lnTo>
                <a:lnTo>
                  <a:pt x="1295400" y="306859"/>
                </a:lnTo>
                <a:lnTo>
                  <a:pt x="1376363" y="313271"/>
                </a:lnTo>
                <a:lnTo>
                  <a:pt x="1457325" y="319530"/>
                </a:lnTo>
                <a:lnTo>
                  <a:pt x="1538288" y="325628"/>
                </a:lnTo>
                <a:lnTo>
                  <a:pt x="1619250" y="331557"/>
                </a:lnTo>
                <a:lnTo>
                  <a:pt x="1700213" y="337309"/>
                </a:lnTo>
                <a:lnTo>
                  <a:pt x="1781175" y="342877"/>
                </a:lnTo>
                <a:lnTo>
                  <a:pt x="1862138" y="348253"/>
                </a:lnTo>
                <a:lnTo>
                  <a:pt x="1943100" y="353430"/>
                </a:lnTo>
                <a:lnTo>
                  <a:pt x="2024063" y="358401"/>
                </a:lnTo>
                <a:lnTo>
                  <a:pt x="2105025" y="363160"/>
                </a:lnTo>
                <a:lnTo>
                  <a:pt x="2185988" y="367699"/>
                </a:lnTo>
                <a:lnTo>
                  <a:pt x="2266950" y="372012"/>
                </a:lnTo>
                <a:lnTo>
                  <a:pt x="2347913" y="376094"/>
                </a:lnTo>
                <a:lnTo>
                  <a:pt x="2428875" y="379938"/>
                </a:lnTo>
                <a:lnTo>
                  <a:pt x="2509838" y="383539"/>
                </a:lnTo>
                <a:lnTo>
                  <a:pt x="2590800" y="386891"/>
                </a:lnTo>
                <a:lnTo>
                  <a:pt x="2671763" y="389989"/>
                </a:lnTo>
                <a:lnTo>
                  <a:pt x="2752725" y="392828"/>
                </a:lnTo>
                <a:lnTo>
                  <a:pt x="2833688" y="395404"/>
                </a:lnTo>
                <a:lnTo>
                  <a:pt x="2914650" y="397711"/>
                </a:lnTo>
                <a:lnTo>
                  <a:pt x="2995613" y="399747"/>
                </a:lnTo>
                <a:lnTo>
                  <a:pt x="3076575" y="401506"/>
                </a:lnTo>
                <a:lnTo>
                  <a:pt x="3157538" y="402985"/>
                </a:lnTo>
                <a:lnTo>
                  <a:pt x="3238500" y="404182"/>
                </a:lnTo>
                <a:lnTo>
                  <a:pt x="3319463" y="405093"/>
                </a:lnTo>
                <a:lnTo>
                  <a:pt x="3400425" y="405714"/>
                </a:lnTo>
                <a:lnTo>
                  <a:pt x="3481388" y="406044"/>
                </a:lnTo>
                <a:lnTo>
                  <a:pt x="3562350" y="406081"/>
                </a:lnTo>
                <a:lnTo>
                  <a:pt x="3643313" y="405822"/>
                </a:lnTo>
                <a:lnTo>
                  <a:pt x="3724275" y="405267"/>
                </a:lnTo>
                <a:lnTo>
                  <a:pt x="3805238" y="404412"/>
                </a:lnTo>
                <a:lnTo>
                  <a:pt x="3886200" y="403259"/>
                </a:lnTo>
                <a:lnTo>
                  <a:pt x="3967163" y="401805"/>
                </a:lnTo>
                <a:lnTo>
                  <a:pt x="4048125" y="400050"/>
                </a:lnTo>
                <a:lnTo>
                  <a:pt x="4129088" y="397995"/>
                </a:lnTo>
                <a:lnTo>
                  <a:pt x="4210050" y="395639"/>
                </a:lnTo>
                <a:lnTo>
                  <a:pt x="4291013" y="392982"/>
                </a:lnTo>
                <a:lnTo>
                  <a:pt x="4371975" y="390027"/>
                </a:lnTo>
                <a:lnTo>
                  <a:pt x="4452938" y="386772"/>
                </a:lnTo>
                <a:lnTo>
                  <a:pt x="4533900" y="383221"/>
                </a:lnTo>
                <a:lnTo>
                  <a:pt x="4614863" y="379374"/>
                </a:lnTo>
                <a:lnTo>
                  <a:pt x="4695825" y="375234"/>
                </a:lnTo>
                <a:lnTo>
                  <a:pt x="4776788" y="370803"/>
                </a:lnTo>
                <a:lnTo>
                  <a:pt x="4857750" y="366082"/>
                </a:lnTo>
                <a:lnTo>
                  <a:pt x="4938713" y="361075"/>
                </a:lnTo>
                <a:lnTo>
                  <a:pt x="5019675" y="355786"/>
                </a:lnTo>
                <a:lnTo>
                  <a:pt x="5100638" y="350217"/>
                </a:lnTo>
                <a:lnTo>
                  <a:pt x="5181600" y="344371"/>
                </a:lnTo>
                <a:lnTo>
                  <a:pt x="5262563" y="338254"/>
                </a:lnTo>
                <a:lnTo>
                  <a:pt x="5343525" y="331868"/>
                </a:lnTo>
                <a:lnTo>
                  <a:pt x="5424488" y="325219"/>
                </a:lnTo>
                <a:lnTo>
                  <a:pt x="5505450" y="318311"/>
                </a:lnTo>
                <a:lnTo>
                  <a:pt x="5586413" y="311149"/>
                </a:lnTo>
                <a:lnTo>
                  <a:pt x="5667375" y="303738"/>
                </a:lnTo>
                <a:lnTo>
                  <a:pt x="5748338" y="296084"/>
                </a:lnTo>
                <a:lnTo>
                  <a:pt x="5829300" y="288192"/>
                </a:lnTo>
                <a:lnTo>
                  <a:pt x="5910263" y="280069"/>
                </a:lnTo>
                <a:lnTo>
                  <a:pt x="5991225" y="271720"/>
                </a:lnTo>
                <a:lnTo>
                  <a:pt x="6072188" y="263151"/>
                </a:lnTo>
                <a:lnTo>
                  <a:pt x="6153150" y="254370"/>
                </a:lnTo>
                <a:lnTo>
                  <a:pt x="6234113" y="245383"/>
                </a:lnTo>
                <a:lnTo>
                  <a:pt x="6315075" y="236197"/>
                </a:lnTo>
                <a:lnTo>
                  <a:pt x="6396038" y="226819"/>
                </a:lnTo>
                <a:lnTo>
                  <a:pt x="6477000" y="217257"/>
                </a:lnTo>
                <a:lnTo>
                  <a:pt x="6557963" y="207518"/>
                </a:lnTo>
                <a:lnTo>
                  <a:pt x="6638925" y="197610"/>
                </a:lnTo>
                <a:lnTo>
                  <a:pt x="6719888" y="187541"/>
                </a:lnTo>
                <a:lnTo>
                  <a:pt x="6800850" y="177319"/>
                </a:lnTo>
                <a:lnTo>
                  <a:pt x="6881813" y="166951"/>
                </a:lnTo>
                <a:lnTo>
                  <a:pt x="6962775" y="156448"/>
                </a:lnTo>
                <a:lnTo>
                  <a:pt x="7043738" y="145816"/>
                </a:lnTo>
                <a:lnTo>
                  <a:pt x="7124700" y="135064"/>
                </a:lnTo>
                <a:lnTo>
                  <a:pt x="7205663" y="124202"/>
                </a:lnTo>
                <a:lnTo>
                  <a:pt x="7286625" y="113238"/>
                </a:lnTo>
                <a:lnTo>
                  <a:pt x="7367588" y="102181"/>
                </a:lnTo>
                <a:lnTo>
                  <a:pt x="7448550" y="91041"/>
                </a:lnTo>
                <a:lnTo>
                  <a:pt x="7529513" y="79825"/>
                </a:lnTo>
                <a:lnTo>
                  <a:pt x="7610475" y="68544"/>
                </a:lnTo>
                <a:lnTo>
                  <a:pt x="7691438" y="57206"/>
                </a:lnTo>
                <a:lnTo>
                  <a:pt x="7772400" y="45822"/>
                </a:lnTo>
                <a:lnTo>
                  <a:pt x="7853363" y="34399"/>
                </a:lnTo>
                <a:lnTo>
                  <a:pt x="7934325" y="22949"/>
                </a:lnTo>
                <a:lnTo>
                  <a:pt x="8015288" y="11479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427CA3"/>
            </a:solidFill>
            <a:prstDash val="solid"/>
          </a:ln>
        </p:spPr>
      </p:sp>
      <p:sp>
        <p:nvSpPr>
          <p:cNvPr id="7" name="path-1--arrow">
            <a:extLst xmlns:a="http://schemas.openxmlformats.org/drawingml/2006/main">
              <a:ext uri="{FF2B5EF4-FFF2-40B4-BE49-F238E27FC236}">
                <a16:creationId xmlns:a16="http://schemas.microsoft.com/office/drawing/2014/main" id="{3888405A-009B-402D-BD4F-3D78937D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049" y="2297203"/>
            <a:ext cx="134076" cy="108679"/>
          </a:xfrm>
          <a:custGeom xmlns:a="http://schemas.openxmlformats.org/drawingml/2006/main">
            <a:pathLst>
              <a:path w="134076" h="108679">
                <a:moveTo>
                  <a:pt x="134076" y="36422"/>
                </a:moveTo>
                <a:lnTo>
                  <a:pt x="0" y="0"/>
                </a:lnTo>
                <a:lnTo>
                  <a:pt x="15409" y="108679"/>
                </a:lnTo>
                <a:close/>
              </a:path>
            </a:pathLst>
          </a:custGeom>
          <a:solidFill xmlns:a="http://schemas.openxmlformats.org/drawingml/2006/main">
            <a:srgbClr val="42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itial-1">
            <a:extLst xmlns:a="http://schemas.openxmlformats.org/drawingml/2006/main">
              <a:ext uri="{FF2B5EF4-FFF2-40B4-BE49-F238E27FC236}">
                <a16:creationId xmlns:a16="http://schemas.microsoft.com/office/drawing/2014/main" id="{4CED8388-8895-4443-8B89-CA004852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7CA3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final-1">
            <a:extLst xmlns:a="http://schemas.openxmlformats.org/drawingml/2006/main">
              <a:ext uri="{FF2B5EF4-FFF2-40B4-BE49-F238E27FC236}">
                <a16:creationId xmlns:a16="http://schemas.microsoft.com/office/drawing/2014/main" id="{9F9D72D4-C358-4FF3-A08E-5D546345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257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7CA3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velocity-1">
            <a:extLst xmlns:a="http://schemas.openxmlformats.org/drawingml/2006/main">
              <a:ext uri="{FF2B5EF4-FFF2-40B4-BE49-F238E27FC236}">
                <a16:creationId xmlns:a16="http://schemas.microsoft.com/office/drawing/2014/main" id="{DF5D6130-15C3-44F8-949F-03F7AC46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484399"/>
            <a:ext cx="647700" cy="22430"/>
          </a:xfrm>
          <a:custGeom xmlns:a="http://schemas.openxmlformats.org/drawingml/2006/main">
            <a:pathLst>
              <a:path w="647700" h="22430">
                <a:moveTo>
                  <a:pt x="0" y="2243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427CA3"/>
            </a:solidFill>
            <a:prstDash val="solid"/>
          </a:ln>
        </p:spPr>
      </p:sp>
      <p:sp>
        <p:nvSpPr>
          <p:cNvPr id="11" name="velocity-1--arrow">
            <a:extLst xmlns:a="http://schemas.openxmlformats.org/drawingml/2006/main">
              <a:ext uri="{FF2B5EF4-FFF2-40B4-BE49-F238E27FC236}">
                <a16:creationId xmlns:a16="http://schemas.microsoft.com/office/drawing/2014/main" id="{6ACEBBAD-ABE7-49BA-BFB3-771CF6D6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839" y="2438859"/>
            <a:ext cx="116899" cy="99058"/>
          </a:xfrm>
          <a:custGeom xmlns:a="http://schemas.openxmlformats.org/drawingml/2006/main">
            <a:pathLst>
              <a:path w="116899" h="99058">
                <a:moveTo>
                  <a:pt x="116899" y="45540"/>
                </a:moveTo>
                <a:lnTo>
                  <a:pt x="0" y="0"/>
                </a:lnTo>
                <a:lnTo>
                  <a:pt x="3430" y="99058"/>
                </a:lnTo>
                <a:close/>
              </a:path>
            </a:pathLst>
          </a:custGeom>
          <a:solidFill xmlns:a="http://schemas.openxmlformats.org/drawingml/2006/main">
            <a:srgbClr val="42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2">
            <a:extLst xmlns:a="http://schemas.openxmlformats.org/drawingml/2006/main">
              <a:ext uri="{FF2B5EF4-FFF2-40B4-BE49-F238E27FC236}">
                <a16:creationId xmlns:a16="http://schemas.microsoft.com/office/drawing/2014/main" id="{49C006DB-AA1F-4B64-8FA2-712649BE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90875"/>
            <a:ext cx="8096250" cy="379629"/>
          </a:xfrm>
          <a:custGeom xmlns:a="http://schemas.openxmlformats.org/drawingml/2006/main">
            <a:pathLst>
              <a:path w="8096250" h="379629">
                <a:moveTo>
                  <a:pt x="0" y="142875"/>
                </a:moveTo>
                <a:lnTo>
                  <a:pt x="80963" y="151020"/>
                </a:lnTo>
                <a:lnTo>
                  <a:pt x="161925" y="159156"/>
                </a:lnTo>
                <a:lnTo>
                  <a:pt x="242888" y="167273"/>
                </a:lnTo>
                <a:lnTo>
                  <a:pt x="323850" y="175362"/>
                </a:lnTo>
                <a:lnTo>
                  <a:pt x="404813" y="183412"/>
                </a:lnTo>
                <a:lnTo>
                  <a:pt x="485775" y="191416"/>
                </a:lnTo>
                <a:lnTo>
                  <a:pt x="566738" y="199364"/>
                </a:lnTo>
                <a:lnTo>
                  <a:pt x="647700" y="207246"/>
                </a:lnTo>
                <a:lnTo>
                  <a:pt x="728663" y="215053"/>
                </a:lnTo>
                <a:lnTo>
                  <a:pt x="809625" y="222776"/>
                </a:lnTo>
                <a:lnTo>
                  <a:pt x="890588" y="230406"/>
                </a:lnTo>
                <a:lnTo>
                  <a:pt x="971550" y="237934"/>
                </a:lnTo>
                <a:lnTo>
                  <a:pt x="1052513" y="245352"/>
                </a:lnTo>
                <a:lnTo>
                  <a:pt x="1133475" y="252650"/>
                </a:lnTo>
                <a:lnTo>
                  <a:pt x="1214438" y="259820"/>
                </a:lnTo>
                <a:lnTo>
                  <a:pt x="1295400" y="266854"/>
                </a:lnTo>
                <a:lnTo>
                  <a:pt x="1376363" y="273742"/>
                </a:lnTo>
                <a:lnTo>
                  <a:pt x="1457325" y="280478"/>
                </a:lnTo>
                <a:lnTo>
                  <a:pt x="1538288" y="287052"/>
                </a:lnTo>
                <a:lnTo>
                  <a:pt x="1619250" y="293457"/>
                </a:lnTo>
                <a:lnTo>
                  <a:pt x="1700213" y="299685"/>
                </a:lnTo>
                <a:lnTo>
                  <a:pt x="1781175" y="305729"/>
                </a:lnTo>
                <a:lnTo>
                  <a:pt x="1862138" y="311582"/>
                </a:lnTo>
                <a:lnTo>
                  <a:pt x="1943100" y="317235"/>
                </a:lnTo>
                <a:lnTo>
                  <a:pt x="2024063" y="322682"/>
                </a:lnTo>
                <a:lnTo>
                  <a:pt x="2105025" y="327917"/>
                </a:lnTo>
                <a:lnTo>
                  <a:pt x="2185988" y="332933"/>
                </a:lnTo>
                <a:lnTo>
                  <a:pt x="2266950" y="337722"/>
                </a:lnTo>
                <a:lnTo>
                  <a:pt x="2347913" y="342280"/>
                </a:lnTo>
                <a:lnTo>
                  <a:pt x="2428875" y="346601"/>
                </a:lnTo>
                <a:lnTo>
                  <a:pt x="2509838" y="350678"/>
                </a:lnTo>
                <a:lnTo>
                  <a:pt x="2590800" y="354506"/>
                </a:lnTo>
                <a:lnTo>
                  <a:pt x="2671763" y="358080"/>
                </a:lnTo>
                <a:lnTo>
                  <a:pt x="2752725" y="361396"/>
                </a:lnTo>
                <a:lnTo>
                  <a:pt x="2833688" y="364448"/>
                </a:lnTo>
                <a:lnTo>
                  <a:pt x="2914650" y="367231"/>
                </a:lnTo>
                <a:lnTo>
                  <a:pt x="2995613" y="369743"/>
                </a:lnTo>
                <a:lnTo>
                  <a:pt x="3076575" y="371978"/>
                </a:lnTo>
                <a:lnTo>
                  <a:pt x="3157538" y="373934"/>
                </a:lnTo>
                <a:lnTo>
                  <a:pt x="3238500" y="375607"/>
                </a:lnTo>
                <a:lnTo>
                  <a:pt x="3319463" y="376994"/>
                </a:lnTo>
                <a:lnTo>
                  <a:pt x="3400425" y="378092"/>
                </a:lnTo>
                <a:lnTo>
                  <a:pt x="3481388" y="378898"/>
                </a:lnTo>
                <a:lnTo>
                  <a:pt x="3562350" y="379411"/>
                </a:lnTo>
                <a:lnTo>
                  <a:pt x="3643313" y="379629"/>
                </a:lnTo>
                <a:lnTo>
                  <a:pt x="3724275" y="379549"/>
                </a:lnTo>
                <a:lnTo>
                  <a:pt x="3805238" y="379171"/>
                </a:lnTo>
                <a:lnTo>
                  <a:pt x="3886200" y="378494"/>
                </a:lnTo>
                <a:lnTo>
                  <a:pt x="3967163" y="377516"/>
                </a:lnTo>
                <a:lnTo>
                  <a:pt x="4048125" y="376238"/>
                </a:lnTo>
                <a:lnTo>
                  <a:pt x="4129088" y="374658"/>
                </a:lnTo>
                <a:lnTo>
                  <a:pt x="4210050" y="372779"/>
                </a:lnTo>
                <a:lnTo>
                  <a:pt x="4291013" y="370599"/>
                </a:lnTo>
                <a:lnTo>
                  <a:pt x="4371975" y="368119"/>
                </a:lnTo>
                <a:lnTo>
                  <a:pt x="4452938" y="365341"/>
                </a:lnTo>
                <a:lnTo>
                  <a:pt x="4533900" y="362266"/>
                </a:lnTo>
                <a:lnTo>
                  <a:pt x="4614863" y="358896"/>
                </a:lnTo>
                <a:lnTo>
                  <a:pt x="4695825" y="355232"/>
                </a:lnTo>
                <a:lnTo>
                  <a:pt x="4776788" y="351276"/>
                </a:lnTo>
                <a:lnTo>
                  <a:pt x="4857750" y="347032"/>
                </a:lnTo>
                <a:lnTo>
                  <a:pt x="4938713" y="342502"/>
                </a:lnTo>
                <a:lnTo>
                  <a:pt x="5019675" y="337688"/>
                </a:lnTo>
                <a:lnTo>
                  <a:pt x="5100638" y="332595"/>
                </a:lnTo>
                <a:lnTo>
                  <a:pt x="5181600" y="327226"/>
                </a:lnTo>
                <a:lnTo>
                  <a:pt x="5262563" y="321585"/>
                </a:lnTo>
                <a:lnTo>
                  <a:pt x="5343525" y="315676"/>
                </a:lnTo>
                <a:lnTo>
                  <a:pt x="5424488" y="309503"/>
                </a:lnTo>
                <a:lnTo>
                  <a:pt x="5505450" y="303071"/>
                </a:lnTo>
                <a:lnTo>
                  <a:pt x="5586413" y="296385"/>
                </a:lnTo>
                <a:lnTo>
                  <a:pt x="5667375" y="289451"/>
                </a:lnTo>
                <a:lnTo>
                  <a:pt x="5748338" y="282273"/>
                </a:lnTo>
                <a:lnTo>
                  <a:pt x="5829300" y="274857"/>
                </a:lnTo>
                <a:lnTo>
                  <a:pt x="5910263" y="267210"/>
                </a:lnTo>
                <a:lnTo>
                  <a:pt x="5991225" y="259337"/>
                </a:lnTo>
                <a:lnTo>
                  <a:pt x="6072188" y="251245"/>
                </a:lnTo>
                <a:lnTo>
                  <a:pt x="6153150" y="242940"/>
                </a:lnTo>
                <a:lnTo>
                  <a:pt x="6234113" y="234429"/>
                </a:lnTo>
                <a:lnTo>
                  <a:pt x="6315075" y="225719"/>
                </a:lnTo>
                <a:lnTo>
                  <a:pt x="6396038" y="216818"/>
                </a:lnTo>
                <a:lnTo>
                  <a:pt x="6477000" y="207732"/>
                </a:lnTo>
                <a:lnTo>
                  <a:pt x="6557963" y="198469"/>
                </a:lnTo>
                <a:lnTo>
                  <a:pt x="6638925" y="189038"/>
                </a:lnTo>
                <a:lnTo>
                  <a:pt x="6719888" y="179445"/>
                </a:lnTo>
                <a:lnTo>
                  <a:pt x="6800850" y="169699"/>
                </a:lnTo>
                <a:lnTo>
                  <a:pt x="6881813" y="159808"/>
                </a:lnTo>
                <a:lnTo>
                  <a:pt x="6962775" y="149780"/>
                </a:lnTo>
                <a:lnTo>
                  <a:pt x="7043738" y="139624"/>
                </a:lnTo>
                <a:lnTo>
                  <a:pt x="7124700" y="129349"/>
                </a:lnTo>
                <a:lnTo>
                  <a:pt x="7205663" y="118964"/>
                </a:lnTo>
                <a:lnTo>
                  <a:pt x="7286625" y="108476"/>
                </a:lnTo>
                <a:lnTo>
                  <a:pt x="7367588" y="97895"/>
                </a:lnTo>
                <a:lnTo>
                  <a:pt x="7448550" y="87231"/>
                </a:lnTo>
                <a:lnTo>
                  <a:pt x="7529513" y="76491"/>
                </a:lnTo>
                <a:lnTo>
                  <a:pt x="7610475" y="65686"/>
                </a:lnTo>
                <a:lnTo>
                  <a:pt x="7691438" y="54825"/>
                </a:lnTo>
                <a:lnTo>
                  <a:pt x="7772400" y="43917"/>
                </a:lnTo>
                <a:lnTo>
                  <a:pt x="7853363" y="32970"/>
                </a:lnTo>
                <a:lnTo>
                  <a:pt x="7934325" y="21996"/>
                </a:lnTo>
                <a:lnTo>
                  <a:pt x="8015288" y="11003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428778"/>
            </a:solidFill>
            <a:prstDash val="solid"/>
          </a:ln>
        </p:spPr>
      </p:sp>
      <p:sp>
        <p:nvSpPr>
          <p:cNvPr id="13" name="path-2--arrow">
            <a:extLst xmlns:a="http://schemas.openxmlformats.org/drawingml/2006/main">
              <a:ext uri="{FF2B5EF4-FFF2-40B4-BE49-F238E27FC236}">
                <a16:creationId xmlns:a16="http://schemas.microsoft.com/office/drawing/2014/main" id="{CC73A3E2-5438-401C-AF43-38645169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262" y="3153679"/>
            <a:ext cx="133863" cy="108766"/>
          </a:xfrm>
          <a:custGeom xmlns:a="http://schemas.openxmlformats.org/drawingml/2006/main">
            <a:pathLst>
              <a:path w="133863" h="108766">
                <a:moveTo>
                  <a:pt x="133863" y="37196"/>
                </a:moveTo>
                <a:lnTo>
                  <a:pt x="0" y="0"/>
                </a:lnTo>
                <a:lnTo>
                  <a:pt x="14781" y="108766"/>
                </a:lnTo>
                <a:close/>
              </a:path>
            </a:pathLst>
          </a:custGeom>
          <a:solidFill xmlns:a="http://schemas.openxmlformats.org/drawingml/2006/main">
            <a:srgbClr val="428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itial-2">
            <a:extLst xmlns:a="http://schemas.openxmlformats.org/drawingml/2006/main">
              <a:ext uri="{FF2B5EF4-FFF2-40B4-BE49-F238E27FC236}">
                <a16:creationId xmlns:a16="http://schemas.microsoft.com/office/drawing/2014/main" id="{37D68A52-90BE-449A-9754-82B63349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77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final-2">
            <a:extLst xmlns:a="http://schemas.openxmlformats.org/drawingml/2006/main">
              <a:ext uri="{FF2B5EF4-FFF2-40B4-BE49-F238E27FC236}">
                <a16:creationId xmlns:a16="http://schemas.microsoft.com/office/drawing/2014/main" id="{02E7F9D5-76D0-4C3D-8703-C1F3B446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77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velocity-2">
            <a:extLst xmlns:a="http://schemas.openxmlformats.org/drawingml/2006/main">
              <a:ext uri="{FF2B5EF4-FFF2-40B4-BE49-F238E27FC236}">
                <a16:creationId xmlns:a16="http://schemas.microsoft.com/office/drawing/2014/main" id="{7D50BF36-0357-4B26-9AF0-57536FD2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3321171"/>
            <a:ext cx="647700" cy="18620"/>
          </a:xfrm>
          <a:custGeom xmlns:a="http://schemas.openxmlformats.org/drawingml/2006/main">
            <a:pathLst>
              <a:path w="647700" h="18620">
                <a:moveTo>
                  <a:pt x="0" y="1862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428778"/>
            </a:solidFill>
            <a:prstDash val="solid"/>
          </a:ln>
        </p:spPr>
      </p:sp>
      <p:sp>
        <p:nvSpPr>
          <p:cNvPr id="17" name="velocity-2--arrow">
            <a:extLst xmlns:a="http://schemas.openxmlformats.org/drawingml/2006/main">
              <a:ext uri="{FF2B5EF4-FFF2-40B4-BE49-F238E27FC236}">
                <a16:creationId xmlns:a16="http://schemas.microsoft.com/office/drawing/2014/main" id="{5F83B64C-7327-4544-A73D-B6F5BA34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108" y="3274944"/>
            <a:ext cx="116629" cy="99076"/>
          </a:xfrm>
          <a:custGeom xmlns:a="http://schemas.openxmlformats.org/drawingml/2006/main">
            <a:pathLst>
              <a:path w="116629" h="99076">
                <a:moveTo>
                  <a:pt x="116629" y="46226"/>
                </a:moveTo>
                <a:lnTo>
                  <a:pt x="0" y="0"/>
                </a:lnTo>
                <a:lnTo>
                  <a:pt x="2848" y="99076"/>
                </a:lnTo>
                <a:close/>
              </a:path>
            </a:pathLst>
          </a:custGeom>
          <a:solidFill xmlns:a="http://schemas.openxmlformats.org/drawingml/2006/main">
            <a:srgbClr val="428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3">
            <a:extLst xmlns:a="http://schemas.openxmlformats.org/drawingml/2006/main">
              <a:ext uri="{FF2B5EF4-FFF2-40B4-BE49-F238E27FC236}">
                <a16:creationId xmlns:a16="http://schemas.microsoft.com/office/drawing/2014/main" id="{3C3C85AD-B762-41B4-B91A-DB126465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8096250" cy="379629"/>
          </a:xfrm>
          <a:custGeom xmlns:a="http://schemas.openxmlformats.org/drawingml/2006/main">
            <a:pathLst>
              <a:path w="8096250" h="379629">
                <a:moveTo>
                  <a:pt x="0" y="142875"/>
                </a:moveTo>
                <a:lnTo>
                  <a:pt x="80963" y="151020"/>
                </a:lnTo>
                <a:lnTo>
                  <a:pt x="161925" y="159156"/>
                </a:lnTo>
                <a:lnTo>
                  <a:pt x="242888" y="167273"/>
                </a:lnTo>
                <a:lnTo>
                  <a:pt x="323850" y="175362"/>
                </a:lnTo>
                <a:lnTo>
                  <a:pt x="404813" y="183412"/>
                </a:lnTo>
                <a:lnTo>
                  <a:pt x="485775" y="191416"/>
                </a:lnTo>
                <a:lnTo>
                  <a:pt x="566738" y="199364"/>
                </a:lnTo>
                <a:lnTo>
                  <a:pt x="647700" y="207246"/>
                </a:lnTo>
                <a:lnTo>
                  <a:pt x="728663" y="215053"/>
                </a:lnTo>
                <a:lnTo>
                  <a:pt x="809625" y="222776"/>
                </a:lnTo>
                <a:lnTo>
                  <a:pt x="890588" y="230406"/>
                </a:lnTo>
                <a:lnTo>
                  <a:pt x="971550" y="237934"/>
                </a:lnTo>
                <a:lnTo>
                  <a:pt x="1052513" y="245352"/>
                </a:lnTo>
                <a:lnTo>
                  <a:pt x="1133475" y="252650"/>
                </a:lnTo>
                <a:lnTo>
                  <a:pt x="1214438" y="259820"/>
                </a:lnTo>
                <a:lnTo>
                  <a:pt x="1295400" y="266854"/>
                </a:lnTo>
                <a:lnTo>
                  <a:pt x="1376363" y="273742"/>
                </a:lnTo>
                <a:lnTo>
                  <a:pt x="1457325" y="280478"/>
                </a:lnTo>
                <a:lnTo>
                  <a:pt x="1538288" y="287052"/>
                </a:lnTo>
                <a:lnTo>
                  <a:pt x="1619250" y="293457"/>
                </a:lnTo>
                <a:lnTo>
                  <a:pt x="1700213" y="299685"/>
                </a:lnTo>
                <a:lnTo>
                  <a:pt x="1781175" y="305729"/>
                </a:lnTo>
                <a:lnTo>
                  <a:pt x="1862138" y="311582"/>
                </a:lnTo>
                <a:lnTo>
                  <a:pt x="1943100" y="317235"/>
                </a:lnTo>
                <a:lnTo>
                  <a:pt x="2024063" y="322682"/>
                </a:lnTo>
                <a:lnTo>
                  <a:pt x="2105025" y="327917"/>
                </a:lnTo>
                <a:lnTo>
                  <a:pt x="2185988" y="332933"/>
                </a:lnTo>
                <a:lnTo>
                  <a:pt x="2266950" y="337722"/>
                </a:lnTo>
                <a:lnTo>
                  <a:pt x="2347913" y="342280"/>
                </a:lnTo>
                <a:lnTo>
                  <a:pt x="2428875" y="346601"/>
                </a:lnTo>
                <a:lnTo>
                  <a:pt x="2509838" y="350678"/>
                </a:lnTo>
                <a:lnTo>
                  <a:pt x="2590800" y="354506"/>
                </a:lnTo>
                <a:lnTo>
                  <a:pt x="2671763" y="358080"/>
                </a:lnTo>
                <a:lnTo>
                  <a:pt x="2752725" y="361396"/>
                </a:lnTo>
                <a:lnTo>
                  <a:pt x="2833688" y="364448"/>
                </a:lnTo>
                <a:lnTo>
                  <a:pt x="2914650" y="367231"/>
                </a:lnTo>
                <a:lnTo>
                  <a:pt x="2995613" y="369743"/>
                </a:lnTo>
                <a:lnTo>
                  <a:pt x="3076575" y="371978"/>
                </a:lnTo>
                <a:lnTo>
                  <a:pt x="3157538" y="373934"/>
                </a:lnTo>
                <a:lnTo>
                  <a:pt x="3238500" y="375607"/>
                </a:lnTo>
                <a:lnTo>
                  <a:pt x="3319463" y="376994"/>
                </a:lnTo>
                <a:lnTo>
                  <a:pt x="3400425" y="378092"/>
                </a:lnTo>
                <a:lnTo>
                  <a:pt x="3481388" y="378898"/>
                </a:lnTo>
                <a:lnTo>
                  <a:pt x="3562350" y="379411"/>
                </a:lnTo>
                <a:lnTo>
                  <a:pt x="3643313" y="379629"/>
                </a:lnTo>
                <a:lnTo>
                  <a:pt x="3724275" y="379549"/>
                </a:lnTo>
                <a:lnTo>
                  <a:pt x="3805238" y="379171"/>
                </a:lnTo>
                <a:lnTo>
                  <a:pt x="3886200" y="378494"/>
                </a:lnTo>
                <a:lnTo>
                  <a:pt x="3967163" y="377516"/>
                </a:lnTo>
                <a:lnTo>
                  <a:pt x="4048125" y="376238"/>
                </a:lnTo>
                <a:lnTo>
                  <a:pt x="4129088" y="374658"/>
                </a:lnTo>
                <a:lnTo>
                  <a:pt x="4210050" y="372779"/>
                </a:lnTo>
                <a:lnTo>
                  <a:pt x="4291013" y="370599"/>
                </a:lnTo>
                <a:lnTo>
                  <a:pt x="4371975" y="368119"/>
                </a:lnTo>
                <a:lnTo>
                  <a:pt x="4452938" y="365341"/>
                </a:lnTo>
                <a:lnTo>
                  <a:pt x="4533900" y="362266"/>
                </a:lnTo>
                <a:lnTo>
                  <a:pt x="4614863" y="358896"/>
                </a:lnTo>
                <a:lnTo>
                  <a:pt x="4695825" y="355232"/>
                </a:lnTo>
                <a:lnTo>
                  <a:pt x="4776788" y="351276"/>
                </a:lnTo>
                <a:lnTo>
                  <a:pt x="4857750" y="347032"/>
                </a:lnTo>
                <a:lnTo>
                  <a:pt x="4938713" y="342502"/>
                </a:lnTo>
                <a:lnTo>
                  <a:pt x="5019675" y="337688"/>
                </a:lnTo>
                <a:lnTo>
                  <a:pt x="5100638" y="332595"/>
                </a:lnTo>
                <a:lnTo>
                  <a:pt x="5181600" y="327226"/>
                </a:lnTo>
                <a:lnTo>
                  <a:pt x="5262563" y="321585"/>
                </a:lnTo>
                <a:lnTo>
                  <a:pt x="5343525" y="315676"/>
                </a:lnTo>
                <a:lnTo>
                  <a:pt x="5424488" y="309503"/>
                </a:lnTo>
                <a:lnTo>
                  <a:pt x="5505450" y="303071"/>
                </a:lnTo>
                <a:lnTo>
                  <a:pt x="5586413" y="296385"/>
                </a:lnTo>
                <a:lnTo>
                  <a:pt x="5667375" y="289451"/>
                </a:lnTo>
                <a:lnTo>
                  <a:pt x="5748338" y="282273"/>
                </a:lnTo>
                <a:lnTo>
                  <a:pt x="5829300" y="274857"/>
                </a:lnTo>
                <a:lnTo>
                  <a:pt x="5910263" y="267210"/>
                </a:lnTo>
                <a:lnTo>
                  <a:pt x="5991225" y="259337"/>
                </a:lnTo>
                <a:lnTo>
                  <a:pt x="6072188" y="251245"/>
                </a:lnTo>
                <a:lnTo>
                  <a:pt x="6153150" y="242940"/>
                </a:lnTo>
                <a:lnTo>
                  <a:pt x="6234113" y="234429"/>
                </a:lnTo>
                <a:lnTo>
                  <a:pt x="6315075" y="225719"/>
                </a:lnTo>
                <a:lnTo>
                  <a:pt x="6396038" y="216818"/>
                </a:lnTo>
                <a:lnTo>
                  <a:pt x="6477000" y="207732"/>
                </a:lnTo>
                <a:lnTo>
                  <a:pt x="6557963" y="198469"/>
                </a:lnTo>
                <a:lnTo>
                  <a:pt x="6638925" y="189038"/>
                </a:lnTo>
                <a:lnTo>
                  <a:pt x="6719888" y="179445"/>
                </a:lnTo>
                <a:lnTo>
                  <a:pt x="6800850" y="169699"/>
                </a:lnTo>
                <a:lnTo>
                  <a:pt x="6881813" y="159808"/>
                </a:lnTo>
                <a:lnTo>
                  <a:pt x="6962775" y="149780"/>
                </a:lnTo>
                <a:lnTo>
                  <a:pt x="7043738" y="139624"/>
                </a:lnTo>
                <a:lnTo>
                  <a:pt x="7124700" y="129349"/>
                </a:lnTo>
                <a:lnTo>
                  <a:pt x="7205663" y="118964"/>
                </a:lnTo>
                <a:lnTo>
                  <a:pt x="7286625" y="108476"/>
                </a:lnTo>
                <a:lnTo>
                  <a:pt x="7367588" y="97895"/>
                </a:lnTo>
                <a:lnTo>
                  <a:pt x="7448550" y="87231"/>
                </a:lnTo>
                <a:lnTo>
                  <a:pt x="7529513" y="76491"/>
                </a:lnTo>
                <a:lnTo>
                  <a:pt x="7610475" y="65686"/>
                </a:lnTo>
                <a:lnTo>
                  <a:pt x="7691438" y="54825"/>
                </a:lnTo>
                <a:lnTo>
                  <a:pt x="7772400" y="43917"/>
                </a:lnTo>
                <a:lnTo>
                  <a:pt x="7853363" y="32970"/>
                </a:lnTo>
                <a:lnTo>
                  <a:pt x="7934325" y="21996"/>
                </a:lnTo>
                <a:lnTo>
                  <a:pt x="8015288" y="11003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2385">
            <a:solidFill>
              <a:srgbClr val="C56856"/>
            </a:solidFill>
            <a:prstDash val="solid"/>
          </a:ln>
        </p:spPr>
      </p:sp>
      <p:sp>
        <p:nvSpPr>
          <p:cNvPr id="19" name="path-3--arrow">
            <a:extLst xmlns:a="http://schemas.openxmlformats.org/drawingml/2006/main">
              <a:ext uri="{FF2B5EF4-FFF2-40B4-BE49-F238E27FC236}">
                <a16:creationId xmlns:a16="http://schemas.microsoft.com/office/drawing/2014/main" id="{D79FCB29-2789-4D1E-A6DD-F9EA266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262" y="3963304"/>
            <a:ext cx="133863" cy="108766"/>
          </a:xfrm>
          <a:custGeom xmlns:a="http://schemas.openxmlformats.org/drawingml/2006/main">
            <a:pathLst>
              <a:path w="133863" h="108766">
                <a:moveTo>
                  <a:pt x="133863" y="37196"/>
                </a:moveTo>
                <a:lnTo>
                  <a:pt x="0" y="0"/>
                </a:lnTo>
                <a:lnTo>
                  <a:pt x="14781" y="108766"/>
                </a:lnTo>
                <a:close/>
              </a:path>
            </a:pathLst>
          </a:custGeom>
          <a:solidFill xmlns:a="http://schemas.openxmlformats.org/drawingml/2006/main">
            <a:srgbClr val="C56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itial-3">
            <a:extLst xmlns:a="http://schemas.openxmlformats.org/drawingml/2006/main">
              <a:ext uri="{FF2B5EF4-FFF2-40B4-BE49-F238E27FC236}">
                <a16:creationId xmlns:a16="http://schemas.microsoft.com/office/drawing/2014/main" id="{EDDE66F1-41DD-4DAD-B64B-6424F038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856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1" name="final-3">
            <a:extLst xmlns:a="http://schemas.openxmlformats.org/drawingml/2006/main">
              <a:ext uri="{FF2B5EF4-FFF2-40B4-BE49-F238E27FC236}">
                <a16:creationId xmlns:a16="http://schemas.microsoft.com/office/drawing/2014/main" id="{2C742CA1-DC83-465C-96C2-5D666731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856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2" name="velocity-3">
            <a:extLst xmlns:a="http://schemas.openxmlformats.org/drawingml/2006/main">
              <a:ext uri="{FF2B5EF4-FFF2-40B4-BE49-F238E27FC236}">
                <a16:creationId xmlns:a16="http://schemas.microsoft.com/office/drawing/2014/main" id="{F5F5F210-F1C3-4DEC-BF73-8517E1BA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4130796"/>
            <a:ext cx="647700" cy="18620"/>
          </a:xfrm>
          <a:custGeom xmlns:a="http://schemas.openxmlformats.org/drawingml/2006/main">
            <a:pathLst>
              <a:path w="647700" h="18620">
                <a:moveTo>
                  <a:pt x="0" y="1862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C56856"/>
            </a:solidFill>
            <a:prstDash val="solid"/>
          </a:ln>
        </p:spPr>
      </p:sp>
      <p:sp>
        <p:nvSpPr>
          <p:cNvPr id="23" name="velocity-3--arrow">
            <a:extLst xmlns:a="http://schemas.openxmlformats.org/drawingml/2006/main">
              <a:ext uri="{FF2B5EF4-FFF2-40B4-BE49-F238E27FC236}">
                <a16:creationId xmlns:a16="http://schemas.microsoft.com/office/drawing/2014/main" id="{9284429F-8A55-4EE0-BAEB-8D3B402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108" y="4084569"/>
            <a:ext cx="116629" cy="99076"/>
          </a:xfrm>
          <a:custGeom xmlns:a="http://schemas.openxmlformats.org/drawingml/2006/main">
            <a:pathLst>
              <a:path w="116629" h="99076">
                <a:moveTo>
                  <a:pt x="116629" y="46226"/>
                </a:moveTo>
                <a:lnTo>
                  <a:pt x="0" y="0"/>
                </a:lnTo>
                <a:lnTo>
                  <a:pt x="2848" y="99076"/>
                </a:lnTo>
                <a:close/>
              </a:path>
            </a:pathLst>
          </a:custGeom>
          <a:solidFill xmlns:a="http://schemas.openxmlformats.org/drawingml/2006/main">
            <a:srgbClr val="C56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elocity-label">
            <a:extLst xmlns:a="http://schemas.openxmlformats.org/drawingml/2006/main">
              <a:ext uri="{FF2B5EF4-FFF2-40B4-BE49-F238E27FC236}">
                <a16:creationId xmlns:a16="http://schemas.microsoft.com/office/drawing/2014/main" id="{3F641E09-2C0A-4B0C-BDB9-BE948F4D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71675"/>
            <a:ext cx="228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Local velocity</a:t>
            </a:r>
          </a:p>
        </p:txBody>
      </p:sp>
      <p:sp>
        <p:nvSpPr>
          <p:cNvPr id="25" name="time-axis">
            <a:extLst xmlns:a="http://schemas.openxmlformats.org/drawingml/2006/main">
              <a:ext uri="{FF2B5EF4-FFF2-40B4-BE49-F238E27FC236}">
                <a16:creationId xmlns:a16="http://schemas.microsoft.com/office/drawing/2014/main" id="{C6297148-DBBD-4A84-9861-C2C86F4E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8334375" cy="95"/>
          </a:xfrm>
          <a:custGeom xmlns:a="http://schemas.openxmlformats.org/drawingml/2006/main">
            <a:pathLst>
              <a:path w="8334375" h="95">
                <a:moveTo>
                  <a:pt x="0" y="0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8595"/>
            </a:solidFill>
            <a:prstDash val="solid"/>
          </a:ln>
        </p:spPr>
      </p:sp>
      <p:sp>
        <p:nvSpPr>
          <p:cNvPr id="26" name="time-axis--arrow">
            <a:extLst xmlns:a="http://schemas.openxmlformats.org/drawingml/2006/main">
              <a:ext uri="{FF2B5EF4-FFF2-40B4-BE49-F238E27FC236}">
                <a16:creationId xmlns:a16="http://schemas.microsoft.com/office/drawing/2014/main" id="{EFB7FC05-335C-4EB8-B294-7D05743B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10" y="5048364"/>
            <a:ext cx="110490" cy="95021"/>
          </a:xfrm>
          <a:custGeom xmlns:a="http://schemas.openxmlformats.org/drawingml/2006/main">
            <a:pathLst>
              <a:path w="110490" h="95021">
                <a:moveTo>
                  <a:pt x="110490" y="47511"/>
                </a:moveTo>
                <a:lnTo>
                  <a:pt x="0" y="0"/>
                </a:lnTo>
                <a:lnTo>
                  <a:pt x="0" y="95021"/>
                </a:lnTo>
                <a:close/>
              </a:path>
            </a:pathLst>
          </a:custGeom>
          <a:solidFill xmlns:a="http://schemas.openxmlformats.org/drawingml/2006/main">
            <a:srgbClr val="7585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ime-start">
            <a:extLst xmlns:a="http://schemas.openxmlformats.org/drawingml/2006/main">
              <a:ext uri="{FF2B5EF4-FFF2-40B4-BE49-F238E27FC236}">
                <a16:creationId xmlns:a16="http://schemas.microsoft.com/office/drawing/2014/main" id="{2863F5E1-161F-4F5A-B089-B4BA47DE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t = 0</a:t>
            </a:r>
          </a:p>
        </p:txBody>
      </p:sp>
      <p:sp>
        <p:nvSpPr>
          <p:cNvPr id="28" name="time-end">
            <a:extLst xmlns:a="http://schemas.openxmlformats.org/drawingml/2006/main">
              <a:ext uri="{FF2B5EF4-FFF2-40B4-BE49-F238E27FC236}">
                <a16:creationId xmlns:a16="http://schemas.microsoft.com/office/drawing/2014/main" id="{33D1348B-6779-4A08-B35C-936DB456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t = 1</a:t>
            </a:r>
          </a:p>
        </p:txBody>
      </p:sp>
      <p:sp>
        <p:nvSpPr>
          <p:cNvPr id="29" name="time-label">
            <a:extLst xmlns:a="http://schemas.openxmlformats.org/drawingml/2006/main">
              <a:ext uri="{FF2B5EF4-FFF2-40B4-BE49-F238E27FC236}">
                <a16:creationId xmlns:a16="http://schemas.microsoft.com/office/drawing/2014/main" id="{5003A9D6-F503-4FE5-B630-2FA09849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time</a:t>
            </a:r>
          </a:p>
        </p:txBody>
      </p:sp>
      <p:sp>
        <p:nvSpPr>
          <p:cNvPr id="30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491C8AD4-3F08-45DC-9419-943834C8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687887"/>
                </a:solidFill>
                <a:latin typeface="Comic Sans MS"/>
                <a:ea typeface="Comic Sans MS"/>
                <a:cs typeface="Comic Sans MS"/>
              </a:rPr>
              <a:t>Illustration: each initial state follows one trajectory under a well-posed velocity field.</a:t>
            </a:r>
          </a:p>
        </p:txBody>
      </p:sp>
    </p:spTree>
    <p:extLst>
      <p:ext uri="{BB962C8B-B14F-4D97-AF65-F5344CB8AC3E}">
        <p14:creationId xmlns:p14="http://schemas.microsoft.com/office/powerpoint/2010/main" val="1932862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B17502B2-553D-4041-BB04-448CEEF9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ODE · deterministic evolution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A2757D89-F0D1-42F8-95F2-5EFA451F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dx / dt = v(x, t)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2532974-CED9-46D8-92A5-01286B5C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initial-label">
            <a:extLst xmlns:a="http://schemas.openxmlformats.org/drawingml/2006/main">
              <a:ext uri="{FF2B5EF4-FFF2-40B4-BE49-F238E27FC236}">
                <a16:creationId xmlns:a16="http://schemas.microsoft.com/office/drawing/2014/main" id="{3F75C3A6-8732-4A73-9D91-DF24133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1905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Initial states</a:t>
            </a:r>
          </a:p>
        </p:txBody>
      </p:sp>
      <p:sp>
        <p:nvSpPr>
          <p:cNvPr id="5" name="terminal-label">
            <a:extLst xmlns:a="http://schemas.openxmlformats.org/drawingml/2006/main">
              <a:ext uri="{FF2B5EF4-FFF2-40B4-BE49-F238E27FC236}">
                <a16:creationId xmlns:a16="http://schemas.microsoft.com/office/drawing/2014/main" id="{6530A229-DE02-482C-8FCC-7BDE6B3E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1905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Final states</a:t>
            </a:r>
          </a:p>
        </p:txBody>
      </p:sp>
      <p:sp>
        <p:nvSpPr>
          <p:cNvPr id="6" name="path-1">
            <a:extLst xmlns:a="http://schemas.openxmlformats.org/drawingml/2006/main">
              <a:ext uri="{FF2B5EF4-FFF2-40B4-BE49-F238E27FC236}">
                <a16:creationId xmlns:a16="http://schemas.microsoft.com/office/drawing/2014/main" id="{DA5E372C-71EC-4BDD-915E-76702FB8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8096250" cy="406081"/>
          </a:xfrm>
          <a:custGeom xmlns:a="http://schemas.openxmlformats.org/drawingml/2006/main">
            <a:pathLst>
              <a:path w="8096250" h="406081">
                <a:moveTo>
                  <a:pt x="0" y="190500"/>
                </a:moveTo>
                <a:lnTo>
                  <a:pt x="80963" y="198169"/>
                </a:lnTo>
                <a:lnTo>
                  <a:pt x="161925" y="205829"/>
                </a:lnTo>
                <a:lnTo>
                  <a:pt x="242888" y="213469"/>
                </a:lnTo>
                <a:lnTo>
                  <a:pt x="323850" y="221082"/>
                </a:lnTo>
                <a:lnTo>
                  <a:pt x="404813" y="228656"/>
                </a:lnTo>
                <a:lnTo>
                  <a:pt x="485775" y="236184"/>
                </a:lnTo>
                <a:lnTo>
                  <a:pt x="566738" y="243655"/>
                </a:lnTo>
                <a:lnTo>
                  <a:pt x="647700" y="251061"/>
                </a:lnTo>
                <a:lnTo>
                  <a:pt x="728663" y="258391"/>
                </a:lnTo>
                <a:lnTo>
                  <a:pt x="809625" y="265638"/>
                </a:lnTo>
                <a:lnTo>
                  <a:pt x="890588" y="272792"/>
                </a:lnTo>
                <a:lnTo>
                  <a:pt x="971550" y="279844"/>
                </a:lnTo>
                <a:lnTo>
                  <a:pt x="1052513" y="286786"/>
                </a:lnTo>
                <a:lnTo>
                  <a:pt x="1133475" y="293608"/>
                </a:lnTo>
                <a:lnTo>
                  <a:pt x="1214438" y="300301"/>
                </a:lnTo>
                <a:lnTo>
                  <a:pt x="1295400" y="306859"/>
                </a:lnTo>
                <a:lnTo>
                  <a:pt x="1376363" y="313271"/>
                </a:lnTo>
                <a:lnTo>
                  <a:pt x="1457325" y="319530"/>
                </a:lnTo>
                <a:lnTo>
                  <a:pt x="1538288" y="325628"/>
                </a:lnTo>
                <a:lnTo>
                  <a:pt x="1619250" y="331557"/>
                </a:lnTo>
                <a:lnTo>
                  <a:pt x="1700213" y="337309"/>
                </a:lnTo>
                <a:lnTo>
                  <a:pt x="1781175" y="342877"/>
                </a:lnTo>
                <a:lnTo>
                  <a:pt x="1862138" y="348253"/>
                </a:lnTo>
                <a:lnTo>
                  <a:pt x="1943100" y="353430"/>
                </a:lnTo>
                <a:lnTo>
                  <a:pt x="2024063" y="358401"/>
                </a:lnTo>
                <a:lnTo>
                  <a:pt x="2105025" y="363160"/>
                </a:lnTo>
                <a:lnTo>
                  <a:pt x="2185988" y="367699"/>
                </a:lnTo>
                <a:lnTo>
                  <a:pt x="2266950" y="372012"/>
                </a:lnTo>
                <a:lnTo>
                  <a:pt x="2347913" y="376094"/>
                </a:lnTo>
                <a:lnTo>
                  <a:pt x="2428875" y="379938"/>
                </a:lnTo>
                <a:lnTo>
                  <a:pt x="2509838" y="383539"/>
                </a:lnTo>
                <a:lnTo>
                  <a:pt x="2590800" y="386891"/>
                </a:lnTo>
                <a:lnTo>
                  <a:pt x="2671763" y="389989"/>
                </a:lnTo>
                <a:lnTo>
                  <a:pt x="2752725" y="392828"/>
                </a:lnTo>
                <a:lnTo>
                  <a:pt x="2833688" y="395404"/>
                </a:lnTo>
                <a:lnTo>
                  <a:pt x="2914650" y="397711"/>
                </a:lnTo>
                <a:lnTo>
                  <a:pt x="2995613" y="399747"/>
                </a:lnTo>
                <a:lnTo>
                  <a:pt x="3076575" y="401506"/>
                </a:lnTo>
                <a:lnTo>
                  <a:pt x="3157538" y="402985"/>
                </a:lnTo>
                <a:lnTo>
                  <a:pt x="3238500" y="404182"/>
                </a:lnTo>
                <a:lnTo>
                  <a:pt x="3319463" y="405093"/>
                </a:lnTo>
                <a:lnTo>
                  <a:pt x="3400425" y="405714"/>
                </a:lnTo>
                <a:lnTo>
                  <a:pt x="3481388" y="406044"/>
                </a:lnTo>
                <a:lnTo>
                  <a:pt x="3562350" y="406081"/>
                </a:lnTo>
                <a:lnTo>
                  <a:pt x="3643313" y="405822"/>
                </a:lnTo>
                <a:lnTo>
                  <a:pt x="3724275" y="405267"/>
                </a:lnTo>
                <a:lnTo>
                  <a:pt x="3805238" y="404412"/>
                </a:lnTo>
                <a:lnTo>
                  <a:pt x="3886200" y="403259"/>
                </a:lnTo>
                <a:lnTo>
                  <a:pt x="3967163" y="401805"/>
                </a:lnTo>
                <a:lnTo>
                  <a:pt x="4048125" y="400050"/>
                </a:lnTo>
                <a:lnTo>
                  <a:pt x="4129088" y="397995"/>
                </a:lnTo>
                <a:lnTo>
                  <a:pt x="4210050" y="395639"/>
                </a:lnTo>
                <a:lnTo>
                  <a:pt x="4291013" y="392982"/>
                </a:lnTo>
                <a:lnTo>
                  <a:pt x="4371975" y="390027"/>
                </a:lnTo>
                <a:lnTo>
                  <a:pt x="4452938" y="386772"/>
                </a:lnTo>
                <a:lnTo>
                  <a:pt x="4533900" y="383221"/>
                </a:lnTo>
                <a:lnTo>
                  <a:pt x="4614863" y="379374"/>
                </a:lnTo>
                <a:lnTo>
                  <a:pt x="4695825" y="375234"/>
                </a:lnTo>
                <a:lnTo>
                  <a:pt x="4776788" y="370803"/>
                </a:lnTo>
                <a:lnTo>
                  <a:pt x="4857750" y="366082"/>
                </a:lnTo>
                <a:lnTo>
                  <a:pt x="4938713" y="361075"/>
                </a:lnTo>
                <a:lnTo>
                  <a:pt x="5019675" y="355786"/>
                </a:lnTo>
                <a:lnTo>
                  <a:pt x="5100638" y="350217"/>
                </a:lnTo>
                <a:lnTo>
                  <a:pt x="5181600" y="344371"/>
                </a:lnTo>
                <a:lnTo>
                  <a:pt x="5262563" y="338254"/>
                </a:lnTo>
                <a:lnTo>
                  <a:pt x="5343525" y="331868"/>
                </a:lnTo>
                <a:lnTo>
                  <a:pt x="5424488" y="325219"/>
                </a:lnTo>
                <a:lnTo>
                  <a:pt x="5505450" y="318311"/>
                </a:lnTo>
                <a:lnTo>
                  <a:pt x="5586413" y="311149"/>
                </a:lnTo>
                <a:lnTo>
                  <a:pt x="5667375" y="303738"/>
                </a:lnTo>
                <a:lnTo>
                  <a:pt x="5748338" y="296084"/>
                </a:lnTo>
                <a:lnTo>
                  <a:pt x="5829300" y="288192"/>
                </a:lnTo>
                <a:lnTo>
                  <a:pt x="5910263" y="280069"/>
                </a:lnTo>
                <a:lnTo>
                  <a:pt x="5991225" y="271720"/>
                </a:lnTo>
                <a:lnTo>
                  <a:pt x="6072188" y="263151"/>
                </a:lnTo>
                <a:lnTo>
                  <a:pt x="6153150" y="254370"/>
                </a:lnTo>
                <a:lnTo>
                  <a:pt x="6234113" y="245383"/>
                </a:lnTo>
                <a:lnTo>
                  <a:pt x="6315075" y="236197"/>
                </a:lnTo>
                <a:lnTo>
                  <a:pt x="6396038" y="226819"/>
                </a:lnTo>
                <a:lnTo>
                  <a:pt x="6477000" y="217257"/>
                </a:lnTo>
                <a:lnTo>
                  <a:pt x="6557963" y="207518"/>
                </a:lnTo>
                <a:lnTo>
                  <a:pt x="6638925" y="197610"/>
                </a:lnTo>
                <a:lnTo>
                  <a:pt x="6719888" y="187541"/>
                </a:lnTo>
                <a:lnTo>
                  <a:pt x="6800850" y="177319"/>
                </a:lnTo>
                <a:lnTo>
                  <a:pt x="6881813" y="166951"/>
                </a:lnTo>
                <a:lnTo>
                  <a:pt x="6962775" y="156448"/>
                </a:lnTo>
                <a:lnTo>
                  <a:pt x="7043738" y="145816"/>
                </a:lnTo>
                <a:lnTo>
                  <a:pt x="7124700" y="135064"/>
                </a:lnTo>
                <a:lnTo>
                  <a:pt x="7205663" y="124202"/>
                </a:lnTo>
                <a:lnTo>
                  <a:pt x="7286625" y="113238"/>
                </a:lnTo>
                <a:lnTo>
                  <a:pt x="7367588" y="102181"/>
                </a:lnTo>
                <a:lnTo>
                  <a:pt x="7448550" y="91041"/>
                </a:lnTo>
                <a:lnTo>
                  <a:pt x="7529513" y="79825"/>
                </a:lnTo>
                <a:lnTo>
                  <a:pt x="7610475" y="68544"/>
                </a:lnTo>
                <a:lnTo>
                  <a:pt x="7691438" y="57206"/>
                </a:lnTo>
                <a:lnTo>
                  <a:pt x="7772400" y="45822"/>
                </a:lnTo>
                <a:lnTo>
                  <a:pt x="7853363" y="34399"/>
                </a:lnTo>
                <a:lnTo>
                  <a:pt x="7934325" y="22949"/>
                </a:lnTo>
                <a:lnTo>
                  <a:pt x="8015288" y="11479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3C608C"/>
            </a:solidFill>
            <a:prstDash val="solid"/>
          </a:ln>
        </p:spPr>
      </p:sp>
      <p:sp>
        <p:nvSpPr>
          <p:cNvPr id="7" name="path-1--arrow">
            <a:extLst xmlns:a="http://schemas.openxmlformats.org/drawingml/2006/main">
              <a:ext uri="{FF2B5EF4-FFF2-40B4-BE49-F238E27FC236}">
                <a16:creationId xmlns:a16="http://schemas.microsoft.com/office/drawing/2014/main" id="{43806A4C-3F21-43F7-BB0E-F34558F6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056" y="2300192"/>
            <a:ext cx="123069" cy="99758"/>
          </a:xfrm>
          <a:custGeom xmlns:a="http://schemas.openxmlformats.org/drawingml/2006/main">
            <a:pathLst>
              <a:path w="123069" h="99758">
                <a:moveTo>
                  <a:pt x="123069" y="33433"/>
                </a:moveTo>
                <a:lnTo>
                  <a:pt x="0" y="0"/>
                </a:lnTo>
                <a:lnTo>
                  <a:pt x="14144" y="99758"/>
                </a:lnTo>
                <a:close/>
              </a:path>
            </a:pathLst>
          </a:custGeom>
          <a:solidFill xmlns:a="http://schemas.openxmlformats.org/drawingml/2006/main">
            <a:srgbClr val="3C6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itial-1">
            <a:extLst xmlns:a="http://schemas.openxmlformats.org/drawingml/2006/main">
              <a:ext uri="{FF2B5EF4-FFF2-40B4-BE49-F238E27FC236}">
                <a16:creationId xmlns:a16="http://schemas.microsoft.com/office/drawing/2014/main" id="{853279E3-B688-4E20-8A69-FDF30E09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08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final-1">
            <a:extLst xmlns:a="http://schemas.openxmlformats.org/drawingml/2006/main">
              <a:ext uri="{FF2B5EF4-FFF2-40B4-BE49-F238E27FC236}">
                <a16:creationId xmlns:a16="http://schemas.microsoft.com/office/drawing/2014/main" id="{D93A4552-83C5-4959-BF42-38269404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257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08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velocity-1">
            <a:extLst xmlns:a="http://schemas.openxmlformats.org/drawingml/2006/main">
              <a:ext uri="{FF2B5EF4-FFF2-40B4-BE49-F238E27FC236}">
                <a16:creationId xmlns:a16="http://schemas.microsoft.com/office/drawing/2014/main" id="{1DE6EFD4-DAF8-4114-A51E-10FA967E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484399"/>
            <a:ext cx="647700" cy="22430"/>
          </a:xfrm>
          <a:custGeom xmlns:a="http://schemas.openxmlformats.org/drawingml/2006/main">
            <a:pathLst>
              <a:path w="647700" h="22430">
                <a:moveTo>
                  <a:pt x="0" y="2243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3C608C"/>
            </a:solidFill>
            <a:prstDash val="solid"/>
          </a:ln>
        </p:spPr>
      </p:sp>
      <p:sp>
        <p:nvSpPr>
          <p:cNvPr id="11" name="velocity-1--arrow">
            <a:extLst xmlns:a="http://schemas.openxmlformats.org/drawingml/2006/main">
              <a:ext uri="{FF2B5EF4-FFF2-40B4-BE49-F238E27FC236}">
                <a16:creationId xmlns:a16="http://schemas.microsoft.com/office/drawing/2014/main" id="{67C154BD-EA57-4EBC-840A-C3847D23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839" y="2438859"/>
            <a:ext cx="116899" cy="99058"/>
          </a:xfrm>
          <a:custGeom xmlns:a="http://schemas.openxmlformats.org/drawingml/2006/main">
            <a:pathLst>
              <a:path w="116899" h="99058">
                <a:moveTo>
                  <a:pt x="116899" y="45540"/>
                </a:moveTo>
                <a:lnTo>
                  <a:pt x="0" y="0"/>
                </a:lnTo>
                <a:lnTo>
                  <a:pt x="3430" y="99058"/>
                </a:lnTo>
                <a:close/>
              </a:path>
            </a:pathLst>
          </a:custGeom>
          <a:solidFill xmlns:a="http://schemas.openxmlformats.org/drawingml/2006/main">
            <a:srgbClr val="3C6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2">
            <a:extLst xmlns:a="http://schemas.openxmlformats.org/drawingml/2006/main">
              <a:ext uri="{FF2B5EF4-FFF2-40B4-BE49-F238E27FC236}">
                <a16:creationId xmlns:a16="http://schemas.microsoft.com/office/drawing/2014/main" id="{F06D4052-8B03-4982-94A1-A51C439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90875"/>
            <a:ext cx="8096250" cy="379629"/>
          </a:xfrm>
          <a:custGeom xmlns:a="http://schemas.openxmlformats.org/drawingml/2006/main">
            <a:pathLst>
              <a:path w="8096250" h="379629">
                <a:moveTo>
                  <a:pt x="0" y="142875"/>
                </a:moveTo>
                <a:lnTo>
                  <a:pt x="80963" y="151020"/>
                </a:lnTo>
                <a:lnTo>
                  <a:pt x="161925" y="159156"/>
                </a:lnTo>
                <a:lnTo>
                  <a:pt x="242888" y="167273"/>
                </a:lnTo>
                <a:lnTo>
                  <a:pt x="323850" y="175362"/>
                </a:lnTo>
                <a:lnTo>
                  <a:pt x="404813" y="183412"/>
                </a:lnTo>
                <a:lnTo>
                  <a:pt x="485775" y="191416"/>
                </a:lnTo>
                <a:lnTo>
                  <a:pt x="566738" y="199364"/>
                </a:lnTo>
                <a:lnTo>
                  <a:pt x="647700" y="207246"/>
                </a:lnTo>
                <a:lnTo>
                  <a:pt x="728663" y="215053"/>
                </a:lnTo>
                <a:lnTo>
                  <a:pt x="809625" y="222776"/>
                </a:lnTo>
                <a:lnTo>
                  <a:pt x="890588" y="230406"/>
                </a:lnTo>
                <a:lnTo>
                  <a:pt x="971550" y="237934"/>
                </a:lnTo>
                <a:lnTo>
                  <a:pt x="1052513" y="245352"/>
                </a:lnTo>
                <a:lnTo>
                  <a:pt x="1133475" y="252650"/>
                </a:lnTo>
                <a:lnTo>
                  <a:pt x="1214438" y="259820"/>
                </a:lnTo>
                <a:lnTo>
                  <a:pt x="1295400" y="266854"/>
                </a:lnTo>
                <a:lnTo>
                  <a:pt x="1376363" y="273742"/>
                </a:lnTo>
                <a:lnTo>
                  <a:pt x="1457325" y="280478"/>
                </a:lnTo>
                <a:lnTo>
                  <a:pt x="1538288" y="287052"/>
                </a:lnTo>
                <a:lnTo>
                  <a:pt x="1619250" y="293457"/>
                </a:lnTo>
                <a:lnTo>
                  <a:pt x="1700213" y="299685"/>
                </a:lnTo>
                <a:lnTo>
                  <a:pt x="1781175" y="305729"/>
                </a:lnTo>
                <a:lnTo>
                  <a:pt x="1862138" y="311582"/>
                </a:lnTo>
                <a:lnTo>
                  <a:pt x="1943100" y="317235"/>
                </a:lnTo>
                <a:lnTo>
                  <a:pt x="2024063" y="322682"/>
                </a:lnTo>
                <a:lnTo>
                  <a:pt x="2105025" y="327917"/>
                </a:lnTo>
                <a:lnTo>
                  <a:pt x="2185988" y="332933"/>
                </a:lnTo>
                <a:lnTo>
                  <a:pt x="2266950" y="337722"/>
                </a:lnTo>
                <a:lnTo>
                  <a:pt x="2347913" y="342280"/>
                </a:lnTo>
                <a:lnTo>
                  <a:pt x="2428875" y="346601"/>
                </a:lnTo>
                <a:lnTo>
                  <a:pt x="2509838" y="350678"/>
                </a:lnTo>
                <a:lnTo>
                  <a:pt x="2590800" y="354506"/>
                </a:lnTo>
                <a:lnTo>
                  <a:pt x="2671763" y="358080"/>
                </a:lnTo>
                <a:lnTo>
                  <a:pt x="2752725" y="361396"/>
                </a:lnTo>
                <a:lnTo>
                  <a:pt x="2833688" y="364448"/>
                </a:lnTo>
                <a:lnTo>
                  <a:pt x="2914650" y="367231"/>
                </a:lnTo>
                <a:lnTo>
                  <a:pt x="2995613" y="369743"/>
                </a:lnTo>
                <a:lnTo>
                  <a:pt x="3076575" y="371978"/>
                </a:lnTo>
                <a:lnTo>
                  <a:pt x="3157538" y="373934"/>
                </a:lnTo>
                <a:lnTo>
                  <a:pt x="3238500" y="375607"/>
                </a:lnTo>
                <a:lnTo>
                  <a:pt x="3319463" y="376994"/>
                </a:lnTo>
                <a:lnTo>
                  <a:pt x="3400425" y="378092"/>
                </a:lnTo>
                <a:lnTo>
                  <a:pt x="3481388" y="378898"/>
                </a:lnTo>
                <a:lnTo>
                  <a:pt x="3562350" y="379411"/>
                </a:lnTo>
                <a:lnTo>
                  <a:pt x="3643313" y="379629"/>
                </a:lnTo>
                <a:lnTo>
                  <a:pt x="3724275" y="379549"/>
                </a:lnTo>
                <a:lnTo>
                  <a:pt x="3805238" y="379171"/>
                </a:lnTo>
                <a:lnTo>
                  <a:pt x="3886200" y="378494"/>
                </a:lnTo>
                <a:lnTo>
                  <a:pt x="3967163" y="377516"/>
                </a:lnTo>
                <a:lnTo>
                  <a:pt x="4048125" y="376238"/>
                </a:lnTo>
                <a:lnTo>
                  <a:pt x="4129088" y="374658"/>
                </a:lnTo>
                <a:lnTo>
                  <a:pt x="4210050" y="372779"/>
                </a:lnTo>
                <a:lnTo>
                  <a:pt x="4291013" y="370599"/>
                </a:lnTo>
                <a:lnTo>
                  <a:pt x="4371975" y="368119"/>
                </a:lnTo>
                <a:lnTo>
                  <a:pt x="4452938" y="365341"/>
                </a:lnTo>
                <a:lnTo>
                  <a:pt x="4533900" y="362266"/>
                </a:lnTo>
                <a:lnTo>
                  <a:pt x="4614863" y="358896"/>
                </a:lnTo>
                <a:lnTo>
                  <a:pt x="4695825" y="355232"/>
                </a:lnTo>
                <a:lnTo>
                  <a:pt x="4776788" y="351276"/>
                </a:lnTo>
                <a:lnTo>
                  <a:pt x="4857750" y="347032"/>
                </a:lnTo>
                <a:lnTo>
                  <a:pt x="4938713" y="342502"/>
                </a:lnTo>
                <a:lnTo>
                  <a:pt x="5019675" y="337688"/>
                </a:lnTo>
                <a:lnTo>
                  <a:pt x="5100638" y="332595"/>
                </a:lnTo>
                <a:lnTo>
                  <a:pt x="5181600" y="327226"/>
                </a:lnTo>
                <a:lnTo>
                  <a:pt x="5262563" y="321585"/>
                </a:lnTo>
                <a:lnTo>
                  <a:pt x="5343525" y="315676"/>
                </a:lnTo>
                <a:lnTo>
                  <a:pt x="5424488" y="309503"/>
                </a:lnTo>
                <a:lnTo>
                  <a:pt x="5505450" y="303071"/>
                </a:lnTo>
                <a:lnTo>
                  <a:pt x="5586413" y="296385"/>
                </a:lnTo>
                <a:lnTo>
                  <a:pt x="5667375" y="289451"/>
                </a:lnTo>
                <a:lnTo>
                  <a:pt x="5748338" y="282273"/>
                </a:lnTo>
                <a:lnTo>
                  <a:pt x="5829300" y="274857"/>
                </a:lnTo>
                <a:lnTo>
                  <a:pt x="5910263" y="267210"/>
                </a:lnTo>
                <a:lnTo>
                  <a:pt x="5991225" y="259337"/>
                </a:lnTo>
                <a:lnTo>
                  <a:pt x="6072188" y="251245"/>
                </a:lnTo>
                <a:lnTo>
                  <a:pt x="6153150" y="242940"/>
                </a:lnTo>
                <a:lnTo>
                  <a:pt x="6234113" y="234429"/>
                </a:lnTo>
                <a:lnTo>
                  <a:pt x="6315075" y="225719"/>
                </a:lnTo>
                <a:lnTo>
                  <a:pt x="6396038" y="216818"/>
                </a:lnTo>
                <a:lnTo>
                  <a:pt x="6477000" y="207732"/>
                </a:lnTo>
                <a:lnTo>
                  <a:pt x="6557963" y="198469"/>
                </a:lnTo>
                <a:lnTo>
                  <a:pt x="6638925" y="189038"/>
                </a:lnTo>
                <a:lnTo>
                  <a:pt x="6719888" y="179445"/>
                </a:lnTo>
                <a:lnTo>
                  <a:pt x="6800850" y="169699"/>
                </a:lnTo>
                <a:lnTo>
                  <a:pt x="6881813" y="159808"/>
                </a:lnTo>
                <a:lnTo>
                  <a:pt x="6962775" y="149780"/>
                </a:lnTo>
                <a:lnTo>
                  <a:pt x="7043738" y="139624"/>
                </a:lnTo>
                <a:lnTo>
                  <a:pt x="7124700" y="129349"/>
                </a:lnTo>
                <a:lnTo>
                  <a:pt x="7205663" y="118964"/>
                </a:lnTo>
                <a:lnTo>
                  <a:pt x="7286625" y="108476"/>
                </a:lnTo>
                <a:lnTo>
                  <a:pt x="7367588" y="97895"/>
                </a:lnTo>
                <a:lnTo>
                  <a:pt x="7448550" y="87231"/>
                </a:lnTo>
                <a:lnTo>
                  <a:pt x="7529513" y="76491"/>
                </a:lnTo>
                <a:lnTo>
                  <a:pt x="7610475" y="65686"/>
                </a:lnTo>
                <a:lnTo>
                  <a:pt x="7691438" y="54825"/>
                </a:lnTo>
                <a:lnTo>
                  <a:pt x="7772400" y="43917"/>
                </a:lnTo>
                <a:lnTo>
                  <a:pt x="7853363" y="32970"/>
                </a:lnTo>
                <a:lnTo>
                  <a:pt x="7934325" y="21996"/>
                </a:lnTo>
                <a:lnTo>
                  <a:pt x="8015288" y="11003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577D68"/>
            </a:solidFill>
            <a:prstDash val="solid"/>
          </a:ln>
        </p:spPr>
      </p:sp>
      <p:sp>
        <p:nvSpPr>
          <p:cNvPr id="13" name="path-2--arrow">
            <a:extLst xmlns:a="http://schemas.openxmlformats.org/drawingml/2006/main">
              <a:ext uri="{FF2B5EF4-FFF2-40B4-BE49-F238E27FC236}">
                <a16:creationId xmlns:a16="http://schemas.microsoft.com/office/drawing/2014/main" id="{5ADC4FB2-7361-421F-B67A-1C3DF8E4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251" y="3156733"/>
            <a:ext cx="122874" cy="99838"/>
          </a:xfrm>
          <a:custGeom xmlns:a="http://schemas.openxmlformats.org/drawingml/2006/main">
            <a:pathLst>
              <a:path w="122874" h="99838">
                <a:moveTo>
                  <a:pt x="122874" y="34142"/>
                </a:moveTo>
                <a:lnTo>
                  <a:pt x="0" y="0"/>
                </a:lnTo>
                <a:lnTo>
                  <a:pt x="13568" y="99838"/>
                </a:lnTo>
                <a:close/>
              </a:path>
            </a:pathLst>
          </a:custGeom>
          <a:solidFill xmlns:a="http://schemas.openxmlformats.org/drawingml/2006/main">
            <a:srgbClr val="57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itial-2">
            <a:extLst xmlns:a="http://schemas.openxmlformats.org/drawingml/2006/main">
              <a:ext uri="{FF2B5EF4-FFF2-40B4-BE49-F238E27FC236}">
                <a16:creationId xmlns:a16="http://schemas.microsoft.com/office/drawing/2014/main" id="{655A978E-FDA9-4CAA-BA99-05AFC57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D6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final-2">
            <a:extLst xmlns:a="http://schemas.openxmlformats.org/drawingml/2006/main">
              <a:ext uri="{FF2B5EF4-FFF2-40B4-BE49-F238E27FC236}">
                <a16:creationId xmlns:a16="http://schemas.microsoft.com/office/drawing/2014/main" id="{63C10E73-D6FB-49DC-A4EE-39FFFA81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D6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velocity-2">
            <a:extLst xmlns:a="http://schemas.openxmlformats.org/drawingml/2006/main">
              <a:ext uri="{FF2B5EF4-FFF2-40B4-BE49-F238E27FC236}">
                <a16:creationId xmlns:a16="http://schemas.microsoft.com/office/drawing/2014/main" id="{91DC6511-AEF9-4EC9-9E06-59EEEB0F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3321171"/>
            <a:ext cx="647700" cy="18620"/>
          </a:xfrm>
          <a:custGeom xmlns:a="http://schemas.openxmlformats.org/drawingml/2006/main">
            <a:pathLst>
              <a:path w="647700" h="18620">
                <a:moveTo>
                  <a:pt x="0" y="1862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577D68"/>
            </a:solidFill>
            <a:prstDash val="solid"/>
          </a:ln>
        </p:spPr>
      </p:sp>
      <p:sp>
        <p:nvSpPr>
          <p:cNvPr id="17" name="velocity-2--arrow">
            <a:extLst xmlns:a="http://schemas.openxmlformats.org/drawingml/2006/main">
              <a:ext uri="{FF2B5EF4-FFF2-40B4-BE49-F238E27FC236}">
                <a16:creationId xmlns:a16="http://schemas.microsoft.com/office/drawing/2014/main" id="{68CC6C23-C299-4D5A-9710-64FC4636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108" y="3274944"/>
            <a:ext cx="116629" cy="99076"/>
          </a:xfrm>
          <a:custGeom xmlns:a="http://schemas.openxmlformats.org/drawingml/2006/main">
            <a:pathLst>
              <a:path w="116629" h="99076">
                <a:moveTo>
                  <a:pt x="116629" y="46226"/>
                </a:moveTo>
                <a:lnTo>
                  <a:pt x="0" y="0"/>
                </a:lnTo>
                <a:lnTo>
                  <a:pt x="2848" y="99076"/>
                </a:lnTo>
                <a:close/>
              </a:path>
            </a:pathLst>
          </a:custGeom>
          <a:solidFill xmlns:a="http://schemas.openxmlformats.org/drawingml/2006/main">
            <a:srgbClr val="57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3">
            <a:extLst xmlns:a="http://schemas.openxmlformats.org/drawingml/2006/main">
              <a:ext uri="{FF2B5EF4-FFF2-40B4-BE49-F238E27FC236}">
                <a16:creationId xmlns:a16="http://schemas.microsoft.com/office/drawing/2014/main" id="{B6697E25-8755-4141-A698-E58C5476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8096250" cy="379629"/>
          </a:xfrm>
          <a:custGeom xmlns:a="http://schemas.openxmlformats.org/drawingml/2006/main">
            <a:pathLst>
              <a:path w="8096250" h="379629">
                <a:moveTo>
                  <a:pt x="0" y="142875"/>
                </a:moveTo>
                <a:lnTo>
                  <a:pt x="80963" y="151020"/>
                </a:lnTo>
                <a:lnTo>
                  <a:pt x="161925" y="159156"/>
                </a:lnTo>
                <a:lnTo>
                  <a:pt x="242888" y="167273"/>
                </a:lnTo>
                <a:lnTo>
                  <a:pt x="323850" y="175362"/>
                </a:lnTo>
                <a:lnTo>
                  <a:pt x="404813" y="183412"/>
                </a:lnTo>
                <a:lnTo>
                  <a:pt x="485775" y="191416"/>
                </a:lnTo>
                <a:lnTo>
                  <a:pt x="566738" y="199364"/>
                </a:lnTo>
                <a:lnTo>
                  <a:pt x="647700" y="207246"/>
                </a:lnTo>
                <a:lnTo>
                  <a:pt x="728663" y="215053"/>
                </a:lnTo>
                <a:lnTo>
                  <a:pt x="809625" y="222776"/>
                </a:lnTo>
                <a:lnTo>
                  <a:pt x="890588" y="230406"/>
                </a:lnTo>
                <a:lnTo>
                  <a:pt x="971550" y="237934"/>
                </a:lnTo>
                <a:lnTo>
                  <a:pt x="1052513" y="245352"/>
                </a:lnTo>
                <a:lnTo>
                  <a:pt x="1133475" y="252650"/>
                </a:lnTo>
                <a:lnTo>
                  <a:pt x="1214438" y="259820"/>
                </a:lnTo>
                <a:lnTo>
                  <a:pt x="1295400" y="266854"/>
                </a:lnTo>
                <a:lnTo>
                  <a:pt x="1376363" y="273742"/>
                </a:lnTo>
                <a:lnTo>
                  <a:pt x="1457325" y="280478"/>
                </a:lnTo>
                <a:lnTo>
                  <a:pt x="1538288" y="287052"/>
                </a:lnTo>
                <a:lnTo>
                  <a:pt x="1619250" y="293457"/>
                </a:lnTo>
                <a:lnTo>
                  <a:pt x="1700213" y="299685"/>
                </a:lnTo>
                <a:lnTo>
                  <a:pt x="1781175" y="305729"/>
                </a:lnTo>
                <a:lnTo>
                  <a:pt x="1862138" y="311582"/>
                </a:lnTo>
                <a:lnTo>
                  <a:pt x="1943100" y="317235"/>
                </a:lnTo>
                <a:lnTo>
                  <a:pt x="2024063" y="322682"/>
                </a:lnTo>
                <a:lnTo>
                  <a:pt x="2105025" y="327917"/>
                </a:lnTo>
                <a:lnTo>
                  <a:pt x="2185988" y="332933"/>
                </a:lnTo>
                <a:lnTo>
                  <a:pt x="2266950" y="337722"/>
                </a:lnTo>
                <a:lnTo>
                  <a:pt x="2347913" y="342280"/>
                </a:lnTo>
                <a:lnTo>
                  <a:pt x="2428875" y="346601"/>
                </a:lnTo>
                <a:lnTo>
                  <a:pt x="2509838" y="350678"/>
                </a:lnTo>
                <a:lnTo>
                  <a:pt x="2590800" y="354506"/>
                </a:lnTo>
                <a:lnTo>
                  <a:pt x="2671763" y="358080"/>
                </a:lnTo>
                <a:lnTo>
                  <a:pt x="2752725" y="361396"/>
                </a:lnTo>
                <a:lnTo>
                  <a:pt x="2833688" y="364448"/>
                </a:lnTo>
                <a:lnTo>
                  <a:pt x="2914650" y="367231"/>
                </a:lnTo>
                <a:lnTo>
                  <a:pt x="2995613" y="369743"/>
                </a:lnTo>
                <a:lnTo>
                  <a:pt x="3076575" y="371978"/>
                </a:lnTo>
                <a:lnTo>
                  <a:pt x="3157538" y="373934"/>
                </a:lnTo>
                <a:lnTo>
                  <a:pt x="3238500" y="375607"/>
                </a:lnTo>
                <a:lnTo>
                  <a:pt x="3319463" y="376994"/>
                </a:lnTo>
                <a:lnTo>
                  <a:pt x="3400425" y="378092"/>
                </a:lnTo>
                <a:lnTo>
                  <a:pt x="3481388" y="378898"/>
                </a:lnTo>
                <a:lnTo>
                  <a:pt x="3562350" y="379411"/>
                </a:lnTo>
                <a:lnTo>
                  <a:pt x="3643313" y="379629"/>
                </a:lnTo>
                <a:lnTo>
                  <a:pt x="3724275" y="379549"/>
                </a:lnTo>
                <a:lnTo>
                  <a:pt x="3805238" y="379171"/>
                </a:lnTo>
                <a:lnTo>
                  <a:pt x="3886200" y="378494"/>
                </a:lnTo>
                <a:lnTo>
                  <a:pt x="3967163" y="377516"/>
                </a:lnTo>
                <a:lnTo>
                  <a:pt x="4048125" y="376238"/>
                </a:lnTo>
                <a:lnTo>
                  <a:pt x="4129088" y="374658"/>
                </a:lnTo>
                <a:lnTo>
                  <a:pt x="4210050" y="372779"/>
                </a:lnTo>
                <a:lnTo>
                  <a:pt x="4291013" y="370599"/>
                </a:lnTo>
                <a:lnTo>
                  <a:pt x="4371975" y="368119"/>
                </a:lnTo>
                <a:lnTo>
                  <a:pt x="4452938" y="365341"/>
                </a:lnTo>
                <a:lnTo>
                  <a:pt x="4533900" y="362266"/>
                </a:lnTo>
                <a:lnTo>
                  <a:pt x="4614863" y="358896"/>
                </a:lnTo>
                <a:lnTo>
                  <a:pt x="4695825" y="355232"/>
                </a:lnTo>
                <a:lnTo>
                  <a:pt x="4776788" y="351276"/>
                </a:lnTo>
                <a:lnTo>
                  <a:pt x="4857750" y="347032"/>
                </a:lnTo>
                <a:lnTo>
                  <a:pt x="4938713" y="342502"/>
                </a:lnTo>
                <a:lnTo>
                  <a:pt x="5019675" y="337688"/>
                </a:lnTo>
                <a:lnTo>
                  <a:pt x="5100638" y="332595"/>
                </a:lnTo>
                <a:lnTo>
                  <a:pt x="5181600" y="327226"/>
                </a:lnTo>
                <a:lnTo>
                  <a:pt x="5262563" y="321585"/>
                </a:lnTo>
                <a:lnTo>
                  <a:pt x="5343525" y="315676"/>
                </a:lnTo>
                <a:lnTo>
                  <a:pt x="5424488" y="309503"/>
                </a:lnTo>
                <a:lnTo>
                  <a:pt x="5505450" y="303071"/>
                </a:lnTo>
                <a:lnTo>
                  <a:pt x="5586413" y="296385"/>
                </a:lnTo>
                <a:lnTo>
                  <a:pt x="5667375" y="289451"/>
                </a:lnTo>
                <a:lnTo>
                  <a:pt x="5748338" y="282273"/>
                </a:lnTo>
                <a:lnTo>
                  <a:pt x="5829300" y="274857"/>
                </a:lnTo>
                <a:lnTo>
                  <a:pt x="5910263" y="267210"/>
                </a:lnTo>
                <a:lnTo>
                  <a:pt x="5991225" y="259337"/>
                </a:lnTo>
                <a:lnTo>
                  <a:pt x="6072188" y="251245"/>
                </a:lnTo>
                <a:lnTo>
                  <a:pt x="6153150" y="242940"/>
                </a:lnTo>
                <a:lnTo>
                  <a:pt x="6234113" y="234429"/>
                </a:lnTo>
                <a:lnTo>
                  <a:pt x="6315075" y="225719"/>
                </a:lnTo>
                <a:lnTo>
                  <a:pt x="6396038" y="216818"/>
                </a:lnTo>
                <a:lnTo>
                  <a:pt x="6477000" y="207732"/>
                </a:lnTo>
                <a:lnTo>
                  <a:pt x="6557963" y="198469"/>
                </a:lnTo>
                <a:lnTo>
                  <a:pt x="6638925" y="189038"/>
                </a:lnTo>
                <a:lnTo>
                  <a:pt x="6719888" y="179445"/>
                </a:lnTo>
                <a:lnTo>
                  <a:pt x="6800850" y="169699"/>
                </a:lnTo>
                <a:lnTo>
                  <a:pt x="6881813" y="159808"/>
                </a:lnTo>
                <a:lnTo>
                  <a:pt x="6962775" y="149780"/>
                </a:lnTo>
                <a:lnTo>
                  <a:pt x="7043738" y="139624"/>
                </a:lnTo>
                <a:lnTo>
                  <a:pt x="7124700" y="129349"/>
                </a:lnTo>
                <a:lnTo>
                  <a:pt x="7205663" y="118964"/>
                </a:lnTo>
                <a:lnTo>
                  <a:pt x="7286625" y="108476"/>
                </a:lnTo>
                <a:lnTo>
                  <a:pt x="7367588" y="97895"/>
                </a:lnTo>
                <a:lnTo>
                  <a:pt x="7448550" y="87231"/>
                </a:lnTo>
                <a:lnTo>
                  <a:pt x="7529513" y="76491"/>
                </a:lnTo>
                <a:lnTo>
                  <a:pt x="7610475" y="65686"/>
                </a:lnTo>
                <a:lnTo>
                  <a:pt x="7691438" y="54825"/>
                </a:lnTo>
                <a:lnTo>
                  <a:pt x="7772400" y="43917"/>
                </a:lnTo>
                <a:lnTo>
                  <a:pt x="7853363" y="32970"/>
                </a:lnTo>
                <a:lnTo>
                  <a:pt x="7934325" y="21996"/>
                </a:lnTo>
                <a:lnTo>
                  <a:pt x="8015288" y="11003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AF6545"/>
            </a:solidFill>
            <a:prstDash val="solid"/>
          </a:ln>
        </p:spPr>
      </p:sp>
      <p:sp>
        <p:nvSpPr>
          <p:cNvPr id="19" name="path-3--arrow">
            <a:extLst xmlns:a="http://schemas.openxmlformats.org/drawingml/2006/main">
              <a:ext uri="{FF2B5EF4-FFF2-40B4-BE49-F238E27FC236}">
                <a16:creationId xmlns:a16="http://schemas.microsoft.com/office/drawing/2014/main" id="{ABC3D275-F5FF-4312-A522-B53D4168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251" y="3966358"/>
            <a:ext cx="122874" cy="99838"/>
          </a:xfrm>
          <a:custGeom xmlns:a="http://schemas.openxmlformats.org/drawingml/2006/main">
            <a:pathLst>
              <a:path w="122874" h="99838">
                <a:moveTo>
                  <a:pt x="122874" y="34142"/>
                </a:moveTo>
                <a:lnTo>
                  <a:pt x="0" y="0"/>
                </a:lnTo>
                <a:lnTo>
                  <a:pt x="13568" y="99838"/>
                </a:lnTo>
                <a:close/>
              </a:path>
            </a:pathLst>
          </a:custGeom>
          <a:solidFill xmlns:a="http://schemas.openxmlformats.org/drawingml/2006/main">
            <a:srgbClr val="AF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itial-3">
            <a:extLst xmlns:a="http://schemas.openxmlformats.org/drawingml/2006/main">
              <a:ext uri="{FF2B5EF4-FFF2-40B4-BE49-F238E27FC236}">
                <a16:creationId xmlns:a16="http://schemas.microsoft.com/office/drawing/2014/main" id="{6165772B-D765-4F1E-BD0D-FB4307DC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6545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1" name="final-3">
            <a:extLst xmlns:a="http://schemas.openxmlformats.org/drawingml/2006/main">
              <a:ext uri="{FF2B5EF4-FFF2-40B4-BE49-F238E27FC236}">
                <a16:creationId xmlns:a16="http://schemas.microsoft.com/office/drawing/2014/main" id="{28A4E6FB-20D3-4745-A005-8FE74A1C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6545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2" name="velocity-3">
            <a:extLst xmlns:a="http://schemas.openxmlformats.org/drawingml/2006/main">
              <a:ext uri="{FF2B5EF4-FFF2-40B4-BE49-F238E27FC236}">
                <a16:creationId xmlns:a16="http://schemas.microsoft.com/office/drawing/2014/main" id="{EF71A988-DE33-4B2B-BEAE-D4C0326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4130796"/>
            <a:ext cx="647700" cy="18620"/>
          </a:xfrm>
          <a:custGeom xmlns:a="http://schemas.openxmlformats.org/drawingml/2006/main">
            <a:pathLst>
              <a:path w="647700" h="18620">
                <a:moveTo>
                  <a:pt x="0" y="1862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AF6545"/>
            </a:solidFill>
            <a:prstDash val="solid"/>
          </a:ln>
        </p:spPr>
      </p:sp>
      <p:sp>
        <p:nvSpPr>
          <p:cNvPr id="23" name="velocity-3--arrow">
            <a:extLst xmlns:a="http://schemas.openxmlformats.org/drawingml/2006/main">
              <a:ext uri="{FF2B5EF4-FFF2-40B4-BE49-F238E27FC236}">
                <a16:creationId xmlns:a16="http://schemas.microsoft.com/office/drawing/2014/main" id="{2A3CF892-FAEF-42BC-80C9-93F1841D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108" y="4084569"/>
            <a:ext cx="116629" cy="99076"/>
          </a:xfrm>
          <a:custGeom xmlns:a="http://schemas.openxmlformats.org/drawingml/2006/main">
            <a:pathLst>
              <a:path w="116629" h="99076">
                <a:moveTo>
                  <a:pt x="116629" y="46226"/>
                </a:moveTo>
                <a:lnTo>
                  <a:pt x="0" y="0"/>
                </a:lnTo>
                <a:lnTo>
                  <a:pt x="2848" y="99076"/>
                </a:lnTo>
                <a:close/>
              </a:path>
            </a:pathLst>
          </a:custGeom>
          <a:solidFill xmlns:a="http://schemas.openxmlformats.org/drawingml/2006/main">
            <a:srgbClr val="AF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elocity-label">
            <a:extLst xmlns:a="http://schemas.openxmlformats.org/drawingml/2006/main">
              <a:ext uri="{FF2B5EF4-FFF2-40B4-BE49-F238E27FC236}">
                <a16:creationId xmlns:a16="http://schemas.microsoft.com/office/drawing/2014/main" id="{3148C0AD-0B86-44BD-98D7-B78ABDA3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71675"/>
            <a:ext cx="228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Local velocity</a:t>
            </a:r>
          </a:p>
        </p:txBody>
      </p:sp>
      <p:sp>
        <p:nvSpPr>
          <p:cNvPr id="25" name="time-axis">
            <a:extLst xmlns:a="http://schemas.openxmlformats.org/drawingml/2006/main">
              <a:ext uri="{FF2B5EF4-FFF2-40B4-BE49-F238E27FC236}">
                <a16:creationId xmlns:a16="http://schemas.microsoft.com/office/drawing/2014/main" id="{A0CF32DD-D1B5-4B0E-8252-3C4A4A21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8334375" cy="95"/>
          </a:xfrm>
          <a:custGeom xmlns:a="http://schemas.openxmlformats.org/drawingml/2006/main">
            <a:pathLst>
              <a:path w="8334375" h="95">
                <a:moveTo>
                  <a:pt x="0" y="0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8595"/>
            </a:solidFill>
            <a:prstDash val="solid"/>
          </a:ln>
        </p:spPr>
      </p:sp>
      <p:sp>
        <p:nvSpPr>
          <p:cNvPr id="26" name="time-axis--arrow">
            <a:extLst xmlns:a="http://schemas.openxmlformats.org/drawingml/2006/main">
              <a:ext uri="{FF2B5EF4-FFF2-40B4-BE49-F238E27FC236}">
                <a16:creationId xmlns:a16="http://schemas.microsoft.com/office/drawing/2014/main" id="{440FCEDF-1FC7-430F-A916-6DC5E04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10" y="5048364"/>
            <a:ext cx="110490" cy="95021"/>
          </a:xfrm>
          <a:custGeom xmlns:a="http://schemas.openxmlformats.org/drawingml/2006/main">
            <a:pathLst>
              <a:path w="110490" h="95021">
                <a:moveTo>
                  <a:pt x="110490" y="47511"/>
                </a:moveTo>
                <a:lnTo>
                  <a:pt x="0" y="0"/>
                </a:lnTo>
                <a:lnTo>
                  <a:pt x="0" y="95021"/>
                </a:lnTo>
                <a:close/>
              </a:path>
            </a:pathLst>
          </a:custGeom>
          <a:solidFill xmlns:a="http://schemas.openxmlformats.org/drawingml/2006/main">
            <a:srgbClr val="7585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ime-start">
            <a:extLst xmlns:a="http://schemas.openxmlformats.org/drawingml/2006/main">
              <a:ext uri="{FF2B5EF4-FFF2-40B4-BE49-F238E27FC236}">
                <a16:creationId xmlns:a16="http://schemas.microsoft.com/office/drawing/2014/main" id="{0AD62F50-F793-4C83-A2B5-F0F7C772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t = 0</a:t>
            </a:r>
          </a:p>
        </p:txBody>
      </p:sp>
      <p:sp>
        <p:nvSpPr>
          <p:cNvPr id="28" name="time-end">
            <a:extLst xmlns:a="http://schemas.openxmlformats.org/drawingml/2006/main">
              <a:ext uri="{FF2B5EF4-FFF2-40B4-BE49-F238E27FC236}">
                <a16:creationId xmlns:a16="http://schemas.microsoft.com/office/drawing/2014/main" id="{A4FE1FB8-8E1F-4942-8E1F-726BA412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t = 1</a:t>
            </a:r>
          </a:p>
        </p:txBody>
      </p:sp>
      <p:sp>
        <p:nvSpPr>
          <p:cNvPr id="29" name="time-label">
            <a:extLst xmlns:a="http://schemas.openxmlformats.org/drawingml/2006/main">
              <a:ext uri="{FF2B5EF4-FFF2-40B4-BE49-F238E27FC236}">
                <a16:creationId xmlns:a16="http://schemas.microsoft.com/office/drawing/2014/main" id="{8039BD51-54D7-4206-8520-52A044B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30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241F918F-2CA2-4305-8F75-681F3F7F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687887"/>
                </a:solidFill>
                <a:latin typeface="Times New Roman"/>
                <a:ea typeface="Times New Roman"/>
                <a:cs typeface="Times New Roman"/>
              </a:rPr>
              <a:t>Illustration: each initial state follows one trajectory under a well-posed velocity field.</a:t>
            </a:r>
          </a:p>
        </p:txBody>
      </p:sp>
    </p:spTree>
    <p:extLst>
      <p:ext uri="{BB962C8B-B14F-4D97-AF65-F5344CB8AC3E}">
        <p14:creationId xmlns:p14="http://schemas.microsoft.com/office/powerpoint/2010/main" val="12702801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FAEE75C9-3FDB-4304-A29B-C6002CC3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ODE · deterministic evolution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63E5436F-4375-4B4E-A9D4-0E2CC7D1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dx / dt = v(x, t)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A46D192-303B-48B9-A051-EDC8E9B4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initial-label">
            <a:extLst xmlns:a="http://schemas.openxmlformats.org/drawingml/2006/main">
              <a:ext uri="{FF2B5EF4-FFF2-40B4-BE49-F238E27FC236}">
                <a16:creationId xmlns:a16="http://schemas.microsoft.com/office/drawing/2014/main" id="{5D040CFE-9B1D-400F-ABEC-419F3B1B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1905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Initial states</a:t>
            </a:r>
          </a:p>
        </p:txBody>
      </p:sp>
      <p:sp>
        <p:nvSpPr>
          <p:cNvPr id="5" name="terminal-label">
            <a:extLst xmlns:a="http://schemas.openxmlformats.org/drawingml/2006/main">
              <a:ext uri="{FF2B5EF4-FFF2-40B4-BE49-F238E27FC236}">
                <a16:creationId xmlns:a16="http://schemas.microsoft.com/office/drawing/2014/main" id="{191C2DE7-ACB6-4DA2-A5E3-216C890B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666875"/>
            <a:ext cx="1905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Final states</a:t>
            </a:r>
          </a:p>
        </p:txBody>
      </p:sp>
      <p:sp>
        <p:nvSpPr>
          <p:cNvPr id="6" name="path-1">
            <a:extLst xmlns:a="http://schemas.openxmlformats.org/drawingml/2006/main">
              <a:ext uri="{FF2B5EF4-FFF2-40B4-BE49-F238E27FC236}">
                <a16:creationId xmlns:a16="http://schemas.microsoft.com/office/drawing/2014/main" id="{C057FDDB-0563-4140-918A-D6324C11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8096250" cy="406081"/>
          </a:xfrm>
          <a:custGeom xmlns:a="http://schemas.openxmlformats.org/drawingml/2006/main">
            <a:pathLst>
              <a:path w="8096250" h="406081">
                <a:moveTo>
                  <a:pt x="0" y="190500"/>
                </a:moveTo>
                <a:lnTo>
                  <a:pt x="80963" y="198169"/>
                </a:lnTo>
                <a:lnTo>
                  <a:pt x="161925" y="205829"/>
                </a:lnTo>
                <a:lnTo>
                  <a:pt x="242888" y="213469"/>
                </a:lnTo>
                <a:lnTo>
                  <a:pt x="323850" y="221082"/>
                </a:lnTo>
                <a:lnTo>
                  <a:pt x="404813" y="228656"/>
                </a:lnTo>
                <a:lnTo>
                  <a:pt x="485775" y="236184"/>
                </a:lnTo>
                <a:lnTo>
                  <a:pt x="566738" y="243655"/>
                </a:lnTo>
                <a:lnTo>
                  <a:pt x="647700" y="251061"/>
                </a:lnTo>
                <a:lnTo>
                  <a:pt x="728663" y="258391"/>
                </a:lnTo>
                <a:lnTo>
                  <a:pt x="809625" y="265638"/>
                </a:lnTo>
                <a:lnTo>
                  <a:pt x="890588" y="272792"/>
                </a:lnTo>
                <a:lnTo>
                  <a:pt x="971550" y="279844"/>
                </a:lnTo>
                <a:lnTo>
                  <a:pt x="1052513" y="286786"/>
                </a:lnTo>
                <a:lnTo>
                  <a:pt x="1133475" y="293608"/>
                </a:lnTo>
                <a:lnTo>
                  <a:pt x="1214438" y="300301"/>
                </a:lnTo>
                <a:lnTo>
                  <a:pt x="1295400" y="306859"/>
                </a:lnTo>
                <a:lnTo>
                  <a:pt x="1376363" y="313271"/>
                </a:lnTo>
                <a:lnTo>
                  <a:pt x="1457325" y="319530"/>
                </a:lnTo>
                <a:lnTo>
                  <a:pt x="1538288" y="325628"/>
                </a:lnTo>
                <a:lnTo>
                  <a:pt x="1619250" y="331557"/>
                </a:lnTo>
                <a:lnTo>
                  <a:pt x="1700213" y="337309"/>
                </a:lnTo>
                <a:lnTo>
                  <a:pt x="1781175" y="342877"/>
                </a:lnTo>
                <a:lnTo>
                  <a:pt x="1862138" y="348253"/>
                </a:lnTo>
                <a:lnTo>
                  <a:pt x="1943100" y="353430"/>
                </a:lnTo>
                <a:lnTo>
                  <a:pt x="2024063" y="358401"/>
                </a:lnTo>
                <a:lnTo>
                  <a:pt x="2105025" y="363160"/>
                </a:lnTo>
                <a:lnTo>
                  <a:pt x="2185988" y="367699"/>
                </a:lnTo>
                <a:lnTo>
                  <a:pt x="2266950" y="372012"/>
                </a:lnTo>
                <a:lnTo>
                  <a:pt x="2347913" y="376094"/>
                </a:lnTo>
                <a:lnTo>
                  <a:pt x="2428875" y="379938"/>
                </a:lnTo>
                <a:lnTo>
                  <a:pt x="2509838" y="383539"/>
                </a:lnTo>
                <a:lnTo>
                  <a:pt x="2590800" y="386891"/>
                </a:lnTo>
                <a:lnTo>
                  <a:pt x="2671763" y="389989"/>
                </a:lnTo>
                <a:lnTo>
                  <a:pt x="2752725" y="392828"/>
                </a:lnTo>
                <a:lnTo>
                  <a:pt x="2833688" y="395404"/>
                </a:lnTo>
                <a:lnTo>
                  <a:pt x="2914650" y="397711"/>
                </a:lnTo>
                <a:lnTo>
                  <a:pt x="2995613" y="399747"/>
                </a:lnTo>
                <a:lnTo>
                  <a:pt x="3076575" y="401506"/>
                </a:lnTo>
                <a:lnTo>
                  <a:pt x="3157538" y="402985"/>
                </a:lnTo>
                <a:lnTo>
                  <a:pt x="3238500" y="404182"/>
                </a:lnTo>
                <a:lnTo>
                  <a:pt x="3319463" y="405093"/>
                </a:lnTo>
                <a:lnTo>
                  <a:pt x="3400425" y="405714"/>
                </a:lnTo>
                <a:lnTo>
                  <a:pt x="3481388" y="406044"/>
                </a:lnTo>
                <a:lnTo>
                  <a:pt x="3562350" y="406081"/>
                </a:lnTo>
                <a:lnTo>
                  <a:pt x="3643313" y="405822"/>
                </a:lnTo>
                <a:lnTo>
                  <a:pt x="3724275" y="405267"/>
                </a:lnTo>
                <a:lnTo>
                  <a:pt x="3805238" y="404412"/>
                </a:lnTo>
                <a:lnTo>
                  <a:pt x="3886200" y="403259"/>
                </a:lnTo>
                <a:lnTo>
                  <a:pt x="3967163" y="401805"/>
                </a:lnTo>
                <a:lnTo>
                  <a:pt x="4048125" y="400050"/>
                </a:lnTo>
                <a:lnTo>
                  <a:pt x="4129088" y="397995"/>
                </a:lnTo>
                <a:lnTo>
                  <a:pt x="4210050" y="395639"/>
                </a:lnTo>
                <a:lnTo>
                  <a:pt x="4291013" y="392982"/>
                </a:lnTo>
                <a:lnTo>
                  <a:pt x="4371975" y="390027"/>
                </a:lnTo>
                <a:lnTo>
                  <a:pt x="4452938" y="386772"/>
                </a:lnTo>
                <a:lnTo>
                  <a:pt x="4533900" y="383221"/>
                </a:lnTo>
                <a:lnTo>
                  <a:pt x="4614863" y="379374"/>
                </a:lnTo>
                <a:lnTo>
                  <a:pt x="4695825" y="375234"/>
                </a:lnTo>
                <a:lnTo>
                  <a:pt x="4776788" y="370803"/>
                </a:lnTo>
                <a:lnTo>
                  <a:pt x="4857750" y="366082"/>
                </a:lnTo>
                <a:lnTo>
                  <a:pt x="4938713" y="361075"/>
                </a:lnTo>
                <a:lnTo>
                  <a:pt x="5019675" y="355786"/>
                </a:lnTo>
                <a:lnTo>
                  <a:pt x="5100638" y="350217"/>
                </a:lnTo>
                <a:lnTo>
                  <a:pt x="5181600" y="344371"/>
                </a:lnTo>
                <a:lnTo>
                  <a:pt x="5262563" y="338254"/>
                </a:lnTo>
                <a:lnTo>
                  <a:pt x="5343525" y="331868"/>
                </a:lnTo>
                <a:lnTo>
                  <a:pt x="5424488" y="325219"/>
                </a:lnTo>
                <a:lnTo>
                  <a:pt x="5505450" y="318311"/>
                </a:lnTo>
                <a:lnTo>
                  <a:pt x="5586413" y="311149"/>
                </a:lnTo>
                <a:lnTo>
                  <a:pt x="5667375" y="303738"/>
                </a:lnTo>
                <a:lnTo>
                  <a:pt x="5748338" y="296084"/>
                </a:lnTo>
                <a:lnTo>
                  <a:pt x="5829300" y="288192"/>
                </a:lnTo>
                <a:lnTo>
                  <a:pt x="5910263" y="280069"/>
                </a:lnTo>
                <a:lnTo>
                  <a:pt x="5991225" y="271720"/>
                </a:lnTo>
                <a:lnTo>
                  <a:pt x="6072188" y="263151"/>
                </a:lnTo>
                <a:lnTo>
                  <a:pt x="6153150" y="254370"/>
                </a:lnTo>
                <a:lnTo>
                  <a:pt x="6234113" y="245383"/>
                </a:lnTo>
                <a:lnTo>
                  <a:pt x="6315075" y="236197"/>
                </a:lnTo>
                <a:lnTo>
                  <a:pt x="6396038" y="226819"/>
                </a:lnTo>
                <a:lnTo>
                  <a:pt x="6477000" y="217257"/>
                </a:lnTo>
                <a:lnTo>
                  <a:pt x="6557963" y="207518"/>
                </a:lnTo>
                <a:lnTo>
                  <a:pt x="6638925" y="197610"/>
                </a:lnTo>
                <a:lnTo>
                  <a:pt x="6719888" y="187541"/>
                </a:lnTo>
                <a:lnTo>
                  <a:pt x="6800850" y="177319"/>
                </a:lnTo>
                <a:lnTo>
                  <a:pt x="6881813" y="166951"/>
                </a:lnTo>
                <a:lnTo>
                  <a:pt x="6962775" y="156448"/>
                </a:lnTo>
                <a:lnTo>
                  <a:pt x="7043738" y="145816"/>
                </a:lnTo>
                <a:lnTo>
                  <a:pt x="7124700" y="135064"/>
                </a:lnTo>
                <a:lnTo>
                  <a:pt x="7205663" y="124202"/>
                </a:lnTo>
                <a:lnTo>
                  <a:pt x="7286625" y="113238"/>
                </a:lnTo>
                <a:lnTo>
                  <a:pt x="7367588" y="102181"/>
                </a:lnTo>
                <a:lnTo>
                  <a:pt x="7448550" y="91041"/>
                </a:lnTo>
                <a:lnTo>
                  <a:pt x="7529513" y="79825"/>
                </a:lnTo>
                <a:lnTo>
                  <a:pt x="7610475" y="68544"/>
                </a:lnTo>
                <a:lnTo>
                  <a:pt x="7691438" y="57206"/>
                </a:lnTo>
                <a:lnTo>
                  <a:pt x="7772400" y="45822"/>
                </a:lnTo>
                <a:lnTo>
                  <a:pt x="7853363" y="34399"/>
                </a:lnTo>
                <a:lnTo>
                  <a:pt x="7934325" y="22949"/>
                </a:lnTo>
                <a:lnTo>
                  <a:pt x="8015288" y="11479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36B9C"/>
            </a:solidFill>
            <a:prstDash val="solid"/>
          </a:ln>
        </p:spPr>
      </p:sp>
      <p:sp>
        <p:nvSpPr>
          <p:cNvPr id="7" name="path-1--arrow">
            <a:extLst xmlns:a="http://schemas.openxmlformats.org/drawingml/2006/main">
              <a:ext uri="{FF2B5EF4-FFF2-40B4-BE49-F238E27FC236}">
                <a16:creationId xmlns:a16="http://schemas.microsoft.com/office/drawing/2014/main" id="{7137C831-DB98-4756-A37F-CD90BFE7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053" y="2298833"/>
            <a:ext cx="128072" cy="103813"/>
          </a:xfrm>
          <a:custGeom xmlns:a="http://schemas.openxmlformats.org/drawingml/2006/main">
            <a:pathLst>
              <a:path w="128072" h="103813">
                <a:moveTo>
                  <a:pt x="128072" y="34792"/>
                </a:moveTo>
                <a:lnTo>
                  <a:pt x="0" y="0"/>
                </a:lnTo>
                <a:lnTo>
                  <a:pt x="14719" y="103813"/>
                </a:lnTo>
                <a:close/>
              </a:path>
            </a:pathLst>
          </a:custGeom>
          <a:solidFill xmlns:a="http://schemas.openxmlformats.org/drawingml/2006/main">
            <a:srgbClr val="236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nitial-1">
            <a:extLst xmlns:a="http://schemas.openxmlformats.org/drawingml/2006/main">
              <a:ext uri="{FF2B5EF4-FFF2-40B4-BE49-F238E27FC236}">
                <a16:creationId xmlns:a16="http://schemas.microsoft.com/office/drawing/2014/main" id="{2B7362E0-AB0E-45FA-8D39-8B43352C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B9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final-1">
            <a:extLst xmlns:a="http://schemas.openxmlformats.org/drawingml/2006/main">
              <a:ext uri="{FF2B5EF4-FFF2-40B4-BE49-F238E27FC236}">
                <a16:creationId xmlns:a16="http://schemas.microsoft.com/office/drawing/2014/main" id="{B1CD69B8-1547-40EA-B4A8-BB341AA8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257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B9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velocity-1">
            <a:extLst xmlns:a="http://schemas.openxmlformats.org/drawingml/2006/main">
              <a:ext uri="{FF2B5EF4-FFF2-40B4-BE49-F238E27FC236}">
                <a16:creationId xmlns:a16="http://schemas.microsoft.com/office/drawing/2014/main" id="{B5D87A8A-B8A5-4A86-B70C-0F06C2FC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2484399"/>
            <a:ext cx="647700" cy="22430"/>
          </a:xfrm>
          <a:custGeom xmlns:a="http://schemas.openxmlformats.org/drawingml/2006/main">
            <a:pathLst>
              <a:path w="647700" h="22430">
                <a:moveTo>
                  <a:pt x="0" y="2243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236B9C"/>
            </a:solidFill>
            <a:prstDash val="solid"/>
          </a:ln>
        </p:spPr>
      </p:sp>
      <p:sp>
        <p:nvSpPr>
          <p:cNvPr id="11" name="velocity-1--arrow">
            <a:extLst xmlns:a="http://schemas.openxmlformats.org/drawingml/2006/main">
              <a:ext uri="{FF2B5EF4-FFF2-40B4-BE49-F238E27FC236}">
                <a16:creationId xmlns:a16="http://schemas.microsoft.com/office/drawing/2014/main" id="{8DD8168E-0E5F-49C0-ABED-29C70D57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839" y="2438859"/>
            <a:ext cx="116899" cy="99058"/>
          </a:xfrm>
          <a:custGeom xmlns:a="http://schemas.openxmlformats.org/drawingml/2006/main">
            <a:pathLst>
              <a:path w="116899" h="99058">
                <a:moveTo>
                  <a:pt x="116899" y="45540"/>
                </a:moveTo>
                <a:lnTo>
                  <a:pt x="0" y="0"/>
                </a:lnTo>
                <a:lnTo>
                  <a:pt x="3430" y="99058"/>
                </a:lnTo>
                <a:close/>
              </a:path>
            </a:pathLst>
          </a:custGeom>
          <a:solidFill xmlns:a="http://schemas.openxmlformats.org/drawingml/2006/main">
            <a:srgbClr val="236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-2">
            <a:extLst xmlns:a="http://schemas.openxmlformats.org/drawingml/2006/main">
              <a:ext uri="{FF2B5EF4-FFF2-40B4-BE49-F238E27FC236}">
                <a16:creationId xmlns:a16="http://schemas.microsoft.com/office/drawing/2014/main" id="{F7941184-05A1-4FE8-83F4-02ECB8E6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90875"/>
            <a:ext cx="8096250" cy="379629"/>
          </a:xfrm>
          <a:custGeom xmlns:a="http://schemas.openxmlformats.org/drawingml/2006/main">
            <a:pathLst>
              <a:path w="8096250" h="379629">
                <a:moveTo>
                  <a:pt x="0" y="142875"/>
                </a:moveTo>
                <a:lnTo>
                  <a:pt x="80963" y="151020"/>
                </a:lnTo>
                <a:lnTo>
                  <a:pt x="161925" y="159156"/>
                </a:lnTo>
                <a:lnTo>
                  <a:pt x="242888" y="167273"/>
                </a:lnTo>
                <a:lnTo>
                  <a:pt x="323850" y="175362"/>
                </a:lnTo>
                <a:lnTo>
                  <a:pt x="404813" y="183412"/>
                </a:lnTo>
                <a:lnTo>
                  <a:pt x="485775" y="191416"/>
                </a:lnTo>
                <a:lnTo>
                  <a:pt x="566738" y="199364"/>
                </a:lnTo>
                <a:lnTo>
                  <a:pt x="647700" y="207246"/>
                </a:lnTo>
                <a:lnTo>
                  <a:pt x="728663" y="215053"/>
                </a:lnTo>
                <a:lnTo>
                  <a:pt x="809625" y="222776"/>
                </a:lnTo>
                <a:lnTo>
                  <a:pt x="890588" y="230406"/>
                </a:lnTo>
                <a:lnTo>
                  <a:pt x="971550" y="237934"/>
                </a:lnTo>
                <a:lnTo>
                  <a:pt x="1052513" y="245352"/>
                </a:lnTo>
                <a:lnTo>
                  <a:pt x="1133475" y="252650"/>
                </a:lnTo>
                <a:lnTo>
                  <a:pt x="1214438" y="259820"/>
                </a:lnTo>
                <a:lnTo>
                  <a:pt x="1295400" y="266854"/>
                </a:lnTo>
                <a:lnTo>
                  <a:pt x="1376363" y="273742"/>
                </a:lnTo>
                <a:lnTo>
                  <a:pt x="1457325" y="280478"/>
                </a:lnTo>
                <a:lnTo>
                  <a:pt x="1538288" y="287052"/>
                </a:lnTo>
                <a:lnTo>
                  <a:pt x="1619250" y="293457"/>
                </a:lnTo>
                <a:lnTo>
                  <a:pt x="1700213" y="299685"/>
                </a:lnTo>
                <a:lnTo>
                  <a:pt x="1781175" y="305729"/>
                </a:lnTo>
                <a:lnTo>
                  <a:pt x="1862138" y="311582"/>
                </a:lnTo>
                <a:lnTo>
                  <a:pt x="1943100" y="317235"/>
                </a:lnTo>
                <a:lnTo>
                  <a:pt x="2024063" y="322682"/>
                </a:lnTo>
                <a:lnTo>
                  <a:pt x="2105025" y="327917"/>
                </a:lnTo>
                <a:lnTo>
                  <a:pt x="2185988" y="332933"/>
                </a:lnTo>
                <a:lnTo>
                  <a:pt x="2266950" y="337722"/>
                </a:lnTo>
                <a:lnTo>
                  <a:pt x="2347913" y="342280"/>
                </a:lnTo>
                <a:lnTo>
                  <a:pt x="2428875" y="346601"/>
                </a:lnTo>
                <a:lnTo>
                  <a:pt x="2509838" y="350678"/>
                </a:lnTo>
                <a:lnTo>
                  <a:pt x="2590800" y="354506"/>
                </a:lnTo>
                <a:lnTo>
                  <a:pt x="2671763" y="358080"/>
                </a:lnTo>
                <a:lnTo>
                  <a:pt x="2752725" y="361396"/>
                </a:lnTo>
                <a:lnTo>
                  <a:pt x="2833688" y="364448"/>
                </a:lnTo>
                <a:lnTo>
                  <a:pt x="2914650" y="367231"/>
                </a:lnTo>
                <a:lnTo>
                  <a:pt x="2995613" y="369743"/>
                </a:lnTo>
                <a:lnTo>
                  <a:pt x="3076575" y="371978"/>
                </a:lnTo>
                <a:lnTo>
                  <a:pt x="3157538" y="373934"/>
                </a:lnTo>
                <a:lnTo>
                  <a:pt x="3238500" y="375607"/>
                </a:lnTo>
                <a:lnTo>
                  <a:pt x="3319463" y="376994"/>
                </a:lnTo>
                <a:lnTo>
                  <a:pt x="3400425" y="378092"/>
                </a:lnTo>
                <a:lnTo>
                  <a:pt x="3481388" y="378898"/>
                </a:lnTo>
                <a:lnTo>
                  <a:pt x="3562350" y="379411"/>
                </a:lnTo>
                <a:lnTo>
                  <a:pt x="3643313" y="379629"/>
                </a:lnTo>
                <a:lnTo>
                  <a:pt x="3724275" y="379549"/>
                </a:lnTo>
                <a:lnTo>
                  <a:pt x="3805238" y="379171"/>
                </a:lnTo>
                <a:lnTo>
                  <a:pt x="3886200" y="378494"/>
                </a:lnTo>
                <a:lnTo>
                  <a:pt x="3967163" y="377516"/>
                </a:lnTo>
                <a:lnTo>
                  <a:pt x="4048125" y="376238"/>
                </a:lnTo>
                <a:lnTo>
                  <a:pt x="4129088" y="374658"/>
                </a:lnTo>
                <a:lnTo>
                  <a:pt x="4210050" y="372779"/>
                </a:lnTo>
                <a:lnTo>
                  <a:pt x="4291013" y="370599"/>
                </a:lnTo>
                <a:lnTo>
                  <a:pt x="4371975" y="368119"/>
                </a:lnTo>
                <a:lnTo>
                  <a:pt x="4452938" y="365341"/>
                </a:lnTo>
                <a:lnTo>
                  <a:pt x="4533900" y="362266"/>
                </a:lnTo>
                <a:lnTo>
                  <a:pt x="4614863" y="358896"/>
                </a:lnTo>
                <a:lnTo>
                  <a:pt x="4695825" y="355232"/>
                </a:lnTo>
                <a:lnTo>
                  <a:pt x="4776788" y="351276"/>
                </a:lnTo>
                <a:lnTo>
                  <a:pt x="4857750" y="347032"/>
                </a:lnTo>
                <a:lnTo>
                  <a:pt x="4938713" y="342502"/>
                </a:lnTo>
                <a:lnTo>
                  <a:pt x="5019675" y="337688"/>
                </a:lnTo>
                <a:lnTo>
                  <a:pt x="5100638" y="332595"/>
                </a:lnTo>
                <a:lnTo>
                  <a:pt x="5181600" y="327226"/>
                </a:lnTo>
                <a:lnTo>
                  <a:pt x="5262563" y="321585"/>
                </a:lnTo>
                <a:lnTo>
                  <a:pt x="5343525" y="315676"/>
                </a:lnTo>
                <a:lnTo>
                  <a:pt x="5424488" y="309503"/>
                </a:lnTo>
                <a:lnTo>
                  <a:pt x="5505450" y="303071"/>
                </a:lnTo>
                <a:lnTo>
                  <a:pt x="5586413" y="296385"/>
                </a:lnTo>
                <a:lnTo>
                  <a:pt x="5667375" y="289451"/>
                </a:lnTo>
                <a:lnTo>
                  <a:pt x="5748338" y="282273"/>
                </a:lnTo>
                <a:lnTo>
                  <a:pt x="5829300" y="274857"/>
                </a:lnTo>
                <a:lnTo>
                  <a:pt x="5910263" y="267210"/>
                </a:lnTo>
                <a:lnTo>
                  <a:pt x="5991225" y="259337"/>
                </a:lnTo>
                <a:lnTo>
                  <a:pt x="6072188" y="251245"/>
                </a:lnTo>
                <a:lnTo>
                  <a:pt x="6153150" y="242940"/>
                </a:lnTo>
                <a:lnTo>
                  <a:pt x="6234113" y="234429"/>
                </a:lnTo>
                <a:lnTo>
                  <a:pt x="6315075" y="225719"/>
                </a:lnTo>
                <a:lnTo>
                  <a:pt x="6396038" y="216818"/>
                </a:lnTo>
                <a:lnTo>
                  <a:pt x="6477000" y="207732"/>
                </a:lnTo>
                <a:lnTo>
                  <a:pt x="6557963" y="198469"/>
                </a:lnTo>
                <a:lnTo>
                  <a:pt x="6638925" y="189038"/>
                </a:lnTo>
                <a:lnTo>
                  <a:pt x="6719888" y="179445"/>
                </a:lnTo>
                <a:lnTo>
                  <a:pt x="6800850" y="169699"/>
                </a:lnTo>
                <a:lnTo>
                  <a:pt x="6881813" y="159808"/>
                </a:lnTo>
                <a:lnTo>
                  <a:pt x="6962775" y="149780"/>
                </a:lnTo>
                <a:lnTo>
                  <a:pt x="7043738" y="139624"/>
                </a:lnTo>
                <a:lnTo>
                  <a:pt x="7124700" y="129349"/>
                </a:lnTo>
                <a:lnTo>
                  <a:pt x="7205663" y="118964"/>
                </a:lnTo>
                <a:lnTo>
                  <a:pt x="7286625" y="108476"/>
                </a:lnTo>
                <a:lnTo>
                  <a:pt x="7367588" y="97895"/>
                </a:lnTo>
                <a:lnTo>
                  <a:pt x="7448550" y="87231"/>
                </a:lnTo>
                <a:lnTo>
                  <a:pt x="7529513" y="76491"/>
                </a:lnTo>
                <a:lnTo>
                  <a:pt x="7610475" y="65686"/>
                </a:lnTo>
                <a:lnTo>
                  <a:pt x="7691438" y="54825"/>
                </a:lnTo>
                <a:lnTo>
                  <a:pt x="7772400" y="43917"/>
                </a:lnTo>
                <a:lnTo>
                  <a:pt x="7853363" y="32970"/>
                </a:lnTo>
                <a:lnTo>
                  <a:pt x="7934325" y="21996"/>
                </a:lnTo>
                <a:lnTo>
                  <a:pt x="8015288" y="11003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197D7E"/>
            </a:solidFill>
            <a:prstDash val="solid"/>
          </a:ln>
        </p:spPr>
      </p:sp>
      <p:sp>
        <p:nvSpPr>
          <p:cNvPr id="13" name="path-2--arrow">
            <a:extLst xmlns:a="http://schemas.openxmlformats.org/drawingml/2006/main">
              <a:ext uri="{FF2B5EF4-FFF2-40B4-BE49-F238E27FC236}">
                <a16:creationId xmlns:a16="http://schemas.microsoft.com/office/drawing/2014/main" id="{4E800FD0-4FC8-40BF-A2F3-0AA370D3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256" y="3155345"/>
            <a:ext cx="127869" cy="103896"/>
          </a:xfrm>
          <a:custGeom xmlns:a="http://schemas.openxmlformats.org/drawingml/2006/main">
            <a:pathLst>
              <a:path w="127869" h="103896">
                <a:moveTo>
                  <a:pt x="127869" y="35530"/>
                </a:moveTo>
                <a:lnTo>
                  <a:pt x="0" y="0"/>
                </a:lnTo>
                <a:lnTo>
                  <a:pt x="14119" y="103896"/>
                </a:lnTo>
                <a:close/>
              </a:path>
            </a:pathLst>
          </a:custGeom>
          <a:solidFill xmlns:a="http://schemas.openxmlformats.org/drawingml/2006/main">
            <a:srgbClr val="197D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itial-2">
            <a:extLst xmlns:a="http://schemas.openxmlformats.org/drawingml/2006/main">
              <a:ext uri="{FF2B5EF4-FFF2-40B4-BE49-F238E27FC236}">
                <a16:creationId xmlns:a16="http://schemas.microsoft.com/office/drawing/2014/main" id="{0E50DAE8-4A1F-462B-8074-2C7DB81F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D7E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final-2">
            <a:extLst xmlns:a="http://schemas.openxmlformats.org/drawingml/2006/main">
              <a:ext uri="{FF2B5EF4-FFF2-40B4-BE49-F238E27FC236}">
                <a16:creationId xmlns:a16="http://schemas.microsoft.com/office/drawing/2014/main" id="{8CCAC8D8-D8FE-4115-970A-582D9871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D7E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velocity-2">
            <a:extLst xmlns:a="http://schemas.openxmlformats.org/drawingml/2006/main">
              <a:ext uri="{FF2B5EF4-FFF2-40B4-BE49-F238E27FC236}">
                <a16:creationId xmlns:a16="http://schemas.microsoft.com/office/drawing/2014/main" id="{C0D40B98-D678-4F43-858F-41304A9E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3321171"/>
            <a:ext cx="647700" cy="18620"/>
          </a:xfrm>
          <a:custGeom xmlns:a="http://schemas.openxmlformats.org/drawingml/2006/main">
            <a:pathLst>
              <a:path w="647700" h="18620">
                <a:moveTo>
                  <a:pt x="0" y="1862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197D7E"/>
            </a:solidFill>
            <a:prstDash val="solid"/>
          </a:ln>
        </p:spPr>
      </p:sp>
      <p:sp>
        <p:nvSpPr>
          <p:cNvPr id="17" name="velocity-2--arrow">
            <a:extLst xmlns:a="http://schemas.openxmlformats.org/drawingml/2006/main">
              <a:ext uri="{FF2B5EF4-FFF2-40B4-BE49-F238E27FC236}">
                <a16:creationId xmlns:a16="http://schemas.microsoft.com/office/drawing/2014/main" id="{341E80A0-45E8-4DC8-98CD-080E2686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108" y="3274944"/>
            <a:ext cx="116629" cy="99076"/>
          </a:xfrm>
          <a:custGeom xmlns:a="http://schemas.openxmlformats.org/drawingml/2006/main">
            <a:pathLst>
              <a:path w="116629" h="99076">
                <a:moveTo>
                  <a:pt x="116629" y="46226"/>
                </a:moveTo>
                <a:lnTo>
                  <a:pt x="0" y="0"/>
                </a:lnTo>
                <a:lnTo>
                  <a:pt x="2848" y="99076"/>
                </a:lnTo>
                <a:close/>
              </a:path>
            </a:pathLst>
          </a:custGeom>
          <a:solidFill xmlns:a="http://schemas.openxmlformats.org/drawingml/2006/main">
            <a:srgbClr val="197D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th-3">
            <a:extLst xmlns:a="http://schemas.openxmlformats.org/drawingml/2006/main">
              <a:ext uri="{FF2B5EF4-FFF2-40B4-BE49-F238E27FC236}">
                <a16:creationId xmlns:a16="http://schemas.microsoft.com/office/drawing/2014/main" id="{FEFC8993-2FF1-4111-93F6-71A38E69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000500"/>
            <a:ext cx="8096250" cy="379629"/>
          </a:xfrm>
          <a:custGeom xmlns:a="http://schemas.openxmlformats.org/drawingml/2006/main">
            <a:pathLst>
              <a:path w="8096250" h="379629">
                <a:moveTo>
                  <a:pt x="0" y="142875"/>
                </a:moveTo>
                <a:lnTo>
                  <a:pt x="80963" y="151020"/>
                </a:lnTo>
                <a:lnTo>
                  <a:pt x="161925" y="159156"/>
                </a:lnTo>
                <a:lnTo>
                  <a:pt x="242888" y="167273"/>
                </a:lnTo>
                <a:lnTo>
                  <a:pt x="323850" y="175362"/>
                </a:lnTo>
                <a:lnTo>
                  <a:pt x="404813" y="183412"/>
                </a:lnTo>
                <a:lnTo>
                  <a:pt x="485775" y="191416"/>
                </a:lnTo>
                <a:lnTo>
                  <a:pt x="566738" y="199364"/>
                </a:lnTo>
                <a:lnTo>
                  <a:pt x="647700" y="207246"/>
                </a:lnTo>
                <a:lnTo>
                  <a:pt x="728663" y="215053"/>
                </a:lnTo>
                <a:lnTo>
                  <a:pt x="809625" y="222776"/>
                </a:lnTo>
                <a:lnTo>
                  <a:pt x="890588" y="230406"/>
                </a:lnTo>
                <a:lnTo>
                  <a:pt x="971550" y="237934"/>
                </a:lnTo>
                <a:lnTo>
                  <a:pt x="1052513" y="245352"/>
                </a:lnTo>
                <a:lnTo>
                  <a:pt x="1133475" y="252650"/>
                </a:lnTo>
                <a:lnTo>
                  <a:pt x="1214438" y="259820"/>
                </a:lnTo>
                <a:lnTo>
                  <a:pt x="1295400" y="266854"/>
                </a:lnTo>
                <a:lnTo>
                  <a:pt x="1376363" y="273742"/>
                </a:lnTo>
                <a:lnTo>
                  <a:pt x="1457325" y="280478"/>
                </a:lnTo>
                <a:lnTo>
                  <a:pt x="1538288" y="287052"/>
                </a:lnTo>
                <a:lnTo>
                  <a:pt x="1619250" y="293457"/>
                </a:lnTo>
                <a:lnTo>
                  <a:pt x="1700213" y="299685"/>
                </a:lnTo>
                <a:lnTo>
                  <a:pt x="1781175" y="305729"/>
                </a:lnTo>
                <a:lnTo>
                  <a:pt x="1862138" y="311582"/>
                </a:lnTo>
                <a:lnTo>
                  <a:pt x="1943100" y="317235"/>
                </a:lnTo>
                <a:lnTo>
                  <a:pt x="2024063" y="322682"/>
                </a:lnTo>
                <a:lnTo>
                  <a:pt x="2105025" y="327917"/>
                </a:lnTo>
                <a:lnTo>
                  <a:pt x="2185988" y="332933"/>
                </a:lnTo>
                <a:lnTo>
                  <a:pt x="2266950" y="337722"/>
                </a:lnTo>
                <a:lnTo>
                  <a:pt x="2347913" y="342280"/>
                </a:lnTo>
                <a:lnTo>
                  <a:pt x="2428875" y="346601"/>
                </a:lnTo>
                <a:lnTo>
                  <a:pt x="2509838" y="350678"/>
                </a:lnTo>
                <a:lnTo>
                  <a:pt x="2590800" y="354506"/>
                </a:lnTo>
                <a:lnTo>
                  <a:pt x="2671763" y="358080"/>
                </a:lnTo>
                <a:lnTo>
                  <a:pt x="2752725" y="361396"/>
                </a:lnTo>
                <a:lnTo>
                  <a:pt x="2833688" y="364448"/>
                </a:lnTo>
                <a:lnTo>
                  <a:pt x="2914650" y="367231"/>
                </a:lnTo>
                <a:lnTo>
                  <a:pt x="2995613" y="369743"/>
                </a:lnTo>
                <a:lnTo>
                  <a:pt x="3076575" y="371978"/>
                </a:lnTo>
                <a:lnTo>
                  <a:pt x="3157538" y="373934"/>
                </a:lnTo>
                <a:lnTo>
                  <a:pt x="3238500" y="375607"/>
                </a:lnTo>
                <a:lnTo>
                  <a:pt x="3319463" y="376994"/>
                </a:lnTo>
                <a:lnTo>
                  <a:pt x="3400425" y="378092"/>
                </a:lnTo>
                <a:lnTo>
                  <a:pt x="3481388" y="378898"/>
                </a:lnTo>
                <a:lnTo>
                  <a:pt x="3562350" y="379411"/>
                </a:lnTo>
                <a:lnTo>
                  <a:pt x="3643313" y="379629"/>
                </a:lnTo>
                <a:lnTo>
                  <a:pt x="3724275" y="379549"/>
                </a:lnTo>
                <a:lnTo>
                  <a:pt x="3805238" y="379171"/>
                </a:lnTo>
                <a:lnTo>
                  <a:pt x="3886200" y="378494"/>
                </a:lnTo>
                <a:lnTo>
                  <a:pt x="3967163" y="377516"/>
                </a:lnTo>
                <a:lnTo>
                  <a:pt x="4048125" y="376238"/>
                </a:lnTo>
                <a:lnTo>
                  <a:pt x="4129088" y="374658"/>
                </a:lnTo>
                <a:lnTo>
                  <a:pt x="4210050" y="372779"/>
                </a:lnTo>
                <a:lnTo>
                  <a:pt x="4291013" y="370599"/>
                </a:lnTo>
                <a:lnTo>
                  <a:pt x="4371975" y="368119"/>
                </a:lnTo>
                <a:lnTo>
                  <a:pt x="4452938" y="365341"/>
                </a:lnTo>
                <a:lnTo>
                  <a:pt x="4533900" y="362266"/>
                </a:lnTo>
                <a:lnTo>
                  <a:pt x="4614863" y="358896"/>
                </a:lnTo>
                <a:lnTo>
                  <a:pt x="4695825" y="355232"/>
                </a:lnTo>
                <a:lnTo>
                  <a:pt x="4776788" y="351276"/>
                </a:lnTo>
                <a:lnTo>
                  <a:pt x="4857750" y="347032"/>
                </a:lnTo>
                <a:lnTo>
                  <a:pt x="4938713" y="342502"/>
                </a:lnTo>
                <a:lnTo>
                  <a:pt x="5019675" y="337688"/>
                </a:lnTo>
                <a:lnTo>
                  <a:pt x="5100638" y="332595"/>
                </a:lnTo>
                <a:lnTo>
                  <a:pt x="5181600" y="327226"/>
                </a:lnTo>
                <a:lnTo>
                  <a:pt x="5262563" y="321585"/>
                </a:lnTo>
                <a:lnTo>
                  <a:pt x="5343525" y="315676"/>
                </a:lnTo>
                <a:lnTo>
                  <a:pt x="5424488" y="309503"/>
                </a:lnTo>
                <a:lnTo>
                  <a:pt x="5505450" y="303071"/>
                </a:lnTo>
                <a:lnTo>
                  <a:pt x="5586413" y="296385"/>
                </a:lnTo>
                <a:lnTo>
                  <a:pt x="5667375" y="289451"/>
                </a:lnTo>
                <a:lnTo>
                  <a:pt x="5748338" y="282273"/>
                </a:lnTo>
                <a:lnTo>
                  <a:pt x="5829300" y="274857"/>
                </a:lnTo>
                <a:lnTo>
                  <a:pt x="5910263" y="267210"/>
                </a:lnTo>
                <a:lnTo>
                  <a:pt x="5991225" y="259337"/>
                </a:lnTo>
                <a:lnTo>
                  <a:pt x="6072188" y="251245"/>
                </a:lnTo>
                <a:lnTo>
                  <a:pt x="6153150" y="242940"/>
                </a:lnTo>
                <a:lnTo>
                  <a:pt x="6234113" y="234429"/>
                </a:lnTo>
                <a:lnTo>
                  <a:pt x="6315075" y="225719"/>
                </a:lnTo>
                <a:lnTo>
                  <a:pt x="6396038" y="216818"/>
                </a:lnTo>
                <a:lnTo>
                  <a:pt x="6477000" y="207732"/>
                </a:lnTo>
                <a:lnTo>
                  <a:pt x="6557963" y="198469"/>
                </a:lnTo>
                <a:lnTo>
                  <a:pt x="6638925" y="189038"/>
                </a:lnTo>
                <a:lnTo>
                  <a:pt x="6719888" y="179445"/>
                </a:lnTo>
                <a:lnTo>
                  <a:pt x="6800850" y="169699"/>
                </a:lnTo>
                <a:lnTo>
                  <a:pt x="6881813" y="159808"/>
                </a:lnTo>
                <a:lnTo>
                  <a:pt x="6962775" y="149780"/>
                </a:lnTo>
                <a:lnTo>
                  <a:pt x="7043738" y="139624"/>
                </a:lnTo>
                <a:lnTo>
                  <a:pt x="7124700" y="129349"/>
                </a:lnTo>
                <a:lnTo>
                  <a:pt x="7205663" y="118964"/>
                </a:lnTo>
                <a:lnTo>
                  <a:pt x="7286625" y="108476"/>
                </a:lnTo>
                <a:lnTo>
                  <a:pt x="7367588" y="97895"/>
                </a:lnTo>
                <a:lnTo>
                  <a:pt x="7448550" y="87231"/>
                </a:lnTo>
                <a:lnTo>
                  <a:pt x="7529513" y="76491"/>
                </a:lnTo>
                <a:lnTo>
                  <a:pt x="7610475" y="65686"/>
                </a:lnTo>
                <a:lnTo>
                  <a:pt x="7691438" y="54825"/>
                </a:lnTo>
                <a:lnTo>
                  <a:pt x="7772400" y="43917"/>
                </a:lnTo>
                <a:lnTo>
                  <a:pt x="7853363" y="32970"/>
                </a:lnTo>
                <a:lnTo>
                  <a:pt x="7934325" y="21996"/>
                </a:lnTo>
                <a:lnTo>
                  <a:pt x="8015288" y="11003"/>
                </a:ln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C15D42"/>
            </a:solidFill>
            <a:prstDash val="solid"/>
          </a:ln>
        </p:spPr>
      </p:sp>
      <p:sp>
        <p:nvSpPr>
          <p:cNvPr id="19" name="path-3--arrow">
            <a:extLst xmlns:a="http://schemas.openxmlformats.org/drawingml/2006/main">
              <a:ext uri="{FF2B5EF4-FFF2-40B4-BE49-F238E27FC236}">
                <a16:creationId xmlns:a16="http://schemas.microsoft.com/office/drawing/2014/main" id="{DFFC763D-B15B-47B9-A0A3-1EE4E43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256" y="3964970"/>
            <a:ext cx="127869" cy="103896"/>
          </a:xfrm>
          <a:custGeom xmlns:a="http://schemas.openxmlformats.org/drawingml/2006/main">
            <a:pathLst>
              <a:path w="127869" h="103896">
                <a:moveTo>
                  <a:pt x="127869" y="35530"/>
                </a:moveTo>
                <a:lnTo>
                  <a:pt x="0" y="0"/>
                </a:lnTo>
                <a:lnTo>
                  <a:pt x="14119" y="103896"/>
                </a:lnTo>
                <a:close/>
              </a:path>
            </a:pathLst>
          </a:custGeom>
          <a:solidFill xmlns:a="http://schemas.openxmlformats.org/drawingml/2006/main">
            <a:srgbClr val="C15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itial-3">
            <a:extLst xmlns:a="http://schemas.openxmlformats.org/drawingml/2006/main">
              <a:ext uri="{FF2B5EF4-FFF2-40B4-BE49-F238E27FC236}">
                <a16:creationId xmlns:a16="http://schemas.microsoft.com/office/drawing/2014/main" id="{C420298D-7F09-43D2-BECD-D7F5BF5E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067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5D42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1" name="final-3">
            <a:extLst xmlns:a="http://schemas.openxmlformats.org/drawingml/2006/main">
              <a:ext uri="{FF2B5EF4-FFF2-40B4-BE49-F238E27FC236}">
                <a16:creationId xmlns:a16="http://schemas.microsoft.com/office/drawing/2014/main" id="{0E3E9CAA-57FE-496D-9235-86072515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924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5D42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2" name="velocity-3">
            <a:extLst xmlns:a="http://schemas.openxmlformats.org/drawingml/2006/main">
              <a:ext uri="{FF2B5EF4-FFF2-40B4-BE49-F238E27FC236}">
                <a16:creationId xmlns:a16="http://schemas.microsoft.com/office/drawing/2014/main" id="{062AD43F-10C5-4DED-9EFC-BA7F2E01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4130796"/>
            <a:ext cx="647700" cy="18620"/>
          </a:xfrm>
          <a:custGeom xmlns:a="http://schemas.openxmlformats.org/drawingml/2006/main">
            <a:pathLst>
              <a:path w="647700" h="18620">
                <a:moveTo>
                  <a:pt x="0" y="18620"/>
                </a:moveTo>
                <a:lnTo>
                  <a:pt x="647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C15D42"/>
            </a:solidFill>
            <a:prstDash val="solid"/>
          </a:ln>
        </p:spPr>
      </p:sp>
      <p:sp>
        <p:nvSpPr>
          <p:cNvPr id="23" name="velocity-3--arrow">
            <a:extLst xmlns:a="http://schemas.openxmlformats.org/drawingml/2006/main">
              <a:ext uri="{FF2B5EF4-FFF2-40B4-BE49-F238E27FC236}">
                <a16:creationId xmlns:a16="http://schemas.microsoft.com/office/drawing/2014/main" id="{BA7C6C10-8E15-4140-8267-BE4CE331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5108" y="4084569"/>
            <a:ext cx="116629" cy="99076"/>
          </a:xfrm>
          <a:custGeom xmlns:a="http://schemas.openxmlformats.org/drawingml/2006/main">
            <a:pathLst>
              <a:path w="116629" h="99076">
                <a:moveTo>
                  <a:pt x="116629" y="46226"/>
                </a:moveTo>
                <a:lnTo>
                  <a:pt x="0" y="0"/>
                </a:lnTo>
                <a:lnTo>
                  <a:pt x="2848" y="99076"/>
                </a:lnTo>
                <a:close/>
              </a:path>
            </a:pathLst>
          </a:custGeom>
          <a:solidFill xmlns:a="http://schemas.openxmlformats.org/drawingml/2006/main">
            <a:srgbClr val="C15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elocity-label">
            <a:extLst xmlns:a="http://schemas.openxmlformats.org/drawingml/2006/main">
              <a:ext uri="{FF2B5EF4-FFF2-40B4-BE49-F238E27FC236}">
                <a16:creationId xmlns:a16="http://schemas.microsoft.com/office/drawing/2014/main" id="{4111A605-5B6B-49C7-9445-0C46E05E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71675"/>
            <a:ext cx="228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Local velocity</a:t>
            </a:r>
          </a:p>
        </p:txBody>
      </p:sp>
      <p:sp>
        <p:nvSpPr>
          <p:cNvPr id="25" name="time-axis">
            <a:extLst xmlns:a="http://schemas.openxmlformats.org/drawingml/2006/main">
              <a:ext uri="{FF2B5EF4-FFF2-40B4-BE49-F238E27FC236}">
                <a16:creationId xmlns:a16="http://schemas.microsoft.com/office/drawing/2014/main" id="{6E0F3D8A-014E-46D7-9468-0D1F12F0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8334375" cy="95"/>
          </a:xfrm>
          <a:custGeom xmlns:a="http://schemas.openxmlformats.org/drawingml/2006/main">
            <a:pathLst>
              <a:path w="8334375" h="95">
                <a:moveTo>
                  <a:pt x="0" y="0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8595"/>
            </a:solidFill>
            <a:prstDash val="solid"/>
          </a:ln>
        </p:spPr>
      </p:sp>
      <p:sp>
        <p:nvSpPr>
          <p:cNvPr id="26" name="time-axis--arrow">
            <a:extLst xmlns:a="http://schemas.openxmlformats.org/drawingml/2006/main">
              <a:ext uri="{FF2B5EF4-FFF2-40B4-BE49-F238E27FC236}">
                <a16:creationId xmlns:a16="http://schemas.microsoft.com/office/drawing/2014/main" id="{908973DC-9E33-45FB-B9F6-F1C41CDA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10" y="5048364"/>
            <a:ext cx="110490" cy="95021"/>
          </a:xfrm>
          <a:custGeom xmlns:a="http://schemas.openxmlformats.org/drawingml/2006/main">
            <a:pathLst>
              <a:path w="110490" h="95021">
                <a:moveTo>
                  <a:pt x="110490" y="47511"/>
                </a:moveTo>
                <a:lnTo>
                  <a:pt x="0" y="0"/>
                </a:lnTo>
                <a:lnTo>
                  <a:pt x="0" y="95021"/>
                </a:lnTo>
                <a:close/>
              </a:path>
            </a:pathLst>
          </a:custGeom>
          <a:solidFill xmlns:a="http://schemas.openxmlformats.org/drawingml/2006/main">
            <a:srgbClr val="7585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ime-start">
            <a:extLst xmlns:a="http://schemas.openxmlformats.org/drawingml/2006/main">
              <a:ext uri="{FF2B5EF4-FFF2-40B4-BE49-F238E27FC236}">
                <a16:creationId xmlns:a16="http://schemas.microsoft.com/office/drawing/2014/main" id="{92A3EF64-0883-4664-9622-A0E3C51F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t = 0</a:t>
            </a:r>
          </a:p>
        </p:txBody>
      </p:sp>
      <p:sp>
        <p:nvSpPr>
          <p:cNvPr id="28" name="time-end">
            <a:extLst xmlns:a="http://schemas.openxmlformats.org/drawingml/2006/main">
              <a:ext uri="{FF2B5EF4-FFF2-40B4-BE49-F238E27FC236}">
                <a16:creationId xmlns:a16="http://schemas.microsoft.com/office/drawing/2014/main" id="{856DB5D5-3760-4509-A423-DBAAE8D1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t = 1</a:t>
            </a:r>
          </a:p>
        </p:txBody>
      </p:sp>
      <p:sp>
        <p:nvSpPr>
          <p:cNvPr id="29" name="time-label">
            <a:extLst xmlns:a="http://schemas.openxmlformats.org/drawingml/2006/main">
              <a:ext uri="{FF2B5EF4-FFF2-40B4-BE49-F238E27FC236}">
                <a16:creationId xmlns:a16="http://schemas.microsoft.com/office/drawing/2014/main" id="{70D31C23-A497-4DDC-9F3E-A7A2EC38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30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70AD66DC-5EC3-41B5-8F6C-1AFC0C99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887"/>
                </a:solidFill>
                <a:latin typeface="Arial"/>
                <a:ea typeface="Arial"/>
                <a:cs typeface="Arial"/>
              </a:rPr>
              <a:t>Illustration: each initial state follows one trajectory under a well-posed velocity field.</a:t>
            </a:r>
          </a:p>
        </p:txBody>
      </p:sp>
    </p:spTree>
    <p:extLst>
      <p:ext uri="{BB962C8B-B14F-4D97-AF65-F5344CB8AC3E}">
        <p14:creationId xmlns:p14="http://schemas.microsoft.com/office/powerpoint/2010/main" val="1574327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BA13368E-3504-40EA-80E9-E040C1F3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SDE · drift and stochastic variation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3AEE57D5-C0CD-46F8-B355-9D60D9A0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dX = b(X, t) dt + σ(X, t) dW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75237AB7-0884-4379-BEF1-10976A6B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shared-label">
            <a:extLst xmlns:a="http://schemas.openxmlformats.org/drawingml/2006/main">
              <a:ext uri="{FF2B5EF4-FFF2-40B4-BE49-F238E27FC236}">
                <a16:creationId xmlns:a16="http://schemas.microsoft.com/office/drawing/2014/main" id="{CAFA355A-8742-42BB-8043-1BD57B9E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Shared state</a:t>
            </a:r>
          </a:p>
        </p:txBody>
      </p:sp>
      <p:sp>
        <p:nvSpPr>
          <p:cNvPr id="5" name="realizations-label">
            <a:extLst xmlns:a="http://schemas.openxmlformats.org/drawingml/2006/main">
              <a:ext uri="{FF2B5EF4-FFF2-40B4-BE49-F238E27FC236}">
                <a16:creationId xmlns:a16="http://schemas.microsoft.com/office/drawing/2014/main" id="{1BB3A6AC-1632-43FA-9C84-087C6646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478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Possible realizations</a:t>
            </a:r>
          </a:p>
        </p:txBody>
      </p:sp>
      <p:sp>
        <p:nvSpPr>
          <p:cNvPr id="6" name="path-1">
            <a:extLst xmlns:a="http://schemas.openxmlformats.org/drawingml/2006/main">
              <a:ext uri="{FF2B5EF4-FFF2-40B4-BE49-F238E27FC236}">
                <a16:creationId xmlns:a16="http://schemas.microsoft.com/office/drawing/2014/main" id="{374B92F4-15DD-4D2A-81A9-6CFC5ED1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27637"/>
            <a:ext cx="8096250" cy="1063238"/>
          </a:xfrm>
          <a:custGeom xmlns:a="http://schemas.openxmlformats.org/drawingml/2006/main">
            <a:pathLst>
              <a:path w="8096250" h="1063238">
                <a:moveTo>
                  <a:pt x="0" y="1063238"/>
                </a:moveTo>
                <a:lnTo>
                  <a:pt x="67469" y="1062439"/>
                </a:lnTo>
                <a:lnTo>
                  <a:pt x="134937" y="1045987"/>
                </a:lnTo>
                <a:lnTo>
                  <a:pt x="202406" y="1032880"/>
                </a:lnTo>
                <a:lnTo>
                  <a:pt x="269875" y="1039085"/>
                </a:lnTo>
                <a:lnTo>
                  <a:pt x="337344" y="1013498"/>
                </a:lnTo>
                <a:lnTo>
                  <a:pt x="404813" y="964467"/>
                </a:lnTo>
                <a:lnTo>
                  <a:pt x="472281" y="954923"/>
                </a:lnTo>
                <a:lnTo>
                  <a:pt x="539750" y="950260"/>
                </a:lnTo>
                <a:lnTo>
                  <a:pt x="607219" y="906172"/>
                </a:lnTo>
                <a:lnTo>
                  <a:pt x="674687" y="893797"/>
                </a:lnTo>
                <a:lnTo>
                  <a:pt x="742156" y="931551"/>
                </a:lnTo>
                <a:lnTo>
                  <a:pt x="809625" y="928443"/>
                </a:lnTo>
                <a:lnTo>
                  <a:pt x="877094" y="899185"/>
                </a:lnTo>
                <a:lnTo>
                  <a:pt x="944563" y="922901"/>
                </a:lnTo>
                <a:lnTo>
                  <a:pt x="1012031" y="932986"/>
                </a:lnTo>
                <a:lnTo>
                  <a:pt x="1079500" y="867806"/>
                </a:lnTo>
                <a:lnTo>
                  <a:pt x="1146969" y="827157"/>
                </a:lnTo>
                <a:lnTo>
                  <a:pt x="1214438" y="836695"/>
                </a:lnTo>
                <a:lnTo>
                  <a:pt x="1281906" y="791709"/>
                </a:lnTo>
                <a:lnTo>
                  <a:pt x="1349375" y="730135"/>
                </a:lnTo>
                <a:lnTo>
                  <a:pt x="1416844" y="757953"/>
                </a:lnTo>
                <a:lnTo>
                  <a:pt x="1484312" y="792074"/>
                </a:lnTo>
                <a:lnTo>
                  <a:pt x="1551781" y="757592"/>
                </a:lnTo>
                <a:lnTo>
                  <a:pt x="1619250" y="765335"/>
                </a:lnTo>
                <a:lnTo>
                  <a:pt x="1686719" y="825060"/>
                </a:lnTo>
                <a:lnTo>
                  <a:pt x="1754188" y="799095"/>
                </a:lnTo>
                <a:lnTo>
                  <a:pt x="1821656" y="728582"/>
                </a:lnTo>
                <a:lnTo>
                  <a:pt x="1889125" y="733556"/>
                </a:lnTo>
                <a:lnTo>
                  <a:pt x="1956594" y="721856"/>
                </a:lnTo>
                <a:lnTo>
                  <a:pt x="2024063" y="626876"/>
                </a:lnTo>
                <a:lnTo>
                  <a:pt x="2091531" y="594533"/>
                </a:lnTo>
                <a:lnTo>
                  <a:pt x="2159000" y="644365"/>
                </a:lnTo>
                <a:lnTo>
                  <a:pt x="2226469" y="627897"/>
                </a:lnTo>
                <a:lnTo>
                  <a:pt x="2293938" y="594455"/>
                </a:lnTo>
                <a:lnTo>
                  <a:pt x="2361406" y="664019"/>
                </a:lnTo>
                <a:lnTo>
                  <a:pt x="2428875" y="711670"/>
                </a:lnTo>
                <a:lnTo>
                  <a:pt x="2496344" y="650040"/>
                </a:lnTo>
                <a:lnTo>
                  <a:pt x="2563812" y="629898"/>
                </a:lnTo>
                <a:lnTo>
                  <a:pt x="2631281" y="662462"/>
                </a:lnTo>
                <a:lnTo>
                  <a:pt x="2698750" y="590720"/>
                </a:lnTo>
                <a:lnTo>
                  <a:pt x="2766219" y="489968"/>
                </a:lnTo>
                <a:lnTo>
                  <a:pt x="2833688" y="508322"/>
                </a:lnTo>
                <a:lnTo>
                  <a:pt x="2901156" y="523141"/>
                </a:lnTo>
                <a:lnTo>
                  <a:pt x="2968625" y="456125"/>
                </a:lnTo>
                <a:lnTo>
                  <a:pt x="3036094" y="474778"/>
                </a:lnTo>
                <a:lnTo>
                  <a:pt x="3103563" y="574955"/>
                </a:lnTo>
                <a:lnTo>
                  <a:pt x="3171031" y="568864"/>
                </a:lnTo>
                <a:lnTo>
                  <a:pt x="3238500" y="522786"/>
                </a:lnTo>
                <a:lnTo>
                  <a:pt x="3305969" y="575015"/>
                </a:lnTo>
                <a:lnTo>
                  <a:pt x="3373438" y="579360"/>
                </a:lnTo>
                <a:lnTo>
                  <a:pt x="3440906" y="459715"/>
                </a:lnTo>
                <a:lnTo>
                  <a:pt x="3508375" y="411813"/>
                </a:lnTo>
                <a:lnTo>
                  <a:pt x="3575844" y="445476"/>
                </a:lnTo>
                <a:lnTo>
                  <a:pt x="3643313" y="382827"/>
                </a:lnTo>
                <a:lnTo>
                  <a:pt x="3710781" y="318074"/>
                </a:lnTo>
                <a:lnTo>
                  <a:pt x="3778250" y="401288"/>
                </a:lnTo>
                <a:lnTo>
                  <a:pt x="3845719" y="465461"/>
                </a:lnTo>
                <a:lnTo>
                  <a:pt x="3913187" y="418373"/>
                </a:lnTo>
                <a:lnTo>
                  <a:pt x="3980656" y="446949"/>
                </a:lnTo>
                <a:lnTo>
                  <a:pt x="4048125" y="532004"/>
                </a:lnTo>
                <a:lnTo>
                  <a:pt x="4115594" y="471112"/>
                </a:lnTo>
                <a:lnTo>
                  <a:pt x="4183063" y="368123"/>
                </a:lnTo>
                <a:lnTo>
                  <a:pt x="4250531" y="388083"/>
                </a:lnTo>
                <a:lnTo>
                  <a:pt x="4318000" y="370181"/>
                </a:lnTo>
                <a:lnTo>
                  <a:pt x="4385469" y="248486"/>
                </a:lnTo>
                <a:lnTo>
                  <a:pt x="4452938" y="244071"/>
                </a:lnTo>
                <a:lnTo>
                  <a:pt x="4520406" y="341320"/>
                </a:lnTo>
                <a:lnTo>
                  <a:pt x="4587875" y="327137"/>
                </a:lnTo>
                <a:lnTo>
                  <a:pt x="4655344" y="303241"/>
                </a:lnTo>
                <a:lnTo>
                  <a:pt x="4722813" y="414867"/>
                </a:lnTo>
                <a:lnTo>
                  <a:pt x="4790281" y="462223"/>
                </a:lnTo>
                <a:lnTo>
                  <a:pt x="4857750" y="362652"/>
                </a:lnTo>
                <a:lnTo>
                  <a:pt x="4925219" y="341129"/>
                </a:lnTo>
                <a:lnTo>
                  <a:pt x="4992688" y="379031"/>
                </a:lnTo>
                <a:lnTo>
                  <a:pt x="5060156" y="273454"/>
                </a:lnTo>
                <a:lnTo>
                  <a:pt x="5127625" y="164195"/>
                </a:lnTo>
                <a:lnTo>
                  <a:pt x="5195094" y="224155"/>
                </a:lnTo>
                <a:lnTo>
                  <a:pt x="5262563" y="257719"/>
                </a:lnTo>
                <a:lnTo>
                  <a:pt x="5330031" y="190751"/>
                </a:lnTo>
                <a:lnTo>
                  <a:pt x="5397500" y="249614"/>
                </a:lnTo>
                <a:lnTo>
                  <a:pt x="5464969" y="384366"/>
                </a:lnTo>
                <a:lnTo>
                  <a:pt x="5532438" y="357568"/>
                </a:lnTo>
                <a:lnTo>
                  <a:pt x="5599906" y="296871"/>
                </a:lnTo>
                <a:lnTo>
                  <a:pt x="5667375" y="361639"/>
                </a:lnTo>
                <a:lnTo>
                  <a:pt x="5734844" y="342888"/>
                </a:lnTo>
                <a:lnTo>
                  <a:pt x="5802313" y="185971"/>
                </a:lnTo>
                <a:lnTo>
                  <a:pt x="5869781" y="153301"/>
                </a:lnTo>
                <a:lnTo>
                  <a:pt x="5937250" y="213493"/>
                </a:lnTo>
                <a:lnTo>
                  <a:pt x="6004719" y="146268"/>
                </a:lnTo>
                <a:lnTo>
                  <a:pt x="6072188" y="103252"/>
                </a:lnTo>
                <a:lnTo>
                  <a:pt x="6139656" y="239608"/>
                </a:lnTo>
                <a:lnTo>
                  <a:pt x="6207125" y="314588"/>
                </a:lnTo>
                <a:lnTo>
                  <a:pt x="6274594" y="251348"/>
                </a:lnTo>
                <a:lnTo>
                  <a:pt x="6342063" y="293677"/>
                </a:lnTo>
                <a:lnTo>
                  <a:pt x="6409531" y="378643"/>
                </a:lnTo>
                <a:lnTo>
                  <a:pt x="6477000" y="273642"/>
                </a:lnTo>
                <a:lnTo>
                  <a:pt x="6544469" y="152449"/>
                </a:lnTo>
                <a:lnTo>
                  <a:pt x="6611938" y="192485"/>
                </a:lnTo>
                <a:lnTo>
                  <a:pt x="6679406" y="170475"/>
                </a:lnTo>
                <a:lnTo>
                  <a:pt x="6746875" y="44356"/>
                </a:lnTo>
                <a:lnTo>
                  <a:pt x="6814344" y="85465"/>
                </a:lnTo>
                <a:lnTo>
                  <a:pt x="6881813" y="222328"/>
                </a:lnTo>
                <a:lnTo>
                  <a:pt x="6949281" y="203803"/>
                </a:lnTo>
                <a:lnTo>
                  <a:pt x="7016750" y="190022"/>
                </a:lnTo>
                <a:lnTo>
                  <a:pt x="7084219" y="325434"/>
                </a:lnTo>
                <a:lnTo>
                  <a:pt x="7151687" y="347708"/>
                </a:lnTo>
                <a:lnTo>
                  <a:pt x="7219156" y="207769"/>
                </a:lnTo>
                <a:lnTo>
                  <a:pt x="7286625" y="188400"/>
                </a:lnTo>
                <a:lnTo>
                  <a:pt x="7354094" y="225629"/>
                </a:lnTo>
                <a:lnTo>
                  <a:pt x="7421563" y="94486"/>
                </a:lnTo>
                <a:lnTo>
                  <a:pt x="7489031" y="0"/>
                </a:lnTo>
                <a:lnTo>
                  <a:pt x="7556500" y="108705"/>
                </a:lnTo>
                <a:lnTo>
                  <a:pt x="7623969" y="156282"/>
                </a:lnTo>
                <a:lnTo>
                  <a:pt x="7691438" y="93824"/>
                </a:lnTo>
                <a:lnTo>
                  <a:pt x="7758906" y="188914"/>
                </a:lnTo>
                <a:lnTo>
                  <a:pt x="7826375" y="333619"/>
                </a:lnTo>
                <a:lnTo>
                  <a:pt x="7893844" y="268743"/>
                </a:lnTo>
                <a:lnTo>
                  <a:pt x="7961312" y="190915"/>
                </a:lnTo>
                <a:lnTo>
                  <a:pt x="8028781" y="258371"/>
                </a:lnTo>
                <a:lnTo>
                  <a:pt x="8096250" y="208367"/>
                </a:lnTo>
              </a:path>
            </a:pathLst>
          </a:custGeom>
          <a:noFill xmlns:a="http://schemas.openxmlformats.org/drawingml/2006/main"/>
          <a:ln xmlns:a="http://schemas.openxmlformats.org/drawingml/2006/main" w="29147">
            <a:solidFill>
              <a:srgbClr val="427CA3"/>
            </a:solidFill>
            <a:prstDash val="solid"/>
          </a:ln>
        </p:spPr>
      </p:sp>
      <p:sp>
        <p:nvSpPr>
          <p:cNvPr id="7" name="path-1--arrow">
            <a:extLst xmlns:a="http://schemas.openxmlformats.org/drawingml/2006/main">
              <a:ext uri="{FF2B5EF4-FFF2-40B4-BE49-F238E27FC236}">
                <a16:creationId xmlns:a16="http://schemas.microsoft.com/office/drawing/2014/main" id="{BAB5EA6D-E7CE-4C9F-A7CB-ABAA3509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334" y="2336005"/>
            <a:ext cx="131791" cy="117044"/>
          </a:xfrm>
          <a:custGeom xmlns:a="http://schemas.openxmlformats.org/drawingml/2006/main">
            <a:pathLst>
              <a:path w="131791" h="117044">
                <a:moveTo>
                  <a:pt x="131791" y="0"/>
                </a:moveTo>
                <a:lnTo>
                  <a:pt x="0" y="31095"/>
                </a:lnTo>
                <a:lnTo>
                  <a:pt x="63700" y="117044"/>
                </a:lnTo>
                <a:close/>
              </a:path>
            </a:pathLst>
          </a:custGeom>
          <a:solidFill xmlns:a="http://schemas.openxmlformats.org/drawingml/2006/main">
            <a:srgbClr val="42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nal-1">
            <a:extLst xmlns:a="http://schemas.openxmlformats.org/drawingml/2006/main">
              <a:ext uri="{FF2B5EF4-FFF2-40B4-BE49-F238E27FC236}">
                <a16:creationId xmlns:a16="http://schemas.microsoft.com/office/drawing/2014/main" id="{7EFF4282-B3F9-4618-9379-965844BC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933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7CA3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path-2">
            <a:extLst xmlns:a="http://schemas.openxmlformats.org/drawingml/2006/main">
              <a:ext uri="{FF2B5EF4-FFF2-40B4-BE49-F238E27FC236}">
                <a16:creationId xmlns:a16="http://schemas.microsoft.com/office/drawing/2014/main" id="{6A29F0DC-3F87-42D0-AB77-006572E2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10249"/>
            <a:ext cx="8096250" cy="512482"/>
          </a:xfrm>
          <a:custGeom xmlns:a="http://schemas.openxmlformats.org/drawingml/2006/main">
            <a:pathLst>
              <a:path w="8096250" h="512482">
                <a:moveTo>
                  <a:pt x="0" y="280626"/>
                </a:moveTo>
                <a:lnTo>
                  <a:pt x="67469" y="289952"/>
                </a:lnTo>
                <a:lnTo>
                  <a:pt x="134937" y="274622"/>
                </a:lnTo>
                <a:lnTo>
                  <a:pt x="202406" y="274095"/>
                </a:lnTo>
                <a:lnTo>
                  <a:pt x="269875" y="274443"/>
                </a:lnTo>
                <a:lnTo>
                  <a:pt x="337344" y="238207"/>
                </a:lnTo>
                <a:lnTo>
                  <a:pt x="404813" y="215172"/>
                </a:lnTo>
                <a:lnTo>
                  <a:pt x="472281" y="234275"/>
                </a:lnTo>
                <a:lnTo>
                  <a:pt x="539750" y="230172"/>
                </a:lnTo>
                <a:lnTo>
                  <a:pt x="607219" y="208551"/>
                </a:lnTo>
                <a:lnTo>
                  <a:pt x="674687" y="240336"/>
                </a:lnTo>
                <a:lnTo>
                  <a:pt x="742156" y="276552"/>
                </a:lnTo>
                <a:lnTo>
                  <a:pt x="809625" y="250802"/>
                </a:lnTo>
                <a:lnTo>
                  <a:pt x="877094" y="236834"/>
                </a:lnTo>
                <a:lnTo>
                  <a:pt x="944563" y="262372"/>
                </a:lnTo>
                <a:lnTo>
                  <a:pt x="1012031" y="231673"/>
                </a:lnTo>
                <a:lnTo>
                  <a:pt x="1079500" y="165806"/>
                </a:lnTo>
                <a:lnTo>
                  <a:pt x="1146969" y="169086"/>
                </a:lnTo>
                <a:lnTo>
                  <a:pt x="1214438" y="184557"/>
                </a:lnTo>
                <a:lnTo>
                  <a:pt x="1281906" y="141870"/>
                </a:lnTo>
                <a:lnTo>
                  <a:pt x="1349375" y="142337"/>
                </a:lnTo>
                <a:lnTo>
                  <a:pt x="1416844" y="212010"/>
                </a:lnTo>
                <a:lnTo>
                  <a:pt x="1484312" y="222771"/>
                </a:lnTo>
                <a:lnTo>
                  <a:pt x="1551781" y="191793"/>
                </a:lnTo>
                <a:lnTo>
                  <a:pt x="1619250" y="228124"/>
                </a:lnTo>
                <a:lnTo>
                  <a:pt x="1686719" y="249306"/>
                </a:lnTo>
                <a:lnTo>
                  <a:pt x="1754188" y="174241"/>
                </a:lnTo>
                <a:lnTo>
                  <a:pt x="1821656" y="130769"/>
                </a:lnTo>
                <a:lnTo>
                  <a:pt x="1889125" y="157008"/>
                </a:lnTo>
                <a:lnTo>
                  <a:pt x="1956594" y="121051"/>
                </a:lnTo>
                <a:lnTo>
                  <a:pt x="2024063" y="63008"/>
                </a:lnTo>
                <a:lnTo>
                  <a:pt x="2091531" y="113560"/>
                </a:lnTo>
                <a:lnTo>
                  <a:pt x="2159000" y="173533"/>
                </a:lnTo>
                <a:lnTo>
                  <a:pt x="2226469" y="145717"/>
                </a:lnTo>
                <a:lnTo>
                  <a:pt x="2293938" y="160507"/>
                </a:lnTo>
                <a:lnTo>
                  <a:pt x="2361406" y="236898"/>
                </a:lnTo>
                <a:lnTo>
                  <a:pt x="2428875" y="213045"/>
                </a:lnTo>
                <a:lnTo>
                  <a:pt x="2496344" y="133387"/>
                </a:lnTo>
                <a:lnTo>
                  <a:pt x="2563812" y="144538"/>
                </a:lnTo>
                <a:lnTo>
                  <a:pt x="2631281" y="145365"/>
                </a:lnTo>
                <a:lnTo>
                  <a:pt x="2698750" y="52311"/>
                </a:lnTo>
                <a:lnTo>
                  <a:pt x="2766219" y="30311"/>
                </a:lnTo>
                <a:lnTo>
                  <a:pt x="2833688" y="107163"/>
                </a:lnTo>
                <a:lnTo>
                  <a:pt x="2901156" y="109062"/>
                </a:lnTo>
                <a:lnTo>
                  <a:pt x="2968625" y="82909"/>
                </a:lnTo>
                <a:lnTo>
                  <a:pt x="3036094" y="168779"/>
                </a:lnTo>
                <a:lnTo>
                  <a:pt x="3103563" y="230943"/>
                </a:lnTo>
                <a:lnTo>
                  <a:pt x="3171031" y="165154"/>
                </a:lnTo>
                <a:lnTo>
                  <a:pt x="3238500" y="141525"/>
                </a:lnTo>
                <a:lnTo>
                  <a:pt x="3305969" y="183753"/>
                </a:lnTo>
                <a:lnTo>
                  <a:pt x="3373438" y="116221"/>
                </a:lnTo>
                <a:lnTo>
                  <a:pt x="3440906" y="15643"/>
                </a:lnTo>
                <a:lnTo>
                  <a:pt x="3508375" y="51544"/>
                </a:lnTo>
                <a:lnTo>
                  <a:pt x="3575844" y="91196"/>
                </a:lnTo>
                <a:lnTo>
                  <a:pt x="3643313" y="36886"/>
                </a:lnTo>
                <a:lnTo>
                  <a:pt x="3710781" y="69304"/>
                </a:lnTo>
                <a:lnTo>
                  <a:pt x="3778250" y="191569"/>
                </a:lnTo>
                <a:lnTo>
                  <a:pt x="3845719" y="194442"/>
                </a:lnTo>
                <a:lnTo>
                  <a:pt x="3913187" y="143639"/>
                </a:lnTo>
                <a:lnTo>
                  <a:pt x="3980656" y="199550"/>
                </a:lnTo>
                <a:lnTo>
                  <a:pt x="4048125" y="210769"/>
                </a:lnTo>
                <a:lnTo>
                  <a:pt x="4115594" y="87549"/>
                </a:lnTo>
                <a:lnTo>
                  <a:pt x="4183063" y="42987"/>
                </a:lnTo>
                <a:lnTo>
                  <a:pt x="4250531" y="97476"/>
                </a:lnTo>
                <a:lnTo>
                  <a:pt x="4318000" y="52935"/>
                </a:lnTo>
                <a:lnTo>
                  <a:pt x="4385469" y="0"/>
                </a:lnTo>
                <a:lnTo>
                  <a:pt x="4452938" y="105406"/>
                </a:lnTo>
                <a:lnTo>
                  <a:pt x="4520406" y="191906"/>
                </a:lnTo>
                <a:lnTo>
                  <a:pt x="4587875" y="149144"/>
                </a:lnTo>
                <a:lnTo>
                  <a:pt x="4655344" y="178313"/>
                </a:lnTo>
                <a:lnTo>
                  <a:pt x="4722813" y="271567"/>
                </a:lnTo>
                <a:lnTo>
                  <a:pt x="4790281" y="210507"/>
                </a:lnTo>
                <a:lnTo>
                  <a:pt x="4857750" y="100580"/>
                </a:lnTo>
                <a:lnTo>
                  <a:pt x="4925219" y="128786"/>
                </a:lnTo>
                <a:lnTo>
                  <a:pt x="4992688" y="128763"/>
                </a:lnTo>
                <a:lnTo>
                  <a:pt x="5060156" y="18035"/>
                </a:lnTo>
                <a:lnTo>
                  <a:pt x="5127625" y="29603"/>
                </a:lnTo>
                <a:lnTo>
                  <a:pt x="5195094" y="154696"/>
                </a:lnTo>
                <a:lnTo>
                  <a:pt x="5262563" y="158747"/>
                </a:lnTo>
                <a:lnTo>
                  <a:pt x="5330031" y="139262"/>
                </a:lnTo>
                <a:lnTo>
                  <a:pt x="5397500" y="259658"/>
                </a:lnTo>
                <a:lnTo>
                  <a:pt x="5464969" y="314611"/>
                </a:lnTo>
                <a:lnTo>
                  <a:pt x="5532438" y="207961"/>
                </a:lnTo>
                <a:lnTo>
                  <a:pt x="5599906" y="181595"/>
                </a:lnTo>
                <a:lnTo>
                  <a:pt x="5667375" y="230002"/>
                </a:lnTo>
                <a:lnTo>
                  <a:pt x="5734844" y="134300"/>
                </a:lnTo>
                <a:lnTo>
                  <a:pt x="5802313" y="32474"/>
                </a:lnTo>
                <a:lnTo>
                  <a:pt x="5869781" y="114620"/>
                </a:lnTo>
                <a:lnTo>
                  <a:pt x="5937250" y="175868"/>
                </a:lnTo>
                <a:lnTo>
                  <a:pt x="6004719" y="122631"/>
                </a:lnTo>
                <a:lnTo>
                  <a:pt x="6072188" y="191680"/>
                </a:lnTo>
                <a:lnTo>
                  <a:pt x="6139656" y="341630"/>
                </a:lnTo>
                <a:lnTo>
                  <a:pt x="6207125" y="317688"/>
                </a:lnTo>
                <a:lnTo>
                  <a:pt x="6274594" y="247504"/>
                </a:lnTo>
                <a:lnTo>
                  <a:pt x="6342063" y="312459"/>
                </a:lnTo>
                <a:lnTo>
                  <a:pt x="6409531" y="300967"/>
                </a:lnTo>
                <a:lnTo>
                  <a:pt x="6477000" y="145034"/>
                </a:lnTo>
                <a:lnTo>
                  <a:pt x="6544469" y="121178"/>
                </a:lnTo>
                <a:lnTo>
                  <a:pt x="6611938" y="207091"/>
                </a:lnTo>
                <a:lnTo>
                  <a:pt x="6679406" y="162151"/>
                </a:lnTo>
                <a:lnTo>
                  <a:pt x="6746875" y="132117"/>
                </a:lnTo>
                <a:lnTo>
                  <a:pt x="6814344" y="287370"/>
                </a:lnTo>
                <a:lnTo>
                  <a:pt x="6881813" y="378961"/>
                </a:lnTo>
                <a:lnTo>
                  <a:pt x="6949281" y="313754"/>
                </a:lnTo>
                <a:lnTo>
                  <a:pt x="7016750" y="350274"/>
                </a:lnTo>
                <a:lnTo>
                  <a:pt x="7084219" y="438902"/>
                </a:lnTo>
                <a:lnTo>
                  <a:pt x="7151687" y="333195"/>
                </a:lnTo>
                <a:lnTo>
                  <a:pt x="7219156" y="207809"/>
                </a:lnTo>
                <a:lnTo>
                  <a:pt x="7286625" y="260496"/>
                </a:lnTo>
                <a:lnTo>
                  <a:pt x="7354094" y="261716"/>
                </a:lnTo>
                <a:lnTo>
                  <a:pt x="7421563" y="151164"/>
                </a:lnTo>
                <a:lnTo>
                  <a:pt x="7489031" y="209695"/>
                </a:lnTo>
                <a:lnTo>
                  <a:pt x="7556500" y="372216"/>
                </a:lnTo>
                <a:lnTo>
                  <a:pt x="7623969" y="367088"/>
                </a:lnTo>
                <a:lnTo>
                  <a:pt x="7691438" y="350963"/>
                </a:lnTo>
                <a:lnTo>
                  <a:pt x="7758906" y="487922"/>
                </a:lnTo>
                <a:lnTo>
                  <a:pt x="7826375" y="512482"/>
                </a:lnTo>
                <a:lnTo>
                  <a:pt x="7893844" y="363391"/>
                </a:lnTo>
                <a:lnTo>
                  <a:pt x="7961312" y="340255"/>
                </a:lnTo>
                <a:lnTo>
                  <a:pt x="8028781" y="391767"/>
                </a:lnTo>
                <a:lnTo>
                  <a:pt x="8096250" y="275796"/>
                </a:lnTo>
              </a:path>
            </a:pathLst>
          </a:custGeom>
          <a:noFill xmlns:a="http://schemas.openxmlformats.org/drawingml/2006/main"/>
          <a:ln xmlns:a="http://schemas.openxmlformats.org/drawingml/2006/main" w="29147">
            <a:solidFill>
              <a:srgbClr val="428778"/>
            </a:solidFill>
            <a:prstDash val="solid"/>
          </a:ln>
        </p:spPr>
      </p:sp>
      <p:sp>
        <p:nvSpPr>
          <p:cNvPr id="10" name="path-2--arrow">
            <a:extLst xmlns:a="http://schemas.openxmlformats.org/drawingml/2006/main">
              <a:ext uri="{FF2B5EF4-FFF2-40B4-BE49-F238E27FC236}">
                <a16:creationId xmlns:a16="http://schemas.microsoft.com/office/drawing/2014/main" id="{5E52FD54-5CD2-4EFF-BF9B-01399D5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4335" y="3186045"/>
            <a:ext cx="108790" cy="134422"/>
          </a:xfrm>
          <a:custGeom xmlns:a="http://schemas.openxmlformats.org/drawingml/2006/main">
            <a:pathLst>
              <a:path w="108790" h="134422">
                <a:moveTo>
                  <a:pt x="108790" y="0"/>
                </a:moveTo>
                <a:lnTo>
                  <a:pt x="0" y="80625"/>
                </a:lnTo>
                <a:lnTo>
                  <a:pt x="92471" y="134422"/>
                </a:lnTo>
                <a:close/>
              </a:path>
            </a:pathLst>
          </a:custGeom>
          <a:solidFill xmlns:a="http://schemas.openxmlformats.org/drawingml/2006/main">
            <a:srgbClr val="428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nal-2">
            <a:extLst xmlns:a="http://schemas.openxmlformats.org/drawingml/2006/main">
              <a:ext uri="{FF2B5EF4-FFF2-40B4-BE49-F238E27FC236}">
                <a16:creationId xmlns:a16="http://schemas.microsoft.com/office/drawing/2014/main" id="{9172A2F7-CBE3-487C-B024-F0743002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193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77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2" name="path-3">
            <a:extLst xmlns:a="http://schemas.openxmlformats.org/drawingml/2006/main">
              <a:ext uri="{FF2B5EF4-FFF2-40B4-BE49-F238E27FC236}">
                <a16:creationId xmlns:a16="http://schemas.microsoft.com/office/drawing/2014/main" id="{E3B973D8-4F0D-4504-93CA-07D29095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61703"/>
            <a:ext cx="8096250" cy="1013967"/>
          </a:xfrm>
          <a:custGeom xmlns:a="http://schemas.openxmlformats.org/drawingml/2006/main">
            <a:pathLst>
              <a:path w="8096250" h="1013967">
                <a:moveTo>
                  <a:pt x="0" y="29172"/>
                </a:moveTo>
                <a:lnTo>
                  <a:pt x="67469" y="35269"/>
                </a:lnTo>
                <a:lnTo>
                  <a:pt x="134937" y="25209"/>
                </a:lnTo>
                <a:lnTo>
                  <a:pt x="202406" y="34471"/>
                </a:lnTo>
                <a:lnTo>
                  <a:pt x="269875" y="27380"/>
                </a:lnTo>
                <a:lnTo>
                  <a:pt x="337344" y="1856"/>
                </a:lnTo>
                <a:lnTo>
                  <a:pt x="404813" y="17542"/>
                </a:lnTo>
                <a:lnTo>
                  <a:pt x="472281" y="50549"/>
                </a:lnTo>
                <a:lnTo>
                  <a:pt x="539750" y="43705"/>
                </a:lnTo>
                <a:lnTo>
                  <a:pt x="607219" y="49383"/>
                </a:lnTo>
                <a:lnTo>
                  <a:pt x="674687" y="96294"/>
                </a:lnTo>
                <a:lnTo>
                  <a:pt x="742156" y="99405"/>
                </a:lnTo>
                <a:lnTo>
                  <a:pt x="809625" y="58915"/>
                </a:lnTo>
                <a:lnTo>
                  <a:pt x="877094" y="64139"/>
                </a:lnTo>
                <a:lnTo>
                  <a:pt x="944563" y="74941"/>
                </a:lnTo>
                <a:lnTo>
                  <a:pt x="1012031" y="23781"/>
                </a:lnTo>
                <a:lnTo>
                  <a:pt x="1079500" y="0"/>
                </a:lnTo>
                <a:lnTo>
                  <a:pt x="1146969" y="47056"/>
                </a:lnTo>
                <a:lnTo>
                  <a:pt x="1214438" y="58020"/>
                </a:lnTo>
                <a:lnTo>
                  <a:pt x="1281906" y="38473"/>
                </a:lnTo>
                <a:lnTo>
                  <a:pt x="1349375" y="91738"/>
                </a:lnTo>
                <a:lnTo>
                  <a:pt x="1416844" y="149450"/>
                </a:lnTo>
                <a:lnTo>
                  <a:pt x="1484312" y="118371"/>
                </a:lnTo>
                <a:lnTo>
                  <a:pt x="1551781" y="99771"/>
                </a:lnTo>
                <a:lnTo>
                  <a:pt x="1619250" y="136702"/>
                </a:lnTo>
                <a:lnTo>
                  <a:pt x="1686719" y="105328"/>
                </a:lnTo>
                <a:lnTo>
                  <a:pt x="1754188" y="29724"/>
                </a:lnTo>
                <a:lnTo>
                  <a:pt x="1821656" y="45003"/>
                </a:lnTo>
                <a:lnTo>
                  <a:pt x="1889125" y="81602"/>
                </a:lnTo>
                <a:lnTo>
                  <a:pt x="1956594" y="45264"/>
                </a:lnTo>
                <a:lnTo>
                  <a:pt x="2024063" y="56682"/>
                </a:lnTo>
                <a:lnTo>
                  <a:pt x="2091531" y="151627"/>
                </a:lnTo>
                <a:lnTo>
                  <a:pt x="2159000" y="173527"/>
                </a:lnTo>
                <a:lnTo>
                  <a:pt x="2226469" y="137826"/>
                </a:lnTo>
                <a:lnTo>
                  <a:pt x="2293938" y="179888"/>
                </a:lnTo>
                <a:lnTo>
                  <a:pt x="2361406" y="208876"/>
                </a:lnTo>
                <a:lnTo>
                  <a:pt x="2428875" y="125731"/>
                </a:lnTo>
                <a:lnTo>
                  <a:pt x="2496344" y="79654"/>
                </a:lnTo>
                <a:lnTo>
                  <a:pt x="2563812" y="122421"/>
                </a:lnTo>
                <a:lnTo>
                  <a:pt x="2631281" y="98987"/>
                </a:lnTo>
                <a:lnTo>
                  <a:pt x="2698750" y="46700"/>
                </a:lnTo>
                <a:lnTo>
                  <a:pt x="2766219" y="117494"/>
                </a:lnTo>
                <a:lnTo>
                  <a:pt x="2833688" y="200838"/>
                </a:lnTo>
                <a:lnTo>
                  <a:pt x="2901156" y="177859"/>
                </a:lnTo>
                <a:lnTo>
                  <a:pt x="2968625" y="194544"/>
                </a:lnTo>
                <a:lnTo>
                  <a:pt x="3036094" y="281905"/>
                </a:lnTo>
                <a:lnTo>
                  <a:pt x="3103563" y="258324"/>
                </a:lnTo>
                <a:lnTo>
                  <a:pt x="3171031" y="168706"/>
                </a:lnTo>
                <a:lnTo>
                  <a:pt x="3238500" y="184474"/>
                </a:lnTo>
                <a:lnTo>
                  <a:pt x="3305969" y="199060"/>
                </a:lnTo>
                <a:lnTo>
                  <a:pt x="3373438" y="111050"/>
                </a:lnTo>
                <a:lnTo>
                  <a:pt x="3440906" y="99780"/>
                </a:lnTo>
                <a:lnTo>
                  <a:pt x="3508375" y="202377"/>
                </a:lnTo>
                <a:lnTo>
                  <a:pt x="3575844" y="222045"/>
                </a:lnTo>
                <a:lnTo>
                  <a:pt x="3643313" y="200423"/>
                </a:lnTo>
                <a:lnTo>
                  <a:pt x="3710781" y="297022"/>
                </a:lnTo>
                <a:lnTo>
                  <a:pt x="3778250" y="369526"/>
                </a:lnTo>
                <a:lnTo>
                  <a:pt x="3845719" y="297285"/>
                </a:lnTo>
                <a:lnTo>
                  <a:pt x="3913187" y="267309"/>
                </a:lnTo>
                <a:lnTo>
                  <a:pt x="3980656" y="317739"/>
                </a:lnTo>
                <a:lnTo>
                  <a:pt x="4048125" y="256219"/>
                </a:lnTo>
                <a:lnTo>
                  <a:pt x="4115594" y="157537"/>
                </a:lnTo>
                <a:lnTo>
                  <a:pt x="4183063" y="210916"/>
                </a:lnTo>
                <a:lnTo>
                  <a:pt x="4250531" y="275725"/>
                </a:lnTo>
                <a:lnTo>
                  <a:pt x="4318000" y="233806"/>
                </a:lnTo>
                <a:lnTo>
                  <a:pt x="4385469" y="276373"/>
                </a:lnTo>
                <a:lnTo>
                  <a:pt x="4452938" y="415947"/>
                </a:lnTo>
                <a:lnTo>
                  <a:pt x="4520406" y="424365"/>
                </a:lnTo>
                <a:lnTo>
                  <a:pt x="4587875" y="365165"/>
                </a:lnTo>
                <a:lnTo>
                  <a:pt x="4655344" y="420955"/>
                </a:lnTo>
                <a:lnTo>
                  <a:pt x="4722813" y="438131"/>
                </a:lnTo>
                <a:lnTo>
                  <a:pt x="4790281" y="312530"/>
                </a:lnTo>
                <a:lnTo>
                  <a:pt x="4857750" y="271755"/>
                </a:lnTo>
                <a:lnTo>
                  <a:pt x="4925219" y="347634"/>
                </a:lnTo>
                <a:lnTo>
                  <a:pt x="4992688" y="322523"/>
                </a:lnTo>
                <a:lnTo>
                  <a:pt x="5060156" y="280570"/>
                </a:lnTo>
                <a:lnTo>
                  <a:pt x="5127625" y="404591"/>
                </a:lnTo>
                <a:lnTo>
                  <a:pt x="5195094" y="509818"/>
                </a:lnTo>
                <a:lnTo>
                  <a:pt x="5262563" y="467707"/>
                </a:lnTo>
                <a:lnTo>
                  <a:pt x="5330031" y="492520"/>
                </a:lnTo>
                <a:lnTo>
                  <a:pt x="5397500" y="590176"/>
                </a:lnTo>
                <a:lnTo>
                  <a:pt x="5464969" y="528057"/>
                </a:lnTo>
                <a:lnTo>
                  <a:pt x="5532438" y="411048"/>
                </a:lnTo>
                <a:lnTo>
                  <a:pt x="5599906" y="447423"/>
                </a:lnTo>
                <a:lnTo>
                  <a:pt x="5667375" y="466766"/>
                </a:lnTo>
                <a:lnTo>
                  <a:pt x="5734844" y="368408"/>
                </a:lnTo>
                <a:lnTo>
                  <a:pt x="5802313" y="394702"/>
                </a:lnTo>
                <a:lnTo>
                  <a:pt x="5869781" y="544992"/>
                </a:lnTo>
                <a:lnTo>
                  <a:pt x="5937250" y="564467"/>
                </a:lnTo>
                <a:lnTo>
                  <a:pt x="6004719" y="544905"/>
                </a:lnTo>
                <a:lnTo>
                  <a:pt x="6072188" y="668602"/>
                </a:lnTo>
                <a:lnTo>
                  <a:pt x="6139656" y="727665"/>
                </a:lnTo>
                <a:lnTo>
                  <a:pt x="6207125" y="612221"/>
                </a:lnTo>
                <a:lnTo>
                  <a:pt x="6274594" y="579559"/>
                </a:lnTo>
                <a:lnTo>
                  <a:pt x="6342063" y="638574"/>
                </a:lnTo>
                <a:lnTo>
                  <a:pt x="6409531" y="554682"/>
                </a:lnTo>
                <a:lnTo>
                  <a:pt x="6477000" y="461185"/>
                </a:lnTo>
                <a:lnTo>
                  <a:pt x="6544469" y="564519"/>
                </a:lnTo>
                <a:lnTo>
                  <a:pt x="6611938" y="652054"/>
                </a:lnTo>
                <a:lnTo>
                  <a:pt x="6679406" y="609863"/>
                </a:lnTo>
                <a:lnTo>
                  <a:pt x="6746875" y="683985"/>
                </a:lnTo>
                <a:lnTo>
                  <a:pt x="6814344" y="843938"/>
                </a:lnTo>
                <a:lnTo>
                  <a:pt x="6881813" y="819316"/>
                </a:lnTo>
                <a:lnTo>
                  <a:pt x="6949281" y="736584"/>
                </a:lnTo>
                <a:lnTo>
                  <a:pt x="7016750" y="799533"/>
                </a:lnTo>
                <a:lnTo>
                  <a:pt x="7084219" y="795731"/>
                </a:lnTo>
                <a:lnTo>
                  <a:pt x="7151687" y="642378"/>
                </a:lnTo>
                <a:lnTo>
                  <a:pt x="7219156" y="627772"/>
                </a:lnTo>
                <a:lnTo>
                  <a:pt x="7286625" y="739334"/>
                </a:lnTo>
                <a:lnTo>
                  <a:pt x="7354094" y="716214"/>
                </a:lnTo>
                <a:lnTo>
                  <a:pt x="7421563" y="696228"/>
                </a:lnTo>
                <a:lnTo>
                  <a:pt x="7489031" y="865361"/>
                </a:lnTo>
                <a:lnTo>
                  <a:pt x="7556500" y="968963"/>
                </a:lnTo>
                <a:lnTo>
                  <a:pt x="7623969" y="897608"/>
                </a:lnTo>
                <a:lnTo>
                  <a:pt x="7691438" y="924029"/>
                </a:lnTo>
                <a:lnTo>
                  <a:pt x="7758906" y="1013967"/>
                </a:lnTo>
                <a:lnTo>
                  <a:pt x="7826375" y="907863"/>
                </a:lnTo>
                <a:lnTo>
                  <a:pt x="7893844" y="779004"/>
                </a:lnTo>
                <a:lnTo>
                  <a:pt x="7961312" y="844819"/>
                </a:lnTo>
                <a:lnTo>
                  <a:pt x="8028781" y="870293"/>
                </a:lnTo>
                <a:lnTo>
                  <a:pt x="8096250" y="775178"/>
                </a:lnTo>
              </a:path>
            </a:pathLst>
          </a:custGeom>
          <a:noFill xmlns:a="http://schemas.openxmlformats.org/drawingml/2006/main"/>
          <a:ln xmlns:a="http://schemas.openxmlformats.org/drawingml/2006/main" w="29147">
            <a:solidFill>
              <a:srgbClr val="C56856"/>
            </a:solidFill>
            <a:prstDash val="solid"/>
          </a:ln>
        </p:spPr>
      </p:sp>
      <p:sp>
        <p:nvSpPr>
          <p:cNvPr id="13" name="path-3--arrow">
            <a:extLst xmlns:a="http://schemas.openxmlformats.org/drawingml/2006/main">
              <a:ext uri="{FF2B5EF4-FFF2-40B4-BE49-F238E27FC236}">
                <a16:creationId xmlns:a16="http://schemas.microsoft.com/office/drawing/2014/main" id="{1CDFB65C-849F-499F-8AE4-72DFC4D3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7525" y="3936881"/>
            <a:ext cx="115600" cy="132410"/>
          </a:xfrm>
          <a:custGeom xmlns:a="http://schemas.openxmlformats.org/drawingml/2006/main">
            <a:pathLst>
              <a:path w="115600" h="132410">
                <a:moveTo>
                  <a:pt x="115600" y="0"/>
                </a:moveTo>
                <a:lnTo>
                  <a:pt x="0" y="70515"/>
                </a:lnTo>
                <a:lnTo>
                  <a:pt x="87258" y="132410"/>
                </a:lnTo>
                <a:close/>
              </a:path>
            </a:pathLst>
          </a:custGeom>
          <a:solidFill xmlns:a="http://schemas.openxmlformats.org/drawingml/2006/main">
            <a:srgbClr val="C56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3">
            <a:extLst xmlns:a="http://schemas.openxmlformats.org/drawingml/2006/main">
              <a:ext uri="{FF2B5EF4-FFF2-40B4-BE49-F238E27FC236}">
                <a16:creationId xmlns:a16="http://schemas.microsoft.com/office/drawing/2014/main" id="{C934B406-0A4E-464B-8011-0BEE3540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02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856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shared-state">
            <a:extLst xmlns:a="http://schemas.openxmlformats.org/drawingml/2006/main">
              <a:ext uri="{FF2B5EF4-FFF2-40B4-BE49-F238E27FC236}">
                <a16:creationId xmlns:a16="http://schemas.microsoft.com/office/drawing/2014/main" id="{84BD12B7-E35F-4F25-99A1-366327F3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747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drift-key">
            <a:extLst xmlns:a="http://schemas.openxmlformats.org/drawingml/2006/main">
              <a:ext uri="{FF2B5EF4-FFF2-40B4-BE49-F238E27FC236}">
                <a16:creationId xmlns:a16="http://schemas.microsoft.com/office/drawing/2014/main" id="{77606973-FFB1-4509-BF5F-46E1E2BC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62450"/>
            <a:ext cx="714375" cy="95"/>
          </a:xfrm>
          <a:custGeom xmlns:a="http://schemas.openxmlformats.org/drawingml/2006/main">
            <a:pathLst>
              <a:path w="714375" h="9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263747"/>
            </a:solidFill>
            <a:prstDash val="solid"/>
          </a:ln>
        </p:spPr>
      </p:sp>
      <p:sp>
        <p:nvSpPr>
          <p:cNvPr id="17" name="drift-key--arrow">
            <a:extLst xmlns:a="http://schemas.openxmlformats.org/drawingml/2006/main">
              <a:ext uri="{FF2B5EF4-FFF2-40B4-BE49-F238E27FC236}">
                <a16:creationId xmlns:a16="http://schemas.microsoft.com/office/drawing/2014/main" id="{406292F8-98B7-40A8-B5BF-B9605C0C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735" y="4310844"/>
            <a:ext cx="120015" cy="103213"/>
          </a:xfrm>
          <a:custGeom xmlns:a="http://schemas.openxmlformats.org/drawingml/2006/main">
            <a:pathLst>
              <a:path w="120015" h="103213">
                <a:moveTo>
                  <a:pt x="120015" y="51606"/>
                </a:moveTo>
                <a:lnTo>
                  <a:pt x="0" y="0"/>
                </a:lnTo>
                <a:lnTo>
                  <a:pt x="0" y="103213"/>
                </a:lnTo>
                <a:close/>
              </a:path>
            </a:pathLst>
          </a:custGeom>
          <a:solidFill xmlns:a="http://schemas.openxmlformats.org/drawingml/2006/main">
            <a:srgbClr val="263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rift-label">
            <a:extLst xmlns:a="http://schemas.openxmlformats.org/drawingml/2006/main">
              <a:ext uri="{FF2B5EF4-FFF2-40B4-BE49-F238E27FC236}">
                <a16:creationId xmlns:a16="http://schemas.microsoft.com/office/drawing/2014/main" id="{22561BC0-1CB7-415C-AF94-35C877DE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00525"/>
            <a:ext cx="16192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Drift</a:t>
            </a:r>
          </a:p>
        </p:txBody>
      </p:sp>
      <p:sp>
        <p:nvSpPr>
          <p:cNvPr id="19" name="noise-key">
            <a:extLst xmlns:a="http://schemas.openxmlformats.org/drawingml/2006/main">
              <a:ext uri="{FF2B5EF4-FFF2-40B4-BE49-F238E27FC236}">
                <a16:creationId xmlns:a16="http://schemas.microsoft.com/office/drawing/2014/main" id="{97F1C4D4-9B61-465A-9564-2B793391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29100"/>
            <a:ext cx="762000" cy="219075"/>
          </a:xfrm>
          <a:custGeom xmlns:a="http://schemas.openxmlformats.org/drawingml/2006/main">
            <a:pathLst>
              <a:path w="762000" h="219075">
                <a:moveTo>
                  <a:pt x="0" y="133350"/>
                </a:moveTo>
                <a:lnTo>
                  <a:pt x="123825" y="38100"/>
                </a:lnTo>
                <a:lnTo>
                  <a:pt x="238125" y="219075"/>
                </a:lnTo>
                <a:lnTo>
                  <a:pt x="361950" y="57150"/>
                </a:lnTo>
                <a:lnTo>
                  <a:pt x="476250" y="133350"/>
                </a:lnTo>
                <a:lnTo>
                  <a:pt x="619125" y="0"/>
                </a:lnTo>
                <a:lnTo>
                  <a:pt x="7620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C56856"/>
            </a:solidFill>
            <a:prstDash val="solid"/>
          </a:ln>
        </p:spPr>
      </p:sp>
      <p:sp>
        <p:nvSpPr>
          <p:cNvPr id="20" name="noise-label">
            <a:extLst xmlns:a="http://schemas.openxmlformats.org/drawingml/2006/main">
              <a:ext uri="{FF2B5EF4-FFF2-40B4-BE49-F238E27FC236}">
                <a16:creationId xmlns:a16="http://schemas.microsoft.com/office/drawing/2014/main" id="{8467C6B2-5CA9-46D9-B9AB-CC85ACED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00525"/>
            <a:ext cx="3048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72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Stochastic variation</a:t>
            </a:r>
          </a:p>
        </p:txBody>
      </p:sp>
      <p:sp>
        <p:nvSpPr>
          <p:cNvPr id="21" name="time-axis">
            <a:extLst xmlns:a="http://schemas.openxmlformats.org/drawingml/2006/main">
              <a:ext uri="{FF2B5EF4-FFF2-40B4-BE49-F238E27FC236}">
                <a16:creationId xmlns:a16="http://schemas.microsoft.com/office/drawing/2014/main" id="{B74BD10C-F359-4705-BE96-2ED8F213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8334375" cy="95"/>
          </a:xfrm>
          <a:custGeom xmlns:a="http://schemas.openxmlformats.org/drawingml/2006/main">
            <a:pathLst>
              <a:path w="8334375" h="95">
                <a:moveTo>
                  <a:pt x="0" y="0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8595"/>
            </a:solidFill>
            <a:prstDash val="solid"/>
          </a:ln>
        </p:spPr>
      </p:sp>
      <p:sp>
        <p:nvSpPr>
          <p:cNvPr id="22" name="time-axis--arrow">
            <a:extLst xmlns:a="http://schemas.openxmlformats.org/drawingml/2006/main">
              <a:ext uri="{FF2B5EF4-FFF2-40B4-BE49-F238E27FC236}">
                <a16:creationId xmlns:a16="http://schemas.microsoft.com/office/drawing/2014/main" id="{0F428C35-B6E6-4F09-B2CA-E37FAB5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10" y="5048364"/>
            <a:ext cx="110490" cy="95021"/>
          </a:xfrm>
          <a:custGeom xmlns:a="http://schemas.openxmlformats.org/drawingml/2006/main">
            <a:pathLst>
              <a:path w="110490" h="95021">
                <a:moveTo>
                  <a:pt x="110490" y="47511"/>
                </a:moveTo>
                <a:lnTo>
                  <a:pt x="0" y="0"/>
                </a:lnTo>
                <a:lnTo>
                  <a:pt x="0" y="95021"/>
                </a:lnTo>
                <a:close/>
              </a:path>
            </a:pathLst>
          </a:custGeom>
          <a:solidFill xmlns:a="http://schemas.openxmlformats.org/drawingml/2006/main">
            <a:srgbClr val="7585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-start">
            <a:extLst xmlns:a="http://schemas.openxmlformats.org/drawingml/2006/main">
              <a:ext uri="{FF2B5EF4-FFF2-40B4-BE49-F238E27FC236}">
                <a16:creationId xmlns:a16="http://schemas.microsoft.com/office/drawing/2014/main" id="{C735E560-70E7-4E33-BBFC-34CAE177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t = 0</a:t>
            </a:r>
          </a:p>
        </p:txBody>
      </p:sp>
      <p:sp>
        <p:nvSpPr>
          <p:cNvPr id="24" name="time-end">
            <a:extLst xmlns:a="http://schemas.openxmlformats.org/drawingml/2006/main">
              <a:ext uri="{FF2B5EF4-FFF2-40B4-BE49-F238E27FC236}">
                <a16:creationId xmlns:a16="http://schemas.microsoft.com/office/drawing/2014/main" id="{CB9E1AE1-98E7-4C3D-805E-9CD677E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t = 1</a:t>
            </a:r>
          </a:p>
        </p:txBody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0E436BE5-09A5-44E8-9DF6-8588EA08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65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time</a:t>
            </a:r>
          </a:p>
        </p:txBody>
      </p:sp>
      <p:sp>
        <p:nvSpPr>
          <p:cNvPr id="26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E8932ED6-239E-4E44-9547-75A0C3B5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687887"/>
                </a:solidFill>
                <a:latin typeface="Comic Sans MS"/>
                <a:ea typeface="Comic Sans MS"/>
                <a:cs typeface="Comic Sans MS"/>
              </a:rPr>
              <a:t>Illustration: different noise realizations can produce different paths from the same state.</a:t>
            </a:r>
          </a:p>
        </p:txBody>
      </p:sp>
    </p:spTree>
    <p:extLst>
      <p:ext uri="{BB962C8B-B14F-4D97-AF65-F5344CB8AC3E}">
        <p14:creationId xmlns:p14="http://schemas.microsoft.com/office/powerpoint/2010/main" val="6554440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AD0EBBEC-0648-4CE9-A820-5FF760D6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SDE · drift and stochastic variation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E40EC0F9-6FFA-4BBC-9B7D-4A796BC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dX = b(X, t) dt + σ(X, t) dW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371FCF6-07E3-4C80-A4E9-15EAA285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shared-label">
            <a:extLst xmlns:a="http://schemas.openxmlformats.org/drawingml/2006/main">
              <a:ext uri="{FF2B5EF4-FFF2-40B4-BE49-F238E27FC236}">
                <a16:creationId xmlns:a16="http://schemas.microsoft.com/office/drawing/2014/main" id="{796D6016-C5EA-4D9D-B8BB-FB80F338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Shared state</a:t>
            </a:r>
          </a:p>
        </p:txBody>
      </p:sp>
      <p:sp>
        <p:nvSpPr>
          <p:cNvPr id="5" name="realizations-label">
            <a:extLst xmlns:a="http://schemas.openxmlformats.org/drawingml/2006/main">
              <a:ext uri="{FF2B5EF4-FFF2-40B4-BE49-F238E27FC236}">
                <a16:creationId xmlns:a16="http://schemas.microsoft.com/office/drawing/2014/main" id="{EAA86973-6DF2-4242-A4A8-3BD3EFF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478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Possible realizations</a:t>
            </a:r>
          </a:p>
        </p:txBody>
      </p:sp>
      <p:sp>
        <p:nvSpPr>
          <p:cNvPr id="6" name="path-1">
            <a:extLst xmlns:a="http://schemas.openxmlformats.org/drawingml/2006/main">
              <a:ext uri="{FF2B5EF4-FFF2-40B4-BE49-F238E27FC236}">
                <a16:creationId xmlns:a16="http://schemas.microsoft.com/office/drawing/2014/main" id="{D958CC36-D58F-4ABA-B615-9EBF86DD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27637"/>
            <a:ext cx="8096250" cy="1063238"/>
          </a:xfrm>
          <a:custGeom xmlns:a="http://schemas.openxmlformats.org/drawingml/2006/main">
            <a:pathLst>
              <a:path w="8096250" h="1063238">
                <a:moveTo>
                  <a:pt x="0" y="1063238"/>
                </a:moveTo>
                <a:lnTo>
                  <a:pt x="67469" y="1062439"/>
                </a:lnTo>
                <a:lnTo>
                  <a:pt x="134937" y="1045987"/>
                </a:lnTo>
                <a:lnTo>
                  <a:pt x="202406" y="1032880"/>
                </a:lnTo>
                <a:lnTo>
                  <a:pt x="269875" y="1039085"/>
                </a:lnTo>
                <a:lnTo>
                  <a:pt x="337344" y="1013498"/>
                </a:lnTo>
                <a:lnTo>
                  <a:pt x="404813" y="964467"/>
                </a:lnTo>
                <a:lnTo>
                  <a:pt x="472281" y="954923"/>
                </a:lnTo>
                <a:lnTo>
                  <a:pt x="539750" y="950260"/>
                </a:lnTo>
                <a:lnTo>
                  <a:pt x="607219" y="906172"/>
                </a:lnTo>
                <a:lnTo>
                  <a:pt x="674687" y="893797"/>
                </a:lnTo>
                <a:lnTo>
                  <a:pt x="742156" y="931551"/>
                </a:lnTo>
                <a:lnTo>
                  <a:pt x="809625" y="928443"/>
                </a:lnTo>
                <a:lnTo>
                  <a:pt x="877094" y="899185"/>
                </a:lnTo>
                <a:lnTo>
                  <a:pt x="944563" y="922901"/>
                </a:lnTo>
                <a:lnTo>
                  <a:pt x="1012031" y="932986"/>
                </a:lnTo>
                <a:lnTo>
                  <a:pt x="1079500" y="867806"/>
                </a:lnTo>
                <a:lnTo>
                  <a:pt x="1146969" y="827157"/>
                </a:lnTo>
                <a:lnTo>
                  <a:pt x="1214438" y="836695"/>
                </a:lnTo>
                <a:lnTo>
                  <a:pt x="1281906" y="791709"/>
                </a:lnTo>
                <a:lnTo>
                  <a:pt x="1349375" y="730135"/>
                </a:lnTo>
                <a:lnTo>
                  <a:pt x="1416844" y="757953"/>
                </a:lnTo>
                <a:lnTo>
                  <a:pt x="1484312" y="792074"/>
                </a:lnTo>
                <a:lnTo>
                  <a:pt x="1551781" y="757592"/>
                </a:lnTo>
                <a:lnTo>
                  <a:pt x="1619250" y="765335"/>
                </a:lnTo>
                <a:lnTo>
                  <a:pt x="1686719" y="825060"/>
                </a:lnTo>
                <a:lnTo>
                  <a:pt x="1754188" y="799095"/>
                </a:lnTo>
                <a:lnTo>
                  <a:pt x="1821656" y="728582"/>
                </a:lnTo>
                <a:lnTo>
                  <a:pt x="1889125" y="733556"/>
                </a:lnTo>
                <a:lnTo>
                  <a:pt x="1956594" y="721856"/>
                </a:lnTo>
                <a:lnTo>
                  <a:pt x="2024063" y="626876"/>
                </a:lnTo>
                <a:lnTo>
                  <a:pt x="2091531" y="594533"/>
                </a:lnTo>
                <a:lnTo>
                  <a:pt x="2159000" y="644365"/>
                </a:lnTo>
                <a:lnTo>
                  <a:pt x="2226469" y="627897"/>
                </a:lnTo>
                <a:lnTo>
                  <a:pt x="2293938" y="594455"/>
                </a:lnTo>
                <a:lnTo>
                  <a:pt x="2361406" y="664019"/>
                </a:lnTo>
                <a:lnTo>
                  <a:pt x="2428875" y="711670"/>
                </a:lnTo>
                <a:lnTo>
                  <a:pt x="2496344" y="650040"/>
                </a:lnTo>
                <a:lnTo>
                  <a:pt x="2563812" y="629898"/>
                </a:lnTo>
                <a:lnTo>
                  <a:pt x="2631281" y="662462"/>
                </a:lnTo>
                <a:lnTo>
                  <a:pt x="2698750" y="590720"/>
                </a:lnTo>
                <a:lnTo>
                  <a:pt x="2766219" y="489968"/>
                </a:lnTo>
                <a:lnTo>
                  <a:pt x="2833688" y="508322"/>
                </a:lnTo>
                <a:lnTo>
                  <a:pt x="2901156" y="523141"/>
                </a:lnTo>
                <a:lnTo>
                  <a:pt x="2968625" y="456125"/>
                </a:lnTo>
                <a:lnTo>
                  <a:pt x="3036094" y="474778"/>
                </a:lnTo>
                <a:lnTo>
                  <a:pt x="3103563" y="574955"/>
                </a:lnTo>
                <a:lnTo>
                  <a:pt x="3171031" y="568864"/>
                </a:lnTo>
                <a:lnTo>
                  <a:pt x="3238500" y="522786"/>
                </a:lnTo>
                <a:lnTo>
                  <a:pt x="3305969" y="575015"/>
                </a:lnTo>
                <a:lnTo>
                  <a:pt x="3373438" y="579360"/>
                </a:lnTo>
                <a:lnTo>
                  <a:pt x="3440906" y="459715"/>
                </a:lnTo>
                <a:lnTo>
                  <a:pt x="3508375" y="411813"/>
                </a:lnTo>
                <a:lnTo>
                  <a:pt x="3575844" y="445476"/>
                </a:lnTo>
                <a:lnTo>
                  <a:pt x="3643313" y="382827"/>
                </a:lnTo>
                <a:lnTo>
                  <a:pt x="3710781" y="318074"/>
                </a:lnTo>
                <a:lnTo>
                  <a:pt x="3778250" y="401288"/>
                </a:lnTo>
                <a:lnTo>
                  <a:pt x="3845719" y="465461"/>
                </a:lnTo>
                <a:lnTo>
                  <a:pt x="3913187" y="418373"/>
                </a:lnTo>
                <a:lnTo>
                  <a:pt x="3980656" y="446949"/>
                </a:lnTo>
                <a:lnTo>
                  <a:pt x="4048125" y="532004"/>
                </a:lnTo>
                <a:lnTo>
                  <a:pt x="4115594" y="471112"/>
                </a:lnTo>
                <a:lnTo>
                  <a:pt x="4183063" y="368123"/>
                </a:lnTo>
                <a:lnTo>
                  <a:pt x="4250531" y="388083"/>
                </a:lnTo>
                <a:lnTo>
                  <a:pt x="4318000" y="370181"/>
                </a:lnTo>
                <a:lnTo>
                  <a:pt x="4385469" y="248486"/>
                </a:lnTo>
                <a:lnTo>
                  <a:pt x="4452938" y="244071"/>
                </a:lnTo>
                <a:lnTo>
                  <a:pt x="4520406" y="341320"/>
                </a:lnTo>
                <a:lnTo>
                  <a:pt x="4587875" y="327137"/>
                </a:lnTo>
                <a:lnTo>
                  <a:pt x="4655344" y="303241"/>
                </a:lnTo>
                <a:lnTo>
                  <a:pt x="4722813" y="414867"/>
                </a:lnTo>
                <a:lnTo>
                  <a:pt x="4790281" y="462223"/>
                </a:lnTo>
                <a:lnTo>
                  <a:pt x="4857750" y="362652"/>
                </a:lnTo>
                <a:lnTo>
                  <a:pt x="4925219" y="341129"/>
                </a:lnTo>
                <a:lnTo>
                  <a:pt x="4992688" y="379031"/>
                </a:lnTo>
                <a:lnTo>
                  <a:pt x="5060156" y="273454"/>
                </a:lnTo>
                <a:lnTo>
                  <a:pt x="5127625" y="164195"/>
                </a:lnTo>
                <a:lnTo>
                  <a:pt x="5195094" y="224155"/>
                </a:lnTo>
                <a:lnTo>
                  <a:pt x="5262563" y="257719"/>
                </a:lnTo>
                <a:lnTo>
                  <a:pt x="5330031" y="190751"/>
                </a:lnTo>
                <a:lnTo>
                  <a:pt x="5397500" y="249614"/>
                </a:lnTo>
                <a:lnTo>
                  <a:pt x="5464969" y="384366"/>
                </a:lnTo>
                <a:lnTo>
                  <a:pt x="5532438" y="357568"/>
                </a:lnTo>
                <a:lnTo>
                  <a:pt x="5599906" y="296871"/>
                </a:lnTo>
                <a:lnTo>
                  <a:pt x="5667375" y="361639"/>
                </a:lnTo>
                <a:lnTo>
                  <a:pt x="5734844" y="342888"/>
                </a:lnTo>
                <a:lnTo>
                  <a:pt x="5802313" y="185971"/>
                </a:lnTo>
                <a:lnTo>
                  <a:pt x="5869781" y="153301"/>
                </a:lnTo>
                <a:lnTo>
                  <a:pt x="5937250" y="213493"/>
                </a:lnTo>
                <a:lnTo>
                  <a:pt x="6004719" y="146268"/>
                </a:lnTo>
                <a:lnTo>
                  <a:pt x="6072188" y="103252"/>
                </a:lnTo>
                <a:lnTo>
                  <a:pt x="6139656" y="239608"/>
                </a:lnTo>
                <a:lnTo>
                  <a:pt x="6207125" y="314588"/>
                </a:lnTo>
                <a:lnTo>
                  <a:pt x="6274594" y="251348"/>
                </a:lnTo>
                <a:lnTo>
                  <a:pt x="6342063" y="293677"/>
                </a:lnTo>
                <a:lnTo>
                  <a:pt x="6409531" y="378643"/>
                </a:lnTo>
                <a:lnTo>
                  <a:pt x="6477000" y="273642"/>
                </a:lnTo>
                <a:lnTo>
                  <a:pt x="6544469" y="152449"/>
                </a:lnTo>
                <a:lnTo>
                  <a:pt x="6611938" y="192485"/>
                </a:lnTo>
                <a:lnTo>
                  <a:pt x="6679406" y="170475"/>
                </a:lnTo>
                <a:lnTo>
                  <a:pt x="6746875" y="44356"/>
                </a:lnTo>
                <a:lnTo>
                  <a:pt x="6814344" y="85465"/>
                </a:lnTo>
                <a:lnTo>
                  <a:pt x="6881813" y="222328"/>
                </a:lnTo>
                <a:lnTo>
                  <a:pt x="6949281" y="203803"/>
                </a:lnTo>
                <a:lnTo>
                  <a:pt x="7016750" y="190022"/>
                </a:lnTo>
                <a:lnTo>
                  <a:pt x="7084219" y="325434"/>
                </a:lnTo>
                <a:lnTo>
                  <a:pt x="7151687" y="347708"/>
                </a:lnTo>
                <a:lnTo>
                  <a:pt x="7219156" y="207769"/>
                </a:lnTo>
                <a:lnTo>
                  <a:pt x="7286625" y="188400"/>
                </a:lnTo>
                <a:lnTo>
                  <a:pt x="7354094" y="225629"/>
                </a:lnTo>
                <a:lnTo>
                  <a:pt x="7421563" y="94486"/>
                </a:lnTo>
                <a:lnTo>
                  <a:pt x="7489031" y="0"/>
                </a:lnTo>
                <a:lnTo>
                  <a:pt x="7556500" y="108705"/>
                </a:lnTo>
                <a:lnTo>
                  <a:pt x="7623969" y="156282"/>
                </a:lnTo>
                <a:lnTo>
                  <a:pt x="7691438" y="93824"/>
                </a:lnTo>
                <a:lnTo>
                  <a:pt x="7758906" y="188914"/>
                </a:lnTo>
                <a:lnTo>
                  <a:pt x="7826375" y="333619"/>
                </a:lnTo>
                <a:lnTo>
                  <a:pt x="7893844" y="268743"/>
                </a:lnTo>
                <a:lnTo>
                  <a:pt x="7961312" y="190915"/>
                </a:lnTo>
                <a:lnTo>
                  <a:pt x="8028781" y="258371"/>
                </a:lnTo>
                <a:lnTo>
                  <a:pt x="8096250" y="208367"/>
                </a:lnTo>
              </a:path>
            </a:pathLst>
          </a:custGeom>
          <a:noFill xmlns:a="http://schemas.openxmlformats.org/drawingml/2006/main"/>
          <a:ln xmlns:a="http://schemas.openxmlformats.org/drawingml/2006/main" w="19717">
            <a:solidFill>
              <a:srgbClr val="3C608C"/>
            </a:solidFill>
            <a:prstDash val="solid"/>
          </a:ln>
        </p:spPr>
      </p:sp>
      <p:sp>
        <p:nvSpPr>
          <p:cNvPr id="7" name="path-1--arrow">
            <a:extLst xmlns:a="http://schemas.openxmlformats.org/drawingml/2006/main">
              <a:ext uri="{FF2B5EF4-FFF2-40B4-BE49-F238E27FC236}">
                <a16:creationId xmlns:a16="http://schemas.microsoft.com/office/drawing/2014/main" id="{17F22FD7-72BC-4122-B4C5-A292538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1324" y="2336005"/>
            <a:ext cx="121801" cy="108172"/>
          </a:xfrm>
          <a:custGeom xmlns:a="http://schemas.openxmlformats.org/drawingml/2006/main">
            <a:pathLst>
              <a:path w="121801" h="108172">
                <a:moveTo>
                  <a:pt x="121801" y="0"/>
                </a:moveTo>
                <a:lnTo>
                  <a:pt x="0" y="28738"/>
                </a:lnTo>
                <a:lnTo>
                  <a:pt x="58871" y="108172"/>
                </a:lnTo>
                <a:close/>
              </a:path>
            </a:pathLst>
          </a:custGeom>
          <a:solidFill xmlns:a="http://schemas.openxmlformats.org/drawingml/2006/main">
            <a:srgbClr val="3C6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nal-1">
            <a:extLst xmlns:a="http://schemas.openxmlformats.org/drawingml/2006/main">
              <a:ext uri="{FF2B5EF4-FFF2-40B4-BE49-F238E27FC236}">
                <a16:creationId xmlns:a16="http://schemas.microsoft.com/office/drawing/2014/main" id="{0D3D6936-029C-40AE-B1B2-16B99675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933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08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path-2">
            <a:extLst xmlns:a="http://schemas.openxmlformats.org/drawingml/2006/main">
              <a:ext uri="{FF2B5EF4-FFF2-40B4-BE49-F238E27FC236}">
                <a16:creationId xmlns:a16="http://schemas.microsoft.com/office/drawing/2014/main" id="{4E40DC8F-2450-46BA-B4AB-16904F04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10249"/>
            <a:ext cx="8096250" cy="512482"/>
          </a:xfrm>
          <a:custGeom xmlns:a="http://schemas.openxmlformats.org/drawingml/2006/main">
            <a:pathLst>
              <a:path w="8096250" h="512482">
                <a:moveTo>
                  <a:pt x="0" y="280626"/>
                </a:moveTo>
                <a:lnTo>
                  <a:pt x="67469" y="289952"/>
                </a:lnTo>
                <a:lnTo>
                  <a:pt x="134937" y="274622"/>
                </a:lnTo>
                <a:lnTo>
                  <a:pt x="202406" y="274095"/>
                </a:lnTo>
                <a:lnTo>
                  <a:pt x="269875" y="274443"/>
                </a:lnTo>
                <a:lnTo>
                  <a:pt x="337344" y="238207"/>
                </a:lnTo>
                <a:lnTo>
                  <a:pt x="404813" y="215172"/>
                </a:lnTo>
                <a:lnTo>
                  <a:pt x="472281" y="234275"/>
                </a:lnTo>
                <a:lnTo>
                  <a:pt x="539750" y="230172"/>
                </a:lnTo>
                <a:lnTo>
                  <a:pt x="607219" y="208551"/>
                </a:lnTo>
                <a:lnTo>
                  <a:pt x="674687" y="240336"/>
                </a:lnTo>
                <a:lnTo>
                  <a:pt x="742156" y="276552"/>
                </a:lnTo>
                <a:lnTo>
                  <a:pt x="809625" y="250802"/>
                </a:lnTo>
                <a:lnTo>
                  <a:pt x="877094" y="236834"/>
                </a:lnTo>
                <a:lnTo>
                  <a:pt x="944563" y="262372"/>
                </a:lnTo>
                <a:lnTo>
                  <a:pt x="1012031" y="231673"/>
                </a:lnTo>
                <a:lnTo>
                  <a:pt x="1079500" y="165806"/>
                </a:lnTo>
                <a:lnTo>
                  <a:pt x="1146969" y="169086"/>
                </a:lnTo>
                <a:lnTo>
                  <a:pt x="1214438" y="184557"/>
                </a:lnTo>
                <a:lnTo>
                  <a:pt x="1281906" y="141870"/>
                </a:lnTo>
                <a:lnTo>
                  <a:pt x="1349375" y="142337"/>
                </a:lnTo>
                <a:lnTo>
                  <a:pt x="1416844" y="212010"/>
                </a:lnTo>
                <a:lnTo>
                  <a:pt x="1484312" y="222771"/>
                </a:lnTo>
                <a:lnTo>
                  <a:pt x="1551781" y="191793"/>
                </a:lnTo>
                <a:lnTo>
                  <a:pt x="1619250" y="228124"/>
                </a:lnTo>
                <a:lnTo>
                  <a:pt x="1686719" y="249306"/>
                </a:lnTo>
                <a:lnTo>
                  <a:pt x="1754188" y="174241"/>
                </a:lnTo>
                <a:lnTo>
                  <a:pt x="1821656" y="130769"/>
                </a:lnTo>
                <a:lnTo>
                  <a:pt x="1889125" y="157008"/>
                </a:lnTo>
                <a:lnTo>
                  <a:pt x="1956594" y="121051"/>
                </a:lnTo>
                <a:lnTo>
                  <a:pt x="2024063" y="63008"/>
                </a:lnTo>
                <a:lnTo>
                  <a:pt x="2091531" y="113560"/>
                </a:lnTo>
                <a:lnTo>
                  <a:pt x="2159000" y="173533"/>
                </a:lnTo>
                <a:lnTo>
                  <a:pt x="2226469" y="145717"/>
                </a:lnTo>
                <a:lnTo>
                  <a:pt x="2293938" y="160507"/>
                </a:lnTo>
                <a:lnTo>
                  <a:pt x="2361406" y="236898"/>
                </a:lnTo>
                <a:lnTo>
                  <a:pt x="2428875" y="213045"/>
                </a:lnTo>
                <a:lnTo>
                  <a:pt x="2496344" y="133387"/>
                </a:lnTo>
                <a:lnTo>
                  <a:pt x="2563812" y="144538"/>
                </a:lnTo>
                <a:lnTo>
                  <a:pt x="2631281" y="145365"/>
                </a:lnTo>
                <a:lnTo>
                  <a:pt x="2698750" y="52311"/>
                </a:lnTo>
                <a:lnTo>
                  <a:pt x="2766219" y="30311"/>
                </a:lnTo>
                <a:lnTo>
                  <a:pt x="2833688" y="107163"/>
                </a:lnTo>
                <a:lnTo>
                  <a:pt x="2901156" y="109062"/>
                </a:lnTo>
                <a:lnTo>
                  <a:pt x="2968625" y="82909"/>
                </a:lnTo>
                <a:lnTo>
                  <a:pt x="3036094" y="168779"/>
                </a:lnTo>
                <a:lnTo>
                  <a:pt x="3103563" y="230943"/>
                </a:lnTo>
                <a:lnTo>
                  <a:pt x="3171031" y="165154"/>
                </a:lnTo>
                <a:lnTo>
                  <a:pt x="3238500" y="141525"/>
                </a:lnTo>
                <a:lnTo>
                  <a:pt x="3305969" y="183753"/>
                </a:lnTo>
                <a:lnTo>
                  <a:pt x="3373438" y="116221"/>
                </a:lnTo>
                <a:lnTo>
                  <a:pt x="3440906" y="15643"/>
                </a:lnTo>
                <a:lnTo>
                  <a:pt x="3508375" y="51544"/>
                </a:lnTo>
                <a:lnTo>
                  <a:pt x="3575844" y="91196"/>
                </a:lnTo>
                <a:lnTo>
                  <a:pt x="3643313" y="36886"/>
                </a:lnTo>
                <a:lnTo>
                  <a:pt x="3710781" y="69304"/>
                </a:lnTo>
                <a:lnTo>
                  <a:pt x="3778250" y="191569"/>
                </a:lnTo>
                <a:lnTo>
                  <a:pt x="3845719" y="194442"/>
                </a:lnTo>
                <a:lnTo>
                  <a:pt x="3913187" y="143639"/>
                </a:lnTo>
                <a:lnTo>
                  <a:pt x="3980656" y="199550"/>
                </a:lnTo>
                <a:lnTo>
                  <a:pt x="4048125" y="210769"/>
                </a:lnTo>
                <a:lnTo>
                  <a:pt x="4115594" y="87549"/>
                </a:lnTo>
                <a:lnTo>
                  <a:pt x="4183063" y="42987"/>
                </a:lnTo>
                <a:lnTo>
                  <a:pt x="4250531" y="97476"/>
                </a:lnTo>
                <a:lnTo>
                  <a:pt x="4318000" y="52935"/>
                </a:lnTo>
                <a:lnTo>
                  <a:pt x="4385469" y="0"/>
                </a:lnTo>
                <a:lnTo>
                  <a:pt x="4452938" y="105406"/>
                </a:lnTo>
                <a:lnTo>
                  <a:pt x="4520406" y="191906"/>
                </a:lnTo>
                <a:lnTo>
                  <a:pt x="4587875" y="149144"/>
                </a:lnTo>
                <a:lnTo>
                  <a:pt x="4655344" y="178313"/>
                </a:lnTo>
                <a:lnTo>
                  <a:pt x="4722813" y="271567"/>
                </a:lnTo>
                <a:lnTo>
                  <a:pt x="4790281" y="210507"/>
                </a:lnTo>
                <a:lnTo>
                  <a:pt x="4857750" y="100580"/>
                </a:lnTo>
                <a:lnTo>
                  <a:pt x="4925219" y="128786"/>
                </a:lnTo>
                <a:lnTo>
                  <a:pt x="4992688" y="128763"/>
                </a:lnTo>
                <a:lnTo>
                  <a:pt x="5060156" y="18035"/>
                </a:lnTo>
                <a:lnTo>
                  <a:pt x="5127625" y="29603"/>
                </a:lnTo>
                <a:lnTo>
                  <a:pt x="5195094" y="154696"/>
                </a:lnTo>
                <a:lnTo>
                  <a:pt x="5262563" y="158747"/>
                </a:lnTo>
                <a:lnTo>
                  <a:pt x="5330031" y="139262"/>
                </a:lnTo>
                <a:lnTo>
                  <a:pt x="5397500" y="259658"/>
                </a:lnTo>
                <a:lnTo>
                  <a:pt x="5464969" y="314611"/>
                </a:lnTo>
                <a:lnTo>
                  <a:pt x="5532438" y="207961"/>
                </a:lnTo>
                <a:lnTo>
                  <a:pt x="5599906" y="181595"/>
                </a:lnTo>
                <a:lnTo>
                  <a:pt x="5667375" y="230002"/>
                </a:lnTo>
                <a:lnTo>
                  <a:pt x="5734844" y="134300"/>
                </a:lnTo>
                <a:lnTo>
                  <a:pt x="5802313" y="32474"/>
                </a:lnTo>
                <a:lnTo>
                  <a:pt x="5869781" y="114620"/>
                </a:lnTo>
                <a:lnTo>
                  <a:pt x="5937250" y="175868"/>
                </a:lnTo>
                <a:lnTo>
                  <a:pt x="6004719" y="122631"/>
                </a:lnTo>
                <a:lnTo>
                  <a:pt x="6072188" y="191680"/>
                </a:lnTo>
                <a:lnTo>
                  <a:pt x="6139656" y="341630"/>
                </a:lnTo>
                <a:lnTo>
                  <a:pt x="6207125" y="317688"/>
                </a:lnTo>
                <a:lnTo>
                  <a:pt x="6274594" y="247504"/>
                </a:lnTo>
                <a:lnTo>
                  <a:pt x="6342063" y="312459"/>
                </a:lnTo>
                <a:lnTo>
                  <a:pt x="6409531" y="300967"/>
                </a:lnTo>
                <a:lnTo>
                  <a:pt x="6477000" y="145034"/>
                </a:lnTo>
                <a:lnTo>
                  <a:pt x="6544469" y="121178"/>
                </a:lnTo>
                <a:lnTo>
                  <a:pt x="6611938" y="207091"/>
                </a:lnTo>
                <a:lnTo>
                  <a:pt x="6679406" y="162151"/>
                </a:lnTo>
                <a:lnTo>
                  <a:pt x="6746875" y="132117"/>
                </a:lnTo>
                <a:lnTo>
                  <a:pt x="6814344" y="287370"/>
                </a:lnTo>
                <a:lnTo>
                  <a:pt x="6881813" y="378961"/>
                </a:lnTo>
                <a:lnTo>
                  <a:pt x="6949281" y="313754"/>
                </a:lnTo>
                <a:lnTo>
                  <a:pt x="7016750" y="350274"/>
                </a:lnTo>
                <a:lnTo>
                  <a:pt x="7084219" y="438902"/>
                </a:lnTo>
                <a:lnTo>
                  <a:pt x="7151687" y="333195"/>
                </a:lnTo>
                <a:lnTo>
                  <a:pt x="7219156" y="207809"/>
                </a:lnTo>
                <a:lnTo>
                  <a:pt x="7286625" y="260496"/>
                </a:lnTo>
                <a:lnTo>
                  <a:pt x="7354094" y="261716"/>
                </a:lnTo>
                <a:lnTo>
                  <a:pt x="7421563" y="151164"/>
                </a:lnTo>
                <a:lnTo>
                  <a:pt x="7489031" y="209695"/>
                </a:lnTo>
                <a:lnTo>
                  <a:pt x="7556500" y="372216"/>
                </a:lnTo>
                <a:lnTo>
                  <a:pt x="7623969" y="367088"/>
                </a:lnTo>
                <a:lnTo>
                  <a:pt x="7691438" y="350963"/>
                </a:lnTo>
                <a:lnTo>
                  <a:pt x="7758906" y="487922"/>
                </a:lnTo>
                <a:lnTo>
                  <a:pt x="7826375" y="512482"/>
                </a:lnTo>
                <a:lnTo>
                  <a:pt x="7893844" y="363391"/>
                </a:lnTo>
                <a:lnTo>
                  <a:pt x="7961312" y="340255"/>
                </a:lnTo>
                <a:lnTo>
                  <a:pt x="8028781" y="391767"/>
                </a:lnTo>
                <a:lnTo>
                  <a:pt x="8096250" y="275796"/>
                </a:lnTo>
              </a:path>
            </a:pathLst>
          </a:custGeom>
          <a:noFill xmlns:a="http://schemas.openxmlformats.org/drawingml/2006/main"/>
          <a:ln xmlns:a="http://schemas.openxmlformats.org/drawingml/2006/main" w="19717">
            <a:solidFill>
              <a:srgbClr val="577D68"/>
            </a:solidFill>
            <a:prstDash val="solid"/>
          </a:ln>
        </p:spPr>
      </p:sp>
      <p:sp>
        <p:nvSpPr>
          <p:cNvPr id="10" name="path-2--arrow">
            <a:extLst xmlns:a="http://schemas.openxmlformats.org/drawingml/2006/main">
              <a:ext uri="{FF2B5EF4-FFF2-40B4-BE49-F238E27FC236}">
                <a16:creationId xmlns:a16="http://schemas.microsoft.com/office/drawing/2014/main" id="{21414A3D-3AA7-4CB0-AD54-A45CEDA1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582" y="3186045"/>
            <a:ext cx="100543" cy="124233"/>
          </a:xfrm>
          <a:custGeom xmlns:a="http://schemas.openxmlformats.org/drawingml/2006/main">
            <a:pathLst>
              <a:path w="100543" h="124233">
                <a:moveTo>
                  <a:pt x="100543" y="0"/>
                </a:moveTo>
                <a:lnTo>
                  <a:pt x="0" y="74514"/>
                </a:lnTo>
                <a:lnTo>
                  <a:pt x="85461" y="124233"/>
                </a:lnTo>
                <a:close/>
              </a:path>
            </a:pathLst>
          </a:custGeom>
          <a:solidFill xmlns:a="http://schemas.openxmlformats.org/drawingml/2006/main">
            <a:srgbClr val="57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nal-2">
            <a:extLst xmlns:a="http://schemas.openxmlformats.org/drawingml/2006/main">
              <a:ext uri="{FF2B5EF4-FFF2-40B4-BE49-F238E27FC236}">
                <a16:creationId xmlns:a16="http://schemas.microsoft.com/office/drawing/2014/main" id="{7EEDB2E0-3327-4B7D-9C6B-9FB9DEC2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193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D6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2" name="path-3">
            <a:extLst xmlns:a="http://schemas.openxmlformats.org/drawingml/2006/main">
              <a:ext uri="{FF2B5EF4-FFF2-40B4-BE49-F238E27FC236}">
                <a16:creationId xmlns:a16="http://schemas.microsoft.com/office/drawing/2014/main" id="{5F118C0B-6709-4330-8745-8655DDA9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61703"/>
            <a:ext cx="8096250" cy="1013967"/>
          </a:xfrm>
          <a:custGeom xmlns:a="http://schemas.openxmlformats.org/drawingml/2006/main">
            <a:pathLst>
              <a:path w="8096250" h="1013967">
                <a:moveTo>
                  <a:pt x="0" y="29172"/>
                </a:moveTo>
                <a:lnTo>
                  <a:pt x="67469" y="35269"/>
                </a:lnTo>
                <a:lnTo>
                  <a:pt x="134937" y="25209"/>
                </a:lnTo>
                <a:lnTo>
                  <a:pt x="202406" y="34471"/>
                </a:lnTo>
                <a:lnTo>
                  <a:pt x="269875" y="27380"/>
                </a:lnTo>
                <a:lnTo>
                  <a:pt x="337344" y="1856"/>
                </a:lnTo>
                <a:lnTo>
                  <a:pt x="404813" y="17542"/>
                </a:lnTo>
                <a:lnTo>
                  <a:pt x="472281" y="50549"/>
                </a:lnTo>
                <a:lnTo>
                  <a:pt x="539750" y="43705"/>
                </a:lnTo>
                <a:lnTo>
                  <a:pt x="607219" y="49383"/>
                </a:lnTo>
                <a:lnTo>
                  <a:pt x="674687" y="96294"/>
                </a:lnTo>
                <a:lnTo>
                  <a:pt x="742156" y="99405"/>
                </a:lnTo>
                <a:lnTo>
                  <a:pt x="809625" y="58915"/>
                </a:lnTo>
                <a:lnTo>
                  <a:pt x="877094" y="64139"/>
                </a:lnTo>
                <a:lnTo>
                  <a:pt x="944563" y="74941"/>
                </a:lnTo>
                <a:lnTo>
                  <a:pt x="1012031" y="23781"/>
                </a:lnTo>
                <a:lnTo>
                  <a:pt x="1079500" y="0"/>
                </a:lnTo>
                <a:lnTo>
                  <a:pt x="1146969" y="47056"/>
                </a:lnTo>
                <a:lnTo>
                  <a:pt x="1214438" y="58020"/>
                </a:lnTo>
                <a:lnTo>
                  <a:pt x="1281906" y="38473"/>
                </a:lnTo>
                <a:lnTo>
                  <a:pt x="1349375" y="91738"/>
                </a:lnTo>
                <a:lnTo>
                  <a:pt x="1416844" y="149450"/>
                </a:lnTo>
                <a:lnTo>
                  <a:pt x="1484312" y="118371"/>
                </a:lnTo>
                <a:lnTo>
                  <a:pt x="1551781" y="99771"/>
                </a:lnTo>
                <a:lnTo>
                  <a:pt x="1619250" y="136702"/>
                </a:lnTo>
                <a:lnTo>
                  <a:pt x="1686719" y="105328"/>
                </a:lnTo>
                <a:lnTo>
                  <a:pt x="1754188" y="29724"/>
                </a:lnTo>
                <a:lnTo>
                  <a:pt x="1821656" y="45003"/>
                </a:lnTo>
                <a:lnTo>
                  <a:pt x="1889125" y="81602"/>
                </a:lnTo>
                <a:lnTo>
                  <a:pt x="1956594" y="45264"/>
                </a:lnTo>
                <a:lnTo>
                  <a:pt x="2024063" y="56682"/>
                </a:lnTo>
                <a:lnTo>
                  <a:pt x="2091531" y="151627"/>
                </a:lnTo>
                <a:lnTo>
                  <a:pt x="2159000" y="173527"/>
                </a:lnTo>
                <a:lnTo>
                  <a:pt x="2226469" y="137826"/>
                </a:lnTo>
                <a:lnTo>
                  <a:pt x="2293938" y="179888"/>
                </a:lnTo>
                <a:lnTo>
                  <a:pt x="2361406" y="208876"/>
                </a:lnTo>
                <a:lnTo>
                  <a:pt x="2428875" y="125731"/>
                </a:lnTo>
                <a:lnTo>
                  <a:pt x="2496344" y="79654"/>
                </a:lnTo>
                <a:lnTo>
                  <a:pt x="2563812" y="122421"/>
                </a:lnTo>
                <a:lnTo>
                  <a:pt x="2631281" y="98987"/>
                </a:lnTo>
                <a:lnTo>
                  <a:pt x="2698750" y="46700"/>
                </a:lnTo>
                <a:lnTo>
                  <a:pt x="2766219" y="117494"/>
                </a:lnTo>
                <a:lnTo>
                  <a:pt x="2833688" y="200838"/>
                </a:lnTo>
                <a:lnTo>
                  <a:pt x="2901156" y="177859"/>
                </a:lnTo>
                <a:lnTo>
                  <a:pt x="2968625" y="194544"/>
                </a:lnTo>
                <a:lnTo>
                  <a:pt x="3036094" y="281905"/>
                </a:lnTo>
                <a:lnTo>
                  <a:pt x="3103563" y="258324"/>
                </a:lnTo>
                <a:lnTo>
                  <a:pt x="3171031" y="168706"/>
                </a:lnTo>
                <a:lnTo>
                  <a:pt x="3238500" y="184474"/>
                </a:lnTo>
                <a:lnTo>
                  <a:pt x="3305969" y="199060"/>
                </a:lnTo>
                <a:lnTo>
                  <a:pt x="3373438" y="111050"/>
                </a:lnTo>
                <a:lnTo>
                  <a:pt x="3440906" y="99780"/>
                </a:lnTo>
                <a:lnTo>
                  <a:pt x="3508375" y="202377"/>
                </a:lnTo>
                <a:lnTo>
                  <a:pt x="3575844" y="222045"/>
                </a:lnTo>
                <a:lnTo>
                  <a:pt x="3643313" y="200423"/>
                </a:lnTo>
                <a:lnTo>
                  <a:pt x="3710781" y="297022"/>
                </a:lnTo>
                <a:lnTo>
                  <a:pt x="3778250" y="369526"/>
                </a:lnTo>
                <a:lnTo>
                  <a:pt x="3845719" y="297285"/>
                </a:lnTo>
                <a:lnTo>
                  <a:pt x="3913187" y="267309"/>
                </a:lnTo>
                <a:lnTo>
                  <a:pt x="3980656" y="317739"/>
                </a:lnTo>
                <a:lnTo>
                  <a:pt x="4048125" y="256219"/>
                </a:lnTo>
                <a:lnTo>
                  <a:pt x="4115594" y="157537"/>
                </a:lnTo>
                <a:lnTo>
                  <a:pt x="4183063" y="210916"/>
                </a:lnTo>
                <a:lnTo>
                  <a:pt x="4250531" y="275725"/>
                </a:lnTo>
                <a:lnTo>
                  <a:pt x="4318000" y="233806"/>
                </a:lnTo>
                <a:lnTo>
                  <a:pt x="4385469" y="276373"/>
                </a:lnTo>
                <a:lnTo>
                  <a:pt x="4452938" y="415947"/>
                </a:lnTo>
                <a:lnTo>
                  <a:pt x="4520406" y="424365"/>
                </a:lnTo>
                <a:lnTo>
                  <a:pt x="4587875" y="365165"/>
                </a:lnTo>
                <a:lnTo>
                  <a:pt x="4655344" y="420955"/>
                </a:lnTo>
                <a:lnTo>
                  <a:pt x="4722813" y="438131"/>
                </a:lnTo>
                <a:lnTo>
                  <a:pt x="4790281" y="312530"/>
                </a:lnTo>
                <a:lnTo>
                  <a:pt x="4857750" y="271755"/>
                </a:lnTo>
                <a:lnTo>
                  <a:pt x="4925219" y="347634"/>
                </a:lnTo>
                <a:lnTo>
                  <a:pt x="4992688" y="322523"/>
                </a:lnTo>
                <a:lnTo>
                  <a:pt x="5060156" y="280570"/>
                </a:lnTo>
                <a:lnTo>
                  <a:pt x="5127625" y="404591"/>
                </a:lnTo>
                <a:lnTo>
                  <a:pt x="5195094" y="509818"/>
                </a:lnTo>
                <a:lnTo>
                  <a:pt x="5262563" y="467707"/>
                </a:lnTo>
                <a:lnTo>
                  <a:pt x="5330031" y="492520"/>
                </a:lnTo>
                <a:lnTo>
                  <a:pt x="5397500" y="590176"/>
                </a:lnTo>
                <a:lnTo>
                  <a:pt x="5464969" y="528057"/>
                </a:lnTo>
                <a:lnTo>
                  <a:pt x="5532438" y="411048"/>
                </a:lnTo>
                <a:lnTo>
                  <a:pt x="5599906" y="447423"/>
                </a:lnTo>
                <a:lnTo>
                  <a:pt x="5667375" y="466766"/>
                </a:lnTo>
                <a:lnTo>
                  <a:pt x="5734844" y="368408"/>
                </a:lnTo>
                <a:lnTo>
                  <a:pt x="5802313" y="394702"/>
                </a:lnTo>
                <a:lnTo>
                  <a:pt x="5869781" y="544992"/>
                </a:lnTo>
                <a:lnTo>
                  <a:pt x="5937250" y="564467"/>
                </a:lnTo>
                <a:lnTo>
                  <a:pt x="6004719" y="544905"/>
                </a:lnTo>
                <a:lnTo>
                  <a:pt x="6072188" y="668602"/>
                </a:lnTo>
                <a:lnTo>
                  <a:pt x="6139656" y="727665"/>
                </a:lnTo>
                <a:lnTo>
                  <a:pt x="6207125" y="612221"/>
                </a:lnTo>
                <a:lnTo>
                  <a:pt x="6274594" y="579559"/>
                </a:lnTo>
                <a:lnTo>
                  <a:pt x="6342063" y="638574"/>
                </a:lnTo>
                <a:lnTo>
                  <a:pt x="6409531" y="554682"/>
                </a:lnTo>
                <a:lnTo>
                  <a:pt x="6477000" y="461185"/>
                </a:lnTo>
                <a:lnTo>
                  <a:pt x="6544469" y="564519"/>
                </a:lnTo>
                <a:lnTo>
                  <a:pt x="6611938" y="652054"/>
                </a:lnTo>
                <a:lnTo>
                  <a:pt x="6679406" y="609863"/>
                </a:lnTo>
                <a:lnTo>
                  <a:pt x="6746875" y="683985"/>
                </a:lnTo>
                <a:lnTo>
                  <a:pt x="6814344" y="843938"/>
                </a:lnTo>
                <a:lnTo>
                  <a:pt x="6881813" y="819316"/>
                </a:lnTo>
                <a:lnTo>
                  <a:pt x="6949281" y="736584"/>
                </a:lnTo>
                <a:lnTo>
                  <a:pt x="7016750" y="799533"/>
                </a:lnTo>
                <a:lnTo>
                  <a:pt x="7084219" y="795731"/>
                </a:lnTo>
                <a:lnTo>
                  <a:pt x="7151687" y="642378"/>
                </a:lnTo>
                <a:lnTo>
                  <a:pt x="7219156" y="627772"/>
                </a:lnTo>
                <a:lnTo>
                  <a:pt x="7286625" y="739334"/>
                </a:lnTo>
                <a:lnTo>
                  <a:pt x="7354094" y="716214"/>
                </a:lnTo>
                <a:lnTo>
                  <a:pt x="7421563" y="696228"/>
                </a:lnTo>
                <a:lnTo>
                  <a:pt x="7489031" y="865361"/>
                </a:lnTo>
                <a:lnTo>
                  <a:pt x="7556500" y="968963"/>
                </a:lnTo>
                <a:lnTo>
                  <a:pt x="7623969" y="897608"/>
                </a:lnTo>
                <a:lnTo>
                  <a:pt x="7691438" y="924029"/>
                </a:lnTo>
                <a:lnTo>
                  <a:pt x="7758906" y="1013967"/>
                </a:lnTo>
                <a:lnTo>
                  <a:pt x="7826375" y="907863"/>
                </a:lnTo>
                <a:lnTo>
                  <a:pt x="7893844" y="779004"/>
                </a:lnTo>
                <a:lnTo>
                  <a:pt x="7961312" y="844819"/>
                </a:lnTo>
                <a:lnTo>
                  <a:pt x="8028781" y="870293"/>
                </a:lnTo>
                <a:lnTo>
                  <a:pt x="8096250" y="775178"/>
                </a:lnTo>
              </a:path>
            </a:pathLst>
          </a:custGeom>
          <a:noFill xmlns:a="http://schemas.openxmlformats.org/drawingml/2006/main"/>
          <a:ln xmlns:a="http://schemas.openxmlformats.org/drawingml/2006/main" w="19717">
            <a:solidFill>
              <a:srgbClr val="AF6545"/>
            </a:solidFill>
            <a:prstDash val="solid"/>
          </a:ln>
        </p:spPr>
      </p:sp>
      <p:sp>
        <p:nvSpPr>
          <p:cNvPr id="13" name="path-3--arrow">
            <a:extLst xmlns:a="http://schemas.openxmlformats.org/drawingml/2006/main">
              <a:ext uri="{FF2B5EF4-FFF2-40B4-BE49-F238E27FC236}">
                <a16:creationId xmlns:a16="http://schemas.microsoft.com/office/drawing/2014/main" id="{544E79BF-65ED-47DB-80DD-AC736840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6288" y="3936881"/>
            <a:ext cx="106837" cy="122373"/>
          </a:xfrm>
          <a:custGeom xmlns:a="http://schemas.openxmlformats.org/drawingml/2006/main">
            <a:pathLst>
              <a:path w="106837" h="122373">
                <a:moveTo>
                  <a:pt x="106837" y="0"/>
                </a:moveTo>
                <a:lnTo>
                  <a:pt x="0" y="65169"/>
                </a:lnTo>
                <a:lnTo>
                  <a:pt x="80643" y="122373"/>
                </a:lnTo>
                <a:close/>
              </a:path>
            </a:pathLst>
          </a:custGeom>
          <a:solidFill xmlns:a="http://schemas.openxmlformats.org/drawingml/2006/main">
            <a:srgbClr val="AF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3">
            <a:extLst xmlns:a="http://schemas.openxmlformats.org/drawingml/2006/main">
              <a:ext uri="{FF2B5EF4-FFF2-40B4-BE49-F238E27FC236}">
                <a16:creationId xmlns:a16="http://schemas.microsoft.com/office/drawing/2014/main" id="{16A832DA-2E9D-419C-ABC8-6C3FEB88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02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6545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shared-state">
            <a:extLst xmlns:a="http://schemas.openxmlformats.org/drawingml/2006/main">
              <a:ext uri="{FF2B5EF4-FFF2-40B4-BE49-F238E27FC236}">
                <a16:creationId xmlns:a16="http://schemas.microsoft.com/office/drawing/2014/main" id="{A228B2CF-73CB-4B2C-B5DC-760D82BD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45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drift-key">
            <a:extLst xmlns:a="http://schemas.openxmlformats.org/drawingml/2006/main">
              <a:ext uri="{FF2B5EF4-FFF2-40B4-BE49-F238E27FC236}">
                <a16:creationId xmlns:a16="http://schemas.microsoft.com/office/drawing/2014/main" id="{D27BD4F6-6C1A-4FB4-990A-EADBD306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62450"/>
            <a:ext cx="714375" cy="95"/>
          </a:xfrm>
          <a:custGeom xmlns:a="http://schemas.openxmlformats.org/drawingml/2006/main">
            <a:pathLst>
              <a:path w="714375" h="9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253445"/>
            </a:solidFill>
            <a:prstDash val="solid"/>
          </a:ln>
        </p:spPr>
      </p:sp>
      <p:sp>
        <p:nvSpPr>
          <p:cNvPr id="17" name="drift-key--arrow">
            <a:extLst xmlns:a="http://schemas.openxmlformats.org/drawingml/2006/main">
              <a:ext uri="{FF2B5EF4-FFF2-40B4-BE49-F238E27FC236}">
                <a16:creationId xmlns:a16="http://schemas.microsoft.com/office/drawing/2014/main" id="{4368C3F7-F273-46CF-963E-CF8A3A0F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735" y="4310844"/>
            <a:ext cx="120015" cy="103213"/>
          </a:xfrm>
          <a:custGeom xmlns:a="http://schemas.openxmlformats.org/drawingml/2006/main">
            <a:pathLst>
              <a:path w="120015" h="103213">
                <a:moveTo>
                  <a:pt x="120015" y="51606"/>
                </a:moveTo>
                <a:lnTo>
                  <a:pt x="0" y="0"/>
                </a:lnTo>
                <a:lnTo>
                  <a:pt x="0" y="103213"/>
                </a:lnTo>
                <a:close/>
              </a:path>
            </a:pathLst>
          </a:custGeom>
          <a:solidFill xmlns:a="http://schemas.openxmlformats.org/drawingml/2006/main">
            <a:srgbClr val="2534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rift-label">
            <a:extLst xmlns:a="http://schemas.openxmlformats.org/drawingml/2006/main">
              <a:ext uri="{FF2B5EF4-FFF2-40B4-BE49-F238E27FC236}">
                <a16:creationId xmlns:a16="http://schemas.microsoft.com/office/drawing/2014/main" id="{B435CC38-CFA9-4A9E-AD94-1E652121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00525"/>
            <a:ext cx="16192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Drift</a:t>
            </a:r>
          </a:p>
        </p:txBody>
      </p:sp>
      <p:sp>
        <p:nvSpPr>
          <p:cNvPr id="19" name="noise-key">
            <a:extLst xmlns:a="http://schemas.openxmlformats.org/drawingml/2006/main">
              <a:ext uri="{FF2B5EF4-FFF2-40B4-BE49-F238E27FC236}">
                <a16:creationId xmlns:a16="http://schemas.microsoft.com/office/drawing/2014/main" id="{6AD97EE3-6156-454F-A99A-7F6A70DF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29100"/>
            <a:ext cx="762000" cy="219075"/>
          </a:xfrm>
          <a:custGeom xmlns:a="http://schemas.openxmlformats.org/drawingml/2006/main">
            <a:pathLst>
              <a:path w="762000" h="219075">
                <a:moveTo>
                  <a:pt x="0" y="133350"/>
                </a:moveTo>
                <a:lnTo>
                  <a:pt x="123825" y="38100"/>
                </a:lnTo>
                <a:lnTo>
                  <a:pt x="238125" y="219075"/>
                </a:lnTo>
                <a:lnTo>
                  <a:pt x="361950" y="57150"/>
                </a:lnTo>
                <a:lnTo>
                  <a:pt x="476250" y="133350"/>
                </a:lnTo>
                <a:lnTo>
                  <a:pt x="619125" y="0"/>
                </a:lnTo>
                <a:lnTo>
                  <a:pt x="7620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AF6545"/>
            </a:solidFill>
            <a:prstDash val="solid"/>
          </a:ln>
        </p:spPr>
      </p:sp>
      <p:sp>
        <p:nvSpPr>
          <p:cNvPr id="20" name="noise-label">
            <a:extLst xmlns:a="http://schemas.openxmlformats.org/drawingml/2006/main">
              <a:ext uri="{FF2B5EF4-FFF2-40B4-BE49-F238E27FC236}">
                <a16:creationId xmlns:a16="http://schemas.microsoft.com/office/drawing/2014/main" id="{1A09ABB9-D26B-4133-B606-296793A6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00525"/>
            <a:ext cx="3048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Stochastic variation</a:t>
            </a:r>
          </a:p>
        </p:txBody>
      </p:sp>
      <p:sp>
        <p:nvSpPr>
          <p:cNvPr id="21" name="time-axis">
            <a:extLst xmlns:a="http://schemas.openxmlformats.org/drawingml/2006/main">
              <a:ext uri="{FF2B5EF4-FFF2-40B4-BE49-F238E27FC236}">
                <a16:creationId xmlns:a16="http://schemas.microsoft.com/office/drawing/2014/main" id="{1C294D46-7264-46C5-A92A-74DB2438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8334375" cy="95"/>
          </a:xfrm>
          <a:custGeom xmlns:a="http://schemas.openxmlformats.org/drawingml/2006/main">
            <a:pathLst>
              <a:path w="8334375" h="95">
                <a:moveTo>
                  <a:pt x="0" y="0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8595"/>
            </a:solidFill>
            <a:prstDash val="solid"/>
          </a:ln>
        </p:spPr>
      </p:sp>
      <p:sp>
        <p:nvSpPr>
          <p:cNvPr id="22" name="time-axis--arrow">
            <a:extLst xmlns:a="http://schemas.openxmlformats.org/drawingml/2006/main">
              <a:ext uri="{FF2B5EF4-FFF2-40B4-BE49-F238E27FC236}">
                <a16:creationId xmlns:a16="http://schemas.microsoft.com/office/drawing/2014/main" id="{ABAF1EFC-43D6-4990-8DD6-795EFEE7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10" y="5048364"/>
            <a:ext cx="110490" cy="95021"/>
          </a:xfrm>
          <a:custGeom xmlns:a="http://schemas.openxmlformats.org/drawingml/2006/main">
            <a:pathLst>
              <a:path w="110490" h="95021">
                <a:moveTo>
                  <a:pt x="110490" y="47511"/>
                </a:moveTo>
                <a:lnTo>
                  <a:pt x="0" y="0"/>
                </a:lnTo>
                <a:lnTo>
                  <a:pt x="0" y="95021"/>
                </a:lnTo>
                <a:close/>
              </a:path>
            </a:pathLst>
          </a:custGeom>
          <a:solidFill xmlns:a="http://schemas.openxmlformats.org/drawingml/2006/main">
            <a:srgbClr val="7585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-start">
            <a:extLst xmlns:a="http://schemas.openxmlformats.org/drawingml/2006/main">
              <a:ext uri="{FF2B5EF4-FFF2-40B4-BE49-F238E27FC236}">
                <a16:creationId xmlns:a16="http://schemas.microsoft.com/office/drawing/2014/main" id="{68417023-AFFB-4064-A99F-7A36978D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t = 0</a:t>
            </a:r>
          </a:p>
        </p:txBody>
      </p:sp>
      <p:sp>
        <p:nvSpPr>
          <p:cNvPr id="24" name="time-end">
            <a:extLst xmlns:a="http://schemas.openxmlformats.org/drawingml/2006/main">
              <a:ext uri="{FF2B5EF4-FFF2-40B4-BE49-F238E27FC236}">
                <a16:creationId xmlns:a16="http://schemas.microsoft.com/office/drawing/2014/main" id="{A3E63AD4-25BB-48A0-9E7E-1CFB8929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t = 1</a:t>
            </a:r>
          </a:p>
        </p:txBody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66923271-3B80-4DB4-8EB2-9D31E23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time</a:t>
            </a:r>
          </a:p>
        </p:txBody>
      </p:sp>
      <p:sp>
        <p:nvSpPr>
          <p:cNvPr id="26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AE0A8BD5-CF7C-43E8-BB15-55E89BE7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687887"/>
                </a:solidFill>
                <a:latin typeface="Times New Roman"/>
                <a:ea typeface="Times New Roman"/>
                <a:cs typeface="Times New Roman"/>
              </a:rPr>
              <a:t>Illustration: different noise realizations can produce different paths from the same state.</a:t>
            </a:r>
          </a:p>
        </p:txBody>
      </p:sp>
    </p:spTree>
    <p:extLst>
      <p:ext uri="{BB962C8B-B14F-4D97-AF65-F5344CB8AC3E}">
        <p14:creationId xmlns:p14="http://schemas.microsoft.com/office/powerpoint/2010/main" val="5524207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itle">
            <a:extLst xmlns:a="http://schemas.openxmlformats.org/drawingml/2006/main">
              <a:ext uri="{FF2B5EF4-FFF2-40B4-BE49-F238E27FC236}">
                <a16:creationId xmlns:a16="http://schemas.microsoft.com/office/drawing/2014/main" id="{EBEF0BF4-129C-4513-8807-34D5A2C4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SDE · drift and stochastic variation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F7617D22-4D93-4D06-863B-D3C914EF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dX = b(X, t) dt + σ(X, t) dW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9D8838C-DC5D-4486-8C19-810826AF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shared-label">
            <a:extLst xmlns:a="http://schemas.openxmlformats.org/drawingml/2006/main">
              <a:ext uri="{FF2B5EF4-FFF2-40B4-BE49-F238E27FC236}">
                <a16:creationId xmlns:a16="http://schemas.microsoft.com/office/drawing/2014/main" id="{94280122-3E0D-4F9C-9E9B-A0C52CCB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574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Shared state</a:t>
            </a:r>
          </a:p>
        </p:txBody>
      </p:sp>
      <p:sp>
        <p:nvSpPr>
          <p:cNvPr id="5" name="realizations-label">
            <a:extLst xmlns:a="http://schemas.openxmlformats.org/drawingml/2006/main">
              <a:ext uri="{FF2B5EF4-FFF2-40B4-BE49-F238E27FC236}">
                <a16:creationId xmlns:a16="http://schemas.microsoft.com/office/drawing/2014/main" id="{A4DA2A2C-140B-4497-B2FC-FB3EDF19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478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Possible realizations</a:t>
            </a:r>
          </a:p>
        </p:txBody>
      </p:sp>
      <p:sp>
        <p:nvSpPr>
          <p:cNvPr id="6" name="path-1">
            <a:extLst xmlns:a="http://schemas.openxmlformats.org/drawingml/2006/main">
              <a:ext uri="{FF2B5EF4-FFF2-40B4-BE49-F238E27FC236}">
                <a16:creationId xmlns:a16="http://schemas.microsoft.com/office/drawing/2014/main" id="{30FD33E0-B4F7-4622-979C-76EE42D2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27637"/>
            <a:ext cx="8096250" cy="1063238"/>
          </a:xfrm>
          <a:custGeom xmlns:a="http://schemas.openxmlformats.org/drawingml/2006/main">
            <a:pathLst>
              <a:path w="8096250" h="1063238">
                <a:moveTo>
                  <a:pt x="0" y="1063238"/>
                </a:moveTo>
                <a:lnTo>
                  <a:pt x="67469" y="1062439"/>
                </a:lnTo>
                <a:lnTo>
                  <a:pt x="134937" y="1045987"/>
                </a:lnTo>
                <a:lnTo>
                  <a:pt x="202406" y="1032880"/>
                </a:lnTo>
                <a:lnTo>
                  <a:pt x="269875" y="1039085"/>
                </a:lnTo>
                <a:lnTo>
                  <a:pt x="337344" y="1013498"/>
                </a:lnTo>
                <a:lnTo>
                  <a:pt x="404813" y="964467"/>
                </a:lnTo>
                <a:lnTo>
                  <a:pt x="472281" y="954923"/>
                </a:lnTo>
                <a:lnTo>
                  <a:pt x="539750" y="950260"/>
                </a:lnTo>
                <a:lnTo>
                  <a:pt x="607219" y="906172"/>
                </a:lnTo>
                <a:lnTo>
                  <a:pt x="674687" y="893797"/>
                </a:lnTo>
                <a:lnTo>
                  <a:pt x="742156" y="931551"/>
                </a:lnTo>
                <a:lnTo>
                  <a:pt x="809625" y="928443"/>
                </a:lnTo>
                <a:lnTo>
                  <a:pt x="877094" y="899185"/>
                </a:lnTo>
                <a:lnTo>
                  <a:pt x="944563" y="922901"/>
                </a:lnTo>
                <a:lnTo>
                  <a:pt x="1012031" y="932986"/>
                </a:lnTo>
                <a:lnTo>
                  <a:pt x="1079500" y="867806"/>
                </a:lnTo>
                <a:lnTo>
                  <a:pt x="1146969" y="827157"/>
                </a:lnTo>
                <a:lnTo>
                  <a:pt x="1214438" y="836695"/>
                </a:lnTo>
                <a:lnTo>
                  <a:pt x="1281906" y="791709"/>
                </a:lnTo>
                <a:lnTo>
                  <a:pt x="1349375" y="730135"/>
                </a:lnTo>
                <a:lnTo>
                  <a:pt x="1416844" y="757953"/>
                </a:lnTo>
                <a:lnTo>
                  <a:pt x="1484312" y="792074"/>
                </a:lnTo>
                <a:lnTo>
                  <a:pt x="1551781" y="757592"/>
                </a:lnTo>
                <a:lnTo>
                  <a:pt x="1619250" y="765335"/>
                </a:lnTo>
                <a:lnTo>
                  <a:pt x="1686719" y="825060"/>
                </a:lnTo>
                <a:lnTo>
                  <a:pt x="1754188" y="799095"/>
                </a:lnTo>
                <a:lnTo>
                  <a:pt x="1821656" y="728582"/>
                </a:lnTo>
                <a:lnTo>
                  <a:pt x="1889125" y="733556"/>
                </a:lnTo>
                <a:lnTo>
                  <a:pt x="1956594" y="721856"/>
                </a:lnTo>
                <a:lnTo>
                  <a:pt x="2024063" y="626876"/>
                </a:lnTo>
                <a:lnTo>
                  <a:pt x="2091531" y="594533"/>
                </a:lnTo>
                <a:lnTo>
                  <a:pt x="2159000" y="644365"/>
                </a:lnTo>
                <a:lnTo>
                  <a:pt x="2226469" y="627897"/>
                </a:lnTo>
                <a:lnTo>
                  <a:pt x="2293938" y="594455"/>
                </a:lnTo>
                <a:lnTo>
                  <a:pt x="2361406" y="664019"/>
                </a:lnTo>
                <a:lnTo>
                  <a:pt x="2428875" y="711670"/>
                </a:lnTo>
                <a:lnTo>
                  <a:pt x="2496344" y="650040"/>
                </a:lnTo>
                <a:lnTo>
                  <a:pt x="2563812" y="629898"/>
                </a:lnTo>
                <a:lnTo>
                  <a:pt x="2631281" y="662462"/>
                </a:lnTo>
                <a:lnTo>
                  <a:pt x="2698750" y="590720"/>
                </a:lnTo>
                <a:lnTo>
                  <a:pt x="2766219" y="489968"/>
                </a:lnTo>
                <a:lnTo>
                  <a:pt x="2833688" y="508322"/>
                </a:lnTo>
                <a:lnTo>
                  <a:pt x="2901156" y="523141"/>
                </a:lnTo>
                <a:lnTo>
                  <a:pt x="2968625" y="456125"/>
                </a:lnTo>
                <a:lnTo>
                  <a:pt x="3036094" y="474778"/>
                </a:lnTo>
                <a:lnTo>
                  <a:pt x="3103563" y="574955"/>
                </a:lnTo>
                <a:lnTo>
                  <a:pt x="3171031" y="568864"/>
                </a:lnTo>
                <a:lnTo>
                  <a:pt x="3238500" y="522786"/>
                </a:lnTo>
                <a:lnTo>
                  <a:pt x="3305969" y="575015"/>
                </a:lnTo>
                <a:lnTo>
                  <a:pt x="3373438" y="579360"/>
                </a:lnTo>
                <a:lnTo>
                  <a:pt x="3440906" y="459715"/>
                </a:lnTo>
                <a:lnTo>
                  <a:pt x="3508375" y="411813"/>
                </a:lnTo>
                <a:lnTo>
                  <a:pt x="3575844" y="445476"/>
                </a:lnTo>
                <a:lnTo>
                  <a:pt x="3643313" y="382827"/>
                </a:lnTo>
                <a:lnTo>
                  <a:pt x="3710781" y="318074"/>
                </a:lnTo>
                <a:lnTo>
                  <a:pt x="3778250" y="401288"/>
                </a:lnTo>
                <a:lnTo>
                  <a:pt x="3845719" y="465461"/>
                </a:lnTo>
                <a:lnTo>
                  <a:pt x="3913187" y="418373"/>
                </a:lnTo>
                <a:lnTo>
                  <a:pt x="3980656" y="446949"/>
                </a:lnTo>
                <a:lnTo>
                  <a:pt x="4048125" y="532004"/>
                </a:lnTo>
                <a:lnTo>
                  <a:pt x="4115594" y="471112"/>
                </a:lnTo>
                <a:lnTo>
                  <a:pt x="4183063" y="368123"/>
                </a:lnTo>
                <a:lnTo>
                  <a:pt x="4250531" y="388083"/>
                </a:lnTo>
                <a:lnTo>
                  <a:pt x="4318000" y="370181"/>
                </a:lnTo>
                <a:lnTo>
                  <a:pt x="4385469" y="248486"/>
                </a:lnTo>
                <a:lnTo>
                  <a:pt x="4452938" y="244071"/>
                </a:lnTo>
                <a:lnTo>
                  <a:pt x="4520406" y="341320"/>
                </a:lnTo>
                <a:lnTo>
                  <a:pt x="4587875" y="327137"/>
                </a:lnTo>
                <a:lnTo>
                  <a:pt x="4655344" y="303241"/>
                </a:lnTo>
                <a:lnTo>
                  <a:pt x="4722813" y="414867"/>
                </a:lnTo>
                <a:lnTo>
                  <a:pt x="4790281" y="462223"/>
                </a:lnTo>
                <a:lnTo>
                  <a:pt x="4857750" y="362652"/>
                </a:lnTo>
                <a:lnTo>
                  <a:pt x="4925219" y="341129"/>
                </a:lnTo>
                <a:lnTo>
                  <a:pt x="4992688" y="379031"/>
                </a:lnTo>
                <a:lnTo>
                  <a:pt x="5060156" y="273454"/>
                </a:lnTo>
                <a:lnTo>
                  <a:pt x="5127625" y="164195"/>
                </a:lnTo>
                <a:lnTo>
                  <a:pt x="5195094" y="224155"/>
                </a:lnTo>
                <a:lnTo>
                  <a:pt x="5262563" y="257719"/>
                </a:lnTo>
                <a:lnTo>
                  <a:pt x="5330031" y="190751"/>
                </a:lnTo>
                <a:lnTo>
                  <a:pt x="5397500" y="249614"/>
                </a:lnTo>
                <a:lnTo>
                  <a:pt x="5464969" y="384366"/>
                </a:lnTo>
                <a:lnTo>
                  <a:pt x="5532438" y="357568"/>
                </a:lnTo>
                <a:lnTo>
                  <a:pt x="5599906" y="296871"/>
                </a:lnTo>
                <a:lnTo>
                  <a:pt x="5667375" y="361639"/>
                </a:lnTo>
                <a:lnTo>
                  <a:pt x="5734844" y="342888"/>
                </a:lnTo>
                <a:lnTo>
                  <a:pt x="5802313" y="185971"/>
                </a:lnTo>
                <a:lnTo>
                  <a:pt x="5869781" y="153301"/>
                </a:lnTo>
                <a:lnTo>
                  <a:pt x="5937250" y="213493"/>
                </a:lnTo>
                <a:lnTo>
                  <a:pt x="6004719" y="146268"/>
                </a:lnTo>
                <a:lnTo>
                  <a:pt x="6072188" y="103252"/>
                </a:lnTo>
                <a:lnTo>
                  <a:pt x="6139656" y="239608"/>
                </a:lnTo>
                <a:lnTo>
                  <a:pt x="6207125" y="314588"/>
                </a:lnTo>
                <a:lnTo>
                  <a:pt x="6274594" y="251348"/>
                </a:lnTo>
                <a:lnTo>
                  <a:pt x="6342063" y="293677"/>
                </a:lnTo>
                <a:lnTo>
                  <a:pt x="6409531" y="378643"/>
                </a:lnTo>
                <a:lnTo>
                  <a:pt x="6477000" y="273642"/>
                </a:lnTo>
                <a:lnTo>
                  <a:pt x="6544469" y="152449"/>
                </a:lnTo>
                <a:lnTo>
                  <a:pt x="6611938" y="192485"/>
                </a:lnTo>
                <a:lnTo>
                  <a:pt x="6679406" y="170475"/>
                </a:lnTo>
                <a:lnTo>
                  <a:pt x="6746875" y="44356"/>
                </a:lnTo>
                <a:lnTo>
                  <a:pt x="6814344" y="85465"/>
                </a:lnTo>
                <a:lnTo>
                  <a:pt x="6881813" y="222328"/>
                </a:lnTo>
                <a:lnTo>
                  <a:pt x="6949281" y="203803"/>
                </a:lnTo>
                <a:lnTo>
                  <a:pt x="7016750" y="190022"/>
                </a:lnTo>
                <a:lnTo>
                  <a:pt x="7084219" y="325434"/>
                </a:lnTo>
                <a:lnTo>
                  <a:pt x="7151687" y="347708"/>
                </a:lnTo>
                <a:lnTo>
                  <a:pt x="7219156" y="207769"/>
                </a:lnTo>
                <a:lnTo>
                  <a:pt x="7286625" y="188400"/>
                </a:lnTo>
                <a:lnTo>
                  <a:pt x="7354094" y="225629"/>
                </a:lnTo>
                <a:lnTo>
                  <a:pt x="7421563" y="94486"/>
                </a:lnTo>
                <a:lnTo>
                  <a:pt x="7489031" y="0"/>
                </a:lnTo>
                <a:lnTo>
                  <a:pt x="7556500" y="108705"/>
                </a:lnTo>
                <a:lnTo>
                  <a:pt x="7623969" y="156282"/>
                </a:lnTo>
                <a:lnTo>
                  <a:pt x="7691438" y="93824"/>
                </a:lnTo>
                <a:lnTo>
                  <a:pt x="7758906" y="188914"/>
                </a:lnTo>
                <a:lnTo>
                  <a:pt x="7826375" y="333619"/>
                </a:lnTo>
                <a:lnTo>
                  <a:pt x="7893844" y="268743"/>
                </a:lnTo>
                <a:lnTo>
                  <a:pt x="7961312" y="190915"/>
                </a:lnTo>
                <a:lnTo>
                  <a:pt x="8028781" y="258371"/>
                </a:lnTo>
                <a:lnTo>
                  <a:pt x="8096250" y="208367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236B9C"/>
            </a:solidFill>
            <a:prstDash val="solid"/>
          </a:ln>
        </p:spPr>
      </p:sp>
      <p:sp>
        <p:nvSpPr>
          <p:cNvPr id="7" name="path-1--arrow">
            <a:extLst xmlns:a="http://schemas.openxmlformats.org/drawingml/2006/main">
              <a:ext uri="{FF2B5EF4-FFF2-40B4-BE49-F238E27FC236}">
                <a16:creationId xmlns:a16="http://schemas.microsoft.com/office/drawing/2014/main" id="{ECFAA846-C954-434F-8DF8-65F95BA1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783" y="2336005"/>
            <a:ext cx="126342" cy="112205"/>
          </a:xfrm>
          <a:custGeom xmlns:a="http://schemas.openxmlformats.org/drawingml/2006/main">
            <a:pathLst>
              <a:path w="126342" h="112205">
                <a:moveTo>
                  <a:pt x="126342" y="0"/>
                </a:moveTo>
                <a:lnTo>
                  <a:pt x="0" y="29809"/>
                </a:lnTo>
                <a:lnTo>
                  <a:pt x="61066" y="112205"/>
                </a:lnTo>
                <a:close/>
              </a:path>
            </a:pathLst>
          </a:custGeom>
          <a:solidFill xmlns:a="http://schemas.openxmlformats.org/drawingml/2006/main">
            <a:srgbClr val="236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inal-1">
            <a:extLst xmlns:a="http://schemas.openxmlformats.org/drawingml/2006/main">
              <a:ext uri="{FF2B5EF4-FFF2-40B4-BE49-F238E27FC236}">
                <a16:creationId xmlns:a16="http://schemas.microsoft.com/office/drawing/2014/main" id="{556F4B6E-4188-45D1-B524-ED86B0B3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6933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B9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path-2">
            <a:extLst xmlns:a="http://schemas.openxmlformats.org/drawingml/2006/main">
              <a:ext uri="{FF2B5EF4-FFF2-40B4-BE49-F238E27FC236}">
                <a16:creationId xmlns:a16="http://schemas.microsoft.com/office/drawing/2014/main" id="{E586B932-196E-4A9E-BB1D-20CBAE35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10249"/>
            <a:ext cx="8096250" cy="512482"/>
          </a:xfrm>
          <a:custGeom xmlns:a="http://schemas.openxmlformats.org/drawingml/2006/main">
            <a:pathLst>
              <a:path w="8096250" h="512482">
                <a:moveTo>
                  <a:pt x="0" y="280626"/>
                </a:moveTo>
                <a:lnTo>
                  <a:pt x="67469" y="289952"/>
                </a:lnTo>
                <a:lnTo>
                  <a:pt x="134937" y="274622"/>
                </a:lnTo>
                <a:lnTo>
                  <a:pt x="202406" y="274095"/>
                </a:lnTo>
                <a:lnTo>
                  <a:pt x="269875" y="274443"/>
                </a:lnTo>
                <a:lnTo>
                  <a:pt x="337344" y="238207"/>
                </a:lnTo>
                <a:lnTo>
                  <a:pt x="404813" y="215172"/>
                </a:lnTo>
                <a:lnTo>
                  <a:pt x="472281" y="234275"/>
                </a:lnTo>
                <a:lnTo>
                  <a:pt x="539750" y="230172"/>
                </a:lnTo>
                <a:lnTo>
                  <a:pt x="607219" y="208551"/>
                </a:lnTo>
                <a:lnTo>
                  <a:pt x="674687" y="240336"/>
                </a:lnTo>
                <a:lnTo>
                  <a:pt x="742156" y="276552"/>
                </a:lnTo>
                <a:lnTo>
                  <a:pt x="809625" y="250802"/>
                </a:lnTo>
                <a:lnTo>
                  <a:pt x="877094" y="236834"/>
                </a:lnTo>
                <a:lnTo>
                  <a:pt x="944563" y="262372"/>
                </a:lnTo>
                <a:lnTo>
                  <a:pt x="1012031" y="231673"/>
                </a:lnTo>
                <a:lnTo>
                  <a:pt x="1079500" y="165806"/>
                </a:lnTo>
                <a:lnTo>
                  <a:pt x="1146969" y="169086"/>
                </a:lnTo>
                <a:lnTo>
                  <a:pt x="1214438" y="184557"/>
                </a:lnTo>
                <a:lnTo>
                  <a:pt x="1281906" y="141870"/>
                </a:lnTo>
                <a:lnTo>
                  <a:pt x="1349375" y="142337"/>
                </a:lnTo>
                <a:lnTo>
                  <a:pt x="1416844" y="212010"/>
                </a:lnTo>
                <a:lnTo>
                  <a:pt x="1484312" y="222771"/>
                </a:lnTo>
                <a:lnTo>
                  <a:pt x="1551781" y="191793"/>
                </a:lnTo>
                <a:lnTo>
                  <a:pt x="1619250" y="228124"/>
                </a:lnTo>
                <a:lnTo>
                  <a:pt x="1686719" y="249306"/>
                </a:lnTo>
                <a:lnTo>
                  <a:pt x="1754188" y="174241"/>
                </a:lnTo>
                <a:lnTo>
                  <a:pt x="1821656" y="130769"/>
                </a:lnTo>
                <a:lnTo>
                  <a:pt x="1889125" y="157008"/>
                </a:lnTo>
                <a:lnTo>
                  <a:pt x="1956594" y="121051"/>
                </a:lnTo>
                <a:lnTo>
                  <a:pt x="2024063" y="63008"/>
                </a:lnTo>
                <a:lnTo>
                  <a:pt x="2091531" y="113560"/>
                </a:lnTo>
                <a:lnTo>
                  <a:pt x="2159000" y="173533"/>
                </a:lnTo>
                <a:lnTo>
                  <a:pt x="2226469" y="145717"/>
                </a:lnTo>
                <a:lnTo>
                  <a:pt x="2293938" y="160507"/>
                </a:lnTo>
                <a:lnTo>
                  <a:pt x="2361406" y="236898"/>
                </a:lnTo>
                <a:lnTo>
                  <a:pt x="2428875" y="213045"/>
                </a:lnTo>
                <a:lnTo>
                  <a:pt x="2496344" y="133387"/>
                </a:lnTo>
                <a:lnTo>
                  <a:pt x="2563812" y="144538"/>
                </a:lnTo>
                <a:lnTo>
                  <a:pt x="2631281" y="145365"/>
                </a:lnTo>
                <a:lnTo>
                  <a:pt x="2698750" y="52311"/>
                </a:lnTo>
                <a:lnTo>
                  <a:pt x="2766219" y="30311"/>
                </a:lnTo>
                <a:lnTo>
                  <a:pt x="2833688" y="107163"/>
                </a:lnTo>
                <a:lnTo>
                  <a:pt x="2901156" y="109062"/>
                </a:lnTo>
                <a:lnTo>
                  <a:pt x="2968625" y="82909"/>
                </a:lnTo>
                <a:lnTo>
                  <a:pt x="3036094" y="168779"/>
                </a:lnTo>
                <a:lnTo>
                  <a:pt x="3103563" y="230943"/>
                </a:lnTo>
                <a:lnTo>
                  <a:pt x="3171031" y="165154"/>
                </a:lnTo>
                <a:lnTo>
                  <a:pt x="3238500" y="141525"/>
                </a:lnTo>
                <a:lnTo>
                  <a:pt x="3305969" y="183753"/>
                </a:lnTo>
                <a:lnTo>
                  <a:pt x="3373438" y="116221"/>
                </a:lnTo>
                <a:lnTo>
                  <a:pt x="3440906" y="15643"/>
                </a:lnTo>
                <a:lnTo>
                  <a:pt x="3508375" y="51544"/>
                </a:lnTo>
                <a:lnTo>
                  <a:pt x="3575844" y="91196"/>
                </a:lnTo>
                <a:lnTo>
                  <a:pt x="3643313" y="36886"/>
                </a:lnTo>
                <a:lnTo>
                  <a:pt x="3710781" y="69304"/>
                </a:lnTo>
                <a:lnTo>
                  <a:pt x="3778250" y="191569"/>
                </a:lnTo>
                <a:lnTo>
                  <a:pt x="3845719" y="194442"/>
                </a:lnTo>
                <a:lnTo>
                  <a:pt x="3913187" y="143639"/>
                </a:lnTo>
                <a:lnTo>
                  <a:pt x="3980656" y="199550"/>
                </a:lnTo>
                <a:lnTo>
                  <a:pt x="4048125" y="210769"/>
                </a:lnTo>
                <a:lnTo>
                  <a:pt x="4115594" y="87549"/>
                </a:lnTo>
                <a:lnTo>
                  <a:pt x="4183063" y="42987"/>
                </a:lnTo>
                <a:lnTo>
                  <a:pt x="4250531" y="97476"/>
                </a:lnTo>
                <a:lnTo>
                  <a:pt x="4318000" y="52935"/>
                </a:lnTo>
                <a:lnTo>
                  <a:pt x="4385469" y="0"/>
                </a:lnTo>
                <a:lnTo>
                  <a:pt x="4452938" y="105406"/>
                </a:lnTo>
                <a:lnTo>
                  <a:pt x="4520406" y="191906"/>
                </a:lnTo>
                <a:lnTo>
                  <a:pt x="4587875" y="149144"/>
                </a:lnTo>
                <a:lnTo>
                  <a:pt x="4655344" y="178313"/>
                </a:lnTo>
                <a:lnTo>
                  <a:pt x="4722813" y="271567"/>
                </a:lnTo>
                <a:lnTo>
                  <a:pt x="4790281" y="210507"/>
                </a:lnTo>
                <a:lnTo>
                  <a:pt x="4857750" y="100580"/>
                </a:lnTo>
                <a:lnTo>
                  <a:pt x="4925219" y="128786"/>
                </a:lnTo>
                <a:lnTo>
                  <a:pt x="4992688" y="128763"/>
                </a:lnTo>
                <a:lnTo>
                  <a:pt x="5060156" y="18035"/>
                </a:lnTo>
                <a:lnTo>
                  <a:pt x="5127625" y="29603"/>
                </a:lnTo>
                <a:lnTo>
                  <a:pt x="5195094" y="154696"/>
                </a:lnTo>
                <a:lnTo>
                  <a:pt x="5262563" y="158747"/>
                </a:lnTo>
                <a:lnTo>
                  <a:pt x="5330031" y="139262"/>
                </a:lnTo>
                <a:lnTo>
                  <a:pt x="5397500" y="259658"/>
                </a:lnTo>
                <a:lnTo>
                  <a:pt x="5464969" y="314611"/>
                </a:lnTo>
                <a:lnTo>
                  <a:pt x="5532438" y="207961"/>
                </a:lnTo>
                <a:lnTo>
                  <a:pt x="5599906" y="181595"/>
                </a:lnTo>
                <a:lnTo>
                  <a:pt x="5667375" y="230002"/>
                </a:lnTo>
                <a:lnTo>
                  <a:pt x="5734844" y="134300"/>
                </a:lnTo>
                <a:lnTo>
                  <a:pt x="5802313" y="32474"/>
                </a:lnTo>
                <a:lnTo>
                  <a:pt x="5869781" y="114620"/>
                </a:lnTo>
                <a:lnTo>
                  <a:pt x="5937250" y="175868"/>
                </a:lnTo>
                <a:lnTo>
                  <a:pt x="6004719" y="122631"/>
                </a:lnTo>
                <a:lnTo>
                  <a:pt x="6072188" y="191680"/>
                </a:lnTo>
                <a:lnTo>
                  <a:pt x="6139656" y="341630"/>
                </a:lnTo>
                <a:lnTo>
                  <a:pt x="6207125" y="317688"/>
                </a:lnTo>
                <a:lnTo>
                  <a:pt x="6274594" y="247504"/>
                </a:lnTo>
                <a:lnTo>
                  <a:pt x="6342063" y="312459"/>
                </a:lnTo>
                <a:lnTo>
                  <a:pt x="6409531" y="300967"/>
                </a:lnTo>
                <a:lnTo>
                  <a:pt x="6477000" y="145034"/>
                </a:lnTo>
                <a:lnTo>
                  <a:pt x="6544469" y="121178"/>
                </a:lnTo>
                <a:lnTo>
                  <a:pt x="6611938" y="207091"/>
                </a:lnTo>
                <a:lnTo>
                  <a:pt x="6679406" y="162151"/>
                </a:lnTo>
                <a:lnTo>
                  <a:pt x="6746875" y="132117"/>
                </a:lnTo>
                <a:lnTo>
                  <a:pt x="6814344" y="287370"/>
                </a:lnTo>
                <a:lnTo>
                  <a:pt x="6881813" y="378961"/>
                </a:lnTo>
                <a:lnTo>
                  <a:pt x="6949281" y="313754"/>
                </a:lnTo>
                <a:lnTo>
                  <a:pt x="7016750" y="350274"/>
                </a:lnTo>
                <a:lnTo>
                  <a:pt x="7084219" y="438902"/>
                </a:lnTo>
                <a:lnTo>
                  <a:pt x="7151687" y="333195"/>
                </a:lnTo>
                <a:lnTo>
                  <a:pt x="7219156" y="207809"/>
                </a:lnTo>
                <a:lnTo>
                  <a:pt x="7286625" y="260496"/>
                </a:lnTo>
                <a:lnTo>
                  <a:pt x="7354094" y="261716"/>
                </a:lnTo>
                <a:lnTo>
                  <a:pt x="7421563" y="151164"/>
                </a:lnTo>
                <a:lnTo>
                  <a:pt x="7489031" y="209695"/>
                </a:lnTo>
                <a:lnTo>
                  <a:pt x="7556500" y="372216"/>
                </a:lnTo>
                <a:lnTo>
                  <a:pt x="7623969" y="367088"/>
                </a:lnTo>
                <a:lnTo>
                  <a:pt x="7691438" y="350963"/>
                </a:lnTo>
                <a:lnTo>
                  <a:pt x="7758906" y="487922"/>
                </a:lnTo>
                <a:lnTo>
                  <a:pt x="7826375" y="512482"/>
                </a:lnTo>
                <a:lnTo>
                  <a:pt x="7893844" y="363391"/>
                </a:lnTo>
                <a:lnTo>
                  <a:pt x="7961312" y="340255"/>
                </a:lnTo>
                <a:lnTo>
                  <a:pt x="8028781" y="391767"/>
                </a:lnTo>
                <a:lnTo>
                  <a:pt x="8096250" y="275796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197D7E"/>
            </a:solidFill>
            <a:prstDash val="solid"/>
          </a:ln>
        </p:spPr>
      </p:sp>
      <p:sp>
        <p:nvSpPr>
          <p:cNvPr id="10" name="path-2--arrow">
            <a:extLst xmlns:a="http://schemas.openxmlformats.org/drawingml/2006/main">
              <a:ext uri="{FF2B5EF4-FFF2-40B4-BE49-F238E27FC236}">
                <a16:creationId xmlns:a16="http://schemas.microsoft.com/office/drawing/2014/main" id="{65382D2B-ADF3-456D-A439-F53F59A0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833" y="3186045"/>
            <a:ext cx="104292" cy="128864"/>
          </a:xfrm>
          <a:custGeom xmlns:a="http://schemas.openxmlformats.org/drawingml/2006/main">
            <a:pathLst>
              <a:path w="104292" h="128864">
                <a:moveTo>
                  <a:pt x="104292" y="0"/>
                </a:moveTo>
                <a:lnTo>
                  <a:pt x="0" y="77292"/>
                </a:lnTo>
                <a:lnTo>
                  <a:pt x="88647" y="128864"/>
                </a:lnTo>
                <a:close/>
              </a:path>
            </a:pathLst>
          </a:custGeom>
          <a:solidFill xmlns:a="http://schemas.openxmlformats.org/drawingml/2006/main">
            <a:srgbClr val="197D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inal-2">
            <a:extLst xmlns:a="http://schemas.openxmlformats.org/drawingml/2006/main">
              <a:ext uri="{FF2B5EF4-FFF2-40B4-BE49-F238E27FC236}">
                <a16:creationId xmlns:a16="http://schemas.microsoft.com/office/drawing/2014/main" id="{95B30874-DE5B-4629-AD39-A62BE61D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193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D7E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2" name="path-3">
            <a:extLst xmlns:a="http://schemas.openxmlformats.org/drawingml/2006/main">
              <a:ext uri="{FF2B5EF4-FFF2-40B4-BE49-F238E27FC236}">
                <a16:creationId xmlns:a16="http://schemas.microsoft.com/office/drawing/2014/main" id="{E2823D6F-2F6D-4006-96F4-5E04F41D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161703"/>
            <a:ext cx="8096250" cy="1013967"/>
          </a:xfrm>
          <a:custGeom xmlns:a="http://schemas.openxmlformats.org/drawingml/2006/main">
            <a:pathLst>
              <a:path w="8096250" h="1013967">
                <a:moveTo>
                  <a:pt x="0" y="29172"/>
                </a:moveTo>
                <a:lnTo>
                  <a:pt x="67469" y="35269"/>
                </a:lnTo>
                <a:lnTo>
                  <a:pt x="134937" y="25209"/>
                </a:lnTo>
                <a:lnTo>
                  <a:pt x="202406" y="34471"/>
                </a:lnTo>
                <a:lnTo>
                  <a:pt x="269875" y="27380"/>
                </a:lnTo>
                <a:lnTo>
                  <a:pt x="337344" y="1856"/>
                </a:lnTo>
                <a:lnTo>
                  <a:pt x="404813" y="17542"/>
                </a:lnTo>
                <a:lnTo>
                  <a:pt x="472281" y="50549"/>
                </a:lnTo>
                <a:lnTo>
                  <a:pt x="539750" y="43705"/>
                </a:lnTo>
                <a:lnTo>
                  <a:pt x="607219" y="49383"/>
                </a:lnTo>
                <a:lnTo>
                  <a:pt x="674687" y="96294"/>
                </a:lnTo>
                <a:lnTo>
                  <a:pt x="742156" y="99405"/>
                </a:lnTo>
                <a:lnTo>
                  <a:pt x="809625" y="58915"/>
                </a:lnTo>
                <a:lnTo>
                  <a:pt x="877094" y="64139"/>
                </a:lnTo>
                <a:lnTo>
                  <a:pt x="944563" y="74941"/>
                </a:lnTo>
                <a:lnTo>
                  <a:pt x="1012031" y="23781"/>
                </a:lnTo>
                <a:lnTo>
                  <a:pt x="1079500" y="0"/>
                </a:lnTo>
                <a:lnTo>
                  <a:pt x="1146969" y="47056"/>
                </a:lnTo>
                <a:lnTo>
                  <a:pt x="1214438" y="58020"/>
                </a:lnTo>
                <a:lnTo>
                  <a:pt x="1281906" y="38473"/>
                </a:lnTo>
                <a:lnTo>
                  <a:pt x="1349375" y="91738"/>
                </a:lnTo>
                <a:lnTo>
                  <a:pt x="1416844" y="149450"/>
                </a:lnTo>
                <a:lnTo>
                  <a:pt x="1484312" y="118371"/>
                </a:lnTo>
                <a:lnTo>
                  <a:pt x="1551781" y="99771"/>
                </a:lnTo>
                <a:lnTo>
                  <a:pt x="1619250" y="136702"/>
                </a:lnTo>
                <a:lnTo>
                  <a:pt x="1686719" y="105328"/>
                </a:lnTo>
                <a:lnTo>
                  <a:pt x="1754188" y="29724"/>
                </a:lnTo>
                <a:lnTo>
                  <a:pt x="1821656" y="45003"/>
                </a:lnTo>
                <a:lnTo>
                  <a:pt x="1889125" y="81602"/>
                </a:lnTo>
                <a:lnTo>
                  <a:pt x="1956594" y="45264"/>
                </a:lnTo>
                <a:lnTo>
                  <a:pt x="2024063" y="56682"/>
                </a:lnTo>
                <a:lnTo>
                  <a:pt x="2091531" y="151627"/>
                </a:lnTo>
                <a:lnTo>
                  <a:pt x="2159000" y="173527"/>
                </a:lnTo>
                <a:lnTo>
                  <a:pt x="2226469" y="137826"/>
                </a:lnTo>
                <a:lnTo>
                  <a:pt x="2293938" y="179888"/>
                </a:lnTo>
                <a:lnTo>
                  <a:pt x="2361406" y="208876"/>
                </a:lnTo>
                <a:lnTo>
                  <a:pt x="2428875" y="125731"/>
                </a:lnTo>
                <a:lnTo>
                  <a:pt x="2496344" y="79654"/>
                </a:lnTo>
                <a:lnTo>
                  <a:pt x="2563812" y="122421"/>
                </a:lnTo>
                <a:lnTo>
                  <a:pt x="2631281" y="98987"/>
                </a:lnTo>
                <a:lnTo>
                  <a:pt x="2698750" y="46700"/>
                </a:lnTo>
                <a:lnTo>
                  <a:pt x="2766219" y="117494"/>
                </a:lnTo>
                <a:lnTo>
                  <a:pt x="2833688" y="200838"/>
                </a:lnTo>
                <a:lnTo>
                  <a:pt x="2901156" y="177859"/>
                </a:lnTo>
                <a:lnTo>
                  <a:pt x="2968625" y="194544"/>
                </a:lnTo>
                <a:lnTo>
                  <a:pt x="3036094" y="281905"/>
                </a:lnTo>
                <a:lnTo>
                  <a:pt x="3103563" y="258324"/>
                </a:lnTo>
                <a:lnTo>
                  <a:pt x="3171031" y="168706"/>
                </a:lnTo>
                <a:lnTo>
                  <a:pt x="3238500" y="184474"/>
                </a:lnTo>
                <a:lnTo>
                  <a:pt x="3305969" y="199060"/>
                </a:lnTo>
                <a:lnTo>
                  <a:pt x="3373438" y="111050"/>
                </a:lnTo>
                <a:lnTo>
                  <a:pt x="3440906" y="99780"/>
                </a:lnTo>
                <a:lnTo>
                  <a:pt x="3508375" y="202377"/>
                </a:lnTo>
                <a:lnTo>
                  <a:pt x="3575844" y="222045"/>
                </a:lnTo>
                <a:lnTo>
                  <a:pt x="3643313" y="200423"/>
                </a:lnTo>
                <a:lnTo>
                  <a:pt x="3710781" y="297022"/>
                </a:lnTo>
                <a:lnTo>
                  <a:pt x="3778250" y="369526"/>
                </a:lnTo>
                <a:lnTo>
                  <a:pt x="3845719" y="297285"/>
                </a:lnTo>
                <a:lnTo>
                  <a:pt x="3913187" y="267309"/>
                </a:lnTo>
                <a:lnTo>
                  <a:pt x="3980656" y="317739"/>
                </a:lnTo>
                <a:lnTo>
                  <a:pt x="4048125" y="256219"/>
                </a:lnTo>
                <a:lnTo>
                  <a:pt x="4115594" y="157537"/>
                </a:lnTo>
                <a:lnTo>
                  <a:pt x="4183063" y="210916"/>
                </a:lnTo>
                <a:lnTo>
                  <a:pt x="4250531" y="275725"/>
                </a:lnTo>
                <a:lnTo>
                  <a:pt x="4318000" y="233806"/>
                </a:lnTo>
                <a:lnTo>
                  <a:pt x="4385469" y="276373"/>
                </a:lnTo>
                <a:lnTo>
                  <a:pt x="4452938" y="415947"/>
                </a:lnTo>
                <a:lnTo>
                  <a:pt x="4520406" y="424365"/>
                </a:lnTo>
                <a:lnTo>
                  <a:pt x="4587875" y="365165"/>
                </a:lnTo>
                <a:lnTo>
                  <a:pt x="4655344" y="420955"/>
                </a:lnTo>
                <a:lnTo>
                  <a:pt x="4722813" y="438131"/>
                </a:lnTo>
                <a:lnTo>
                  <a:pt x="4790281" y="312530"/>
                </a:lnTo>
                <a:lnTo>
                  <a:pt x="4857750" y="271755"/>
                </a:lnTo>
                <a:lnTo>
                  <a:pt x="4925219" y="347634"/>
                </a:lnTo>
                <a:lnTo>
                  <a:pt x="4992688" y="322523"/>
                </a:lnTo>
                <a:lnTo>
                  <a:pt x="5060156" y="280570"/>
                </a:lnTo>
                <a:lnTo>
                  <a:pt x="5127625" y="404591"/>
                </a:lnTo>
                <a:lnTo>
                  <a:pt x="5195094" y="509818"/>
                </a:lnTo>
                <a:lnTo>
                  <a:pt x="5262563" y="467707"/>
                </a:lnTo>
                <a:lnTo>
                  <a:pt x="5330031" y="492520"/>
                </a:lnTo>
                <a:lnTo>
                  <a:pt x="5397500" y="590176"/>
                </a:lnTo>
                <a:lnTo>
                  <a:pt x="5464969" y="528057"/>
                </a:lnTo>
                <a:lnTo>
                  <a:pt x="5532438" y="411048"/>
                </a:lnTo>
                <a:lnTo>
                  <a:pt x="5599906" y="447423"/>
                </a:lnTo>
                <a:lnTo>
                  <a:pt x="5667375" y="466766"/>
                </a:lnTo>
                <a:lnTo>
                  <a:pt x="5734844" y="368408"/>
                </a:lnTo>
                <a:lnTo>
                  <a:pt x="5802313" y="394702"/>
                </a:lnTo>
                <a:lnTo>
                  <a:pt x="5869781" y="544992"/>
                </a:lnTo>
                <a:lnTo>
                  <a:pt x="5937250" y="564467"/>
                </a:lnTo>
                <a:lnTo>
                  <a:pt x="6004719" y="544905"/>
                </a:lnTo>
                <a:lnTo>
                  <a:pt x="6072188" y="668602"/>
                </a:lnTo>
                <a:lnTo>
                  <a:pt x="6139656" y="727665"/>
                </a:lnTo>
                <a:lnTo>
                  <a:pt x="6207125" y="612221"/>
                </a:lnTo>
                <a:lnTo>
                  <a:pt x="6274594" y="579559"/>
                </a:lnTo>
                <a:lnTo>
                  <a:pt x="6342063" y="638574"/>
                </a:lnTo>
                <a:lnTo>
                  <a:pt x="6409531" y="554682"/>
                </a:lnTo>
                <a:lnTo>
                  <a:pt x="6477000" y="461185"/>
                </a:lnTo>
                <a:lnTo>
                  <a:pt x="6544469" y="564519"/>
                </a:lnTo>
                <a:lnTo>
                  <a:pt x="6611938" y="652054"/>
                </a:lnTo>
                <a:lnTo>
                  <a:pt x="6679406" y="609863"/>
                </a:lnTo>
                <a:lnTo>
                  <a:pt x="6746875" y="683985"/>
                </a:lnTo>
                <a:lnTo>
                  <a:pt x="6814344" y="843938"/>
                </a:lnTo>
                <a:lnTo>
                  <a:pt x="6881813" y="819316"/>
                </a:lnTo>
                <a:lnTo>
                  <a:pt x="6949281" y="736584"/>
                </a:lnTo>
                <a:lnTo>
                  <a:pt x="7016750" y="799533"/>
                </a:lnTo>
                <a:lnTo>
                  <a:pt x="7084219" y="795731"/>
                </a:lnTo>
                <a:lnTo>
                  <a:pt x="7151687" y="642378"/>
                </a:lnTo>
                <a:lnTo>
                  <a:pt x="7219156" y="627772"/>
                </a:lnTo>
                <a:lnTo>
                  <a:pt x="7286625" y="739334"/>
                </a:lnTo>
                <a:lnTo>
                  <a:pt x="7354094" y="716214"/>
                </a:lnTo>
                <a:lnTo>
                  <a:pt x="7421563" y="696228"/>
                </a:lnTo>
                <a:lnTo>
                  <a:pt x="7489031" y="865361"/>
                </a:lnTo>
                <a:lnTo>
                  <a:pt x="7556500" y="968963"/>
                </a:lnTo>
                <a:lnTo>
                  <a:pt x="7623969" y="897608"/>
                </a:lnTo>
                <a:lnTo>
                  <a:pt x="7691438" y="924029"/>
                </a:lnTo>
                <a:lnTo>
                  <a:pt x="7758906" y="1013967"/>
                </a:lnTo>
                <a:lnTo>
                  <a:pt x="7826375" y="907863"/>
                </a:lnTo>
                <a:lnTo>
                  <a:pt x="7893844" y="779004"/>
                </a:lnTo>
                <a:lnTo>
                  <a:pt x="7961312" y="844819"/>
                </a:lnTo>
                <a:lnTo>
                  <a:pt x="8028781" y="870293"/>
                </a:lnTo>
                <a:lnTo>
                  <a:pt x="8096250" y="775178"/>
                </a:lnTo>
              </a:path>
            </a:pathLst>
          </a:custGeom>
          <a:noFill xmlns:a="http://schemas.openxmlformats.org/drawingml/2006/main"/>
          <a:ln xmlns:a="http://schemas.openxmlformats.org/drawingml/2006/main" w="24003">
            <a:solidFill>
              <a:srgbClr val="C15D42"/>
            </a:solidFill>
            <a:prstDash val="solid"/>
          </a:ln>
        </p:spPr>
      </p:sp>
      <p:sp>
        <p:nvSpPr>
          <p:cNvPr id="13" name="path-3--arrow">
            <a:extLst xmlns:a="http://schemas.openxmlformats.org/drawingml/2006/main">
              <a:ext uri="{FF2B5EF4-FFF2-40B4-BE49-F238E27FC236}">
                <a16:creationId xmlns:a16="http://schemas.microsoft.com/office/drawing/2014/main" id="{E0097975-8C01-414C-9C98-77A202E6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305" y="3936881"/>
            <a:ext cx="110820" cy="126935"/>
          </a:xfrm>
          <a:custGeom xmlns:a="http://schemas.openxmlformats.org/drawingml/2006/main">
            <a:pathLst>
              <a:path w="110820" h="126935">
                <a:moveTo>
                  <a:pt x="110820" y="0"/>
                </a:moveTo>
                <a:lnTo>
                  <a:pt x="0" y="67599"/>
                </a:lnTo>
                <a:lnTo>
                  <a:pt x="83650" y="126935"/>
                </a:lnTo>
                <a:close/>
              </a:path>
            </a:pathLst>
          </a:custGeom>
          <a:solidFill xmlns:a="http://schemas.openxmlformats.org/drawingml/2006/main">
            <a:srgbClr val="C15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inal-3">
            <a:extLst xmlns:a="http://schemas.openxmlformats.org/drawingml/2006/main">
              <a:ext uri="{FF2B5EF4-FFF2-40B4-BE49-F238E27FC236}">
                <a16:creationId xmlns:a16="http://schemas.microsoft.com/office/drawing/2014/main" id="{052C6C88-6C9B-4D24-BA9E-2AB5A486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7020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5D42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5" name="shared-state">
            <a:extLst xmlns:a="http://schemas.openxmlformats.org/drawingml/2006/main">
              <a:ext uri="{FF2B5EF4-FFF2-40B4-BE49-F238E27FC236}">
                <a16:creationId xmlns:a16="http://schemas.microsoft.com/office/drawing/2014/main" id="{B38E5733-4A08-49BC-8F16-538032BE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C40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drift-key">
            <a:extLst xmlns:a="http://schemas.openxmlformats.org/drawingml/2006/main">
              <a:ext uri="{FF2B5EF4-FFF2-40B4-BE49-F238E27FC236}">
                <a16:creationId xmlns:a16="http://schemas.microsoft.com/office/drawing/2014/main" id="{662FC767-8611-400E-964F-DAA2856A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62450"/>
            <a:ext cx="714375" cy="95"/>
          </a:xfrm>
          <a:custGeom xmlns:a="http://schemas.openxmlformats.org/drawingml/2006/main">
            <a:pathLst>
              <a:path w="714375" h="9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72C40"/>
            </a:solidFill>
            <a:prstDash val="solid"/>
          </a:ln>
        </p:spPr>
      </p:sp>
      <p:sp>
        <p:nvSpPr>
          <p:cNvPr id="17" name="drift-key--arrow">
            <a:extLst xmlns:a="http://schemas.openxmlformats.org/drawingml/2006/main">
              <a:ext uri="{FF2B5EF4-FFF2-40B4-BE49-F238E27FC236}">
                <a16:creationId xmlns:a16="http://schemas.microsoft.com/office/drawing/2014/main" id="{C540B1EC-2DAE-4B35-AEAB-3ACFF377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735" y="4310844"/>
            <a:ext cx="120015" cy="103213"/>
          </a:xfrm>
          <a:custGeom xmlns:a="http://schemas.openxmlformats.org/drawingml/2006/main">
            <a:pathLst>
              <a:path w="120015" h="103213">
                <a:moveTo>
                  <a:pt x="120015" y="51606"/>
                </a:moveTo>
                <a:lnTo>
                  <a:pt x="0" y="0"/>
                </a:lnTo>
                <a:lnTo>
                  <a:pt x="0" y="103213"/>
                </a:lnTo>
                <a:close/>
              </a:path>
            </a:pathLst>
          </a:custGeom>
          <a:solidFill xmlns:a="http://schemas.openxmlformats.org/drawingml/2006/main">
            <a:srgbClr val="172C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rift-label">
            <a:extLst xmlns:a="http://schemas.openxmlformats.org/drawingml/2006/main">
              <a:ext uri="{FF2B5EF4-FFF2-40B4-BE49-F238E27FC236}">
                <a16:creationId xmlns:a16="http://schemas.microsoft.com/office/drawing/2014/main" id="{EF21AA9C-6325-485A-B0B3-EEEC9DF4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00525"/>
            <a:ext cx="16192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Drift</a:t>
            </a:r>
          </a:p>
        </p:txBody>
      </p:sp>
      <p:sp>
        <p:nvSpPr>
          <p:cNvPr id="19" name="noise-key">
            <a:extLst xmlns:a="http://schemas.openxmlformats.org/drawingml/2006/main">
              <a:ext uri="{FF2B5EF4-FFF2-40B4-BE49-F238E27FC236}">
                <a16:creationId xmlns:a16="http://schemas.microsoft.com/office/drawing/2014/main" id="{6C7B5958-0D5C-4465-828E-7DE4C766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229100"/>
            <a:ext cx="762000" cy="219075"/>
          </a:xfrm>
          <a:custGeom xmlns:a="http://schemas.openxmlformats.org/drawingml/2006/main">
            <a:pathLst>
              <a:path w="762000" h="219075">
                <a:moveTo>
                  <a:pt x="0" y="133350"/>
                </a:moveTo>
                <a:lnTo>
                  <a:pt x="123825" y="38100"/>
                </a:lnTo>
                <a:lnTo>
                  <a:pt x="238125" y="219075"/>
                </a:lnTo>
                <a:lnTo>
                  <a:pt x="361950" y="57150"/>
                </a:lnTo>
                <a:lnTo>
                  <a:pt x="476250" y="133350"/>
                </a:lnTo>
                <a:lnTo>
                  <a:pt x="619125" y="0"/>
                </a:lnTo>
                <a:lnTo>
                  <a:pt x="76200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C15D42"/>
            </a:solidFill>
            <a:prstDash val="solid"/>
          </a:ln>
        </p:spPr>
      </p:sp>
      <p:sp>
        <p:nvSpPr>
          <p:cNvPr id="20" name="noise-label">
            <a:extLst xmlns:a="http://schemas.openxmlformats.org/drawingml/2006/main">
              <a:ext uri="{FF2B5EF4-FFF2-40B4-BE49-F238E27FC236}">
                <a16:creationId xmlns:a16="http://schemas.microsoft.com/office/drawing/2014/main" id="{05D587D0-D78C-483E-857B-EDE6D39E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00525"/>
            <a:ext cx="304800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Stochastic variation</a:t>
            </a:r>
          </a:p>
        </p:txBody>
      </p:sp>
      <p:sp>
        <p:nvSpPr>
          <p:cNvPr id="21" name="time-axis">
            <a:extLst xmlns:a="http://schemas.openxmlformats.org/drawingml/2006/main">
              <a:ext uri="{FF2B5EF4-FFF2-40B4-BE49-F238E27FC236}">
                <a16:creationId xmlns:a16="http://schemas.microsoft.com/office/drawing/2014/main" id="{ABD31E1D-E953-4A9F-BCF7-400B4458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95875"/>
            <a:ext cx="8334375" cy="95"/>
          </a:xfrm>
          <a:custGeom xmlns:a="http://schemas.openxmlformats.org/drawingml/2006/main">
            <a:pathLst>
              <a:path w="8334375" h="95">
                <a:moveTo>
                  <a:pt x="0" y="0"/>
                </a:moveTo>
                <a:lnTo>
                  <a:pt x="833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758595"/>
            </a:solidFill>
            <a:prstDash val="solid"/>
          </a:ln>
        </p:spPr>
      </p:sp>
      <p:sp>
        <p:nvSpPr>
          <p:cNvPr id="22" name="time-axis--arrow">
            <a:extLst xmlns:a="http://schemas.openxmlformats.org/drawingml/2006/main">
              <a:ext uri="{FF2B5EF4-FFF2-40B4-BE49-F238E27FC236}">
                <a16:creationId xmlns:a16="http://schemas.microsoft.com/office/drawing/2014/main" id="{3355F7B5-80F8-42BC-B4F7-433CE914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10" y="5048364"/>
            <a:ext cx="110490" cy="95021"/>
          </a:xfrm>
          <a:custGeom xmlns:a="http://schemas.openxmlformats.org/drawingml/2006/main">
            <a:pathLst>
              <a:path w="110490" h="95021">
                <a:moveTo>
                  <a:pt x="110490" y="47511"/>
                </a:moveTo>
                <a:lnTo>
                  <a:pt x="0" y="0"/>
                </a:lnTo>
                <a:lnTo>
                  <a:pt x="0" y="95021"/>
                </a:lnTo>
                <a:close/>
              </a:path>
            </a:pathLst>
          </a:custGeom>
          <a:solidFill xmlns:a="http://schemas.openxmlformats.org/drawingml/2006/main">
            <a:srgbClr val="7585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ime-start">
            <a:extLst xmlns:a="http://schemas.openxmlformats.org/drawingml/2006/main">
              <a:ext uri="{FF2B5EF4-FFF2-40B4-BE49-F238E27FC236}">
                <a16:creationId xmlns:a16="http://schemas.microsoft.com/office/drawing/2014/main" id="{1E12F2EF-10DF-40ED-BE07-F0A07DB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172075"/>
            <a:ext cx="1047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t = 0</a:t>
            </a:r>
          </a:p>
        </p:txBody>
      </p:sp>
      <p:sp>
        <p:nvSpPr>
          <p:cNvPr id="24" name="time-end">
            <a:extLst xmlns:a="http://schemas.openxmlformats.org/drawingml/2006/main">
              <a:ext uri="{FF2B5EF4-FFF2-40B4-BE49-F238E27FC236}">
                <a16:creationId xmlns:a16="http://schemas.microsoft.com/office/drawing/2014/main" id="{D25CF03F-6656-4522-A85A-D36A83F2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t = 1</a:t>
            </a:r>
          </a:p>
        </p:txBody>
      </p:sp>
      <p:sp>
        <p:nvSpPr>
          <p:cNvPr id="25" name="time-label">
            <a:extLst xmlns:a="http://schemas.openxmlformats.org/drawingml/2006/main">
              <a:ext uri="{FF2B5EF4-FFF2-40B4-BE49-F238E27FC236}">
                <a16:creationId xmlns:a16="http://schemas.microsoft.com/office/drawing/2014/main" id="{77D9B4E6-0669-4434-8402-CF3ABA6E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172075"/>
            <a:ext cx="952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26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FA1ACF68-92F6-4ECE-B325-A099DEA9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887"/>
                </a:solidFill>
                <a:latin typeface="Arial"/>
                <a:ea typeface="Arial"/>
                <a:cs typeface="Arial"/>
              </a:rPr>
              <a:t>Illustration: different noise realizations can produce different paths from the same state.</a:t>
            </a:r>
          </a:p>
        </p:txBody>
      </p:sp>
    </p:spTree>
    <p:extLst>
      <p:ext uri="{BB962C8B-B14F-4D97-AF65-F5344CB8AC3E}">
        <p14:creationId xmlns:p14="http://schemas.microsoft.com/office/powerpoint/2010/main" val="13839694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">
            <a:extLst xmlns:a="http://schemas.openxmlformats.org/drawingml/2006/main">
              <a:ext uri="{FF2B5EF4-FFF2-40B4-BE49-F238E27FC236}">
                <a16:creationId xmlns:a16="http://schemas.microsoft.com/office/drawing/2014/main" id="{B32FB5F7-0908-45B7-9056-4616A4BD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26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Flow Matching · training and sampling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3AEE01F8-3018-432C-B7DD-6E2A02CE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Example: straight conditional interpolation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D6EB490-F752-404C-ACEF-285B24CC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12117DC4-E33C-4FDA-BC7B-A26A2301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23812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Training</a:t>
            </a:r>
          </a:p>
        </p:txBody>
      </p:sp>
      <p:sp>
        <p:nvSpPr>
          <p:cNvPr id="5" name="interpolation-equation">
            <a:extLst xmlns:a="http://schemas.openxmlformats.org/drawingml/2006/main">
              <a:ext uri="{FF2B5EF4-FFF2-40B4-BE49-F238E27FC236}">
                <a16:creationId xmlns:a16="http://schemas.microsoft.com/office/drawing/2014/main" id="{B4AB3839-FD38-4212-88C0-47D5BD86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4782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xₜ = (1 − t)x₀ + tx₁      target velocity: x₁ − x₀</a:t>
            </a:r>
          </a:p>
        </p:txBody>
      </p:sp>
      <p:sp>
        <p:nvSpPr>
          <p:cNvPr id="6" name="conditional-path-1">
            <a:extLst xmlns:a="http://schemas.openxmlformats.org/drawingml/2006/main">
              <a:ext uri="{FF2B5EF4-FFF2-40B4-BE49-F238E27FC236}">
                <a16:creationId xmlns:a16="http://schemas.microsoft.com/office/drawing/2014/main" id="{225B03BA-6BCF-47EE-9CA0-4545F85A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52675"/>
            <a:ext cx="8096250" cy="295275"/>
          </a:xfrm>
          <a:custGeom xmlns:a="http://schemas.openxmlformats.org/drawingml/2006/main">
            <a:pathLst>
              <a:path w="8096250" h="295275">
                <a:moveTo>
                  <a:pt x="0" y="295275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527">
            <a:solidFill>
              <a:srgbClr val="427CA3"/>
            </a:solidFill>
            <a:prstDash val="solid"/>
          </a:ln>
        </p:spPr>
      </p:sp>
      <p:sp>
        <p:nvSpPr>
          <p:cNvPr id="7" name="conditional-path-1--arrow">
            <a:extLst xmlns:a="http://schemas.openxmlformats.org/drawingml/2006/main">
              <a:ext uri="{FF2B5EF4-FFF2-40B4-BE49-F238E27FC236}">
                <a16:creationId xmlns:a16="http://schemas.microsoft.com/office/drawing/2014/main" id="{28A67F9B-2CAE-495D-9B26-FD322BBC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130" y="2304391"/>
            <a:ext cx="124620" cy="105518"/>
          </a:xfrm>
          <a:custGeom xmlns:a="http://schemas.openxmlformats.org/drawingml/2006/main">
            <a:pathLst>
              <a:path w="124620" h="105518">
                <a:moveTo>
                  <a:pt x="124620" y="48284"/>
                </a:moveTo>
                <a:lnTo>
                  <a:pt x="0" y="0"/>
                </a:lnTo>
                <a:lnTo>
                  <a:pt x="3848" y="105518"/>
                </a:lnTo>
                <a:close/>
              </a:path>
            </a:pathLst>
          </a:custGeom>
          <a:solidFill xmlns:a="http://schemas.openxmlformats.org/drawingml/2006/main">
            <a:srgbClr val="42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ired-source-1">
            <a:extLst xmlns:a="http://schemas.openxmlformats.org/drawingml/2006/main">
              <a:ext uri="{FF2B5EF4-FFF2-40B4-BE49-F238E27FC236}">
                <a16:creationId xmlns:a16="http://schemas.microsoft.com/office/drawing/2014/main" id="{17C330A3-563D-40E2-AD4C-88BB8090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7CA3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paired-target-1">
            <a:extLst xmlns:a="http://schemas.openxmlformats.org/drawingml/2006/main">
              <a:ext uri="{FF2B5EF4-FFF2-40B4-BE49-F238E27FC236}">
                <a16:creationId xmlns:a16="http://schemas.microsoft.com/office/drawing/2014/main" id="{DC027D89-94D5-4665-BA7A-B39AA6C5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7CA3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training-sample-1">
            <a:extLst xmlns:a="http://schemas.openxmlformats.org/drawingml/2006/main">
              <a:ext uri="{FF2B5EF4-FFF2-40B4-BE49-F238E27FC236}">
                <a16:creationId xmlns:a16="http://schemas.microsoft.com/office/drawing/2014/main" id="{779252EF-7022-4CC2-908E-19C6F67F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3884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7CA3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1" name="target-velocity-1">
            <a:extLst xmlns:a="http://schemas.openxmlformats.org/drawingml/2006/main">
              <a:ext uri="{FF2B5EF4-FFF2-40B4-BE49-F238E27FC236}">
                <a16:creationId xmlns:a16="http://schemas.microsoft.com/office/drawing/2014/main" id="{D47CCA14-AF3E-4685-949F-17914F6A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7488"/>
            <a:ext cx="781050" cy="28485"/>
          </a:xfrm>
          <a:custGeom xmlns:a="http://schemas.openxmlformats.org/drawingml/2006/main">
            <a:pathLst>
              <a:path w="781050" h="28485">
                <a:moveTo>
                  <a:pt x="0" y="28485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427CA3"/>
            </a:solidFill>
            <a:prstDash val="solid"/>
          </a:ln>
        </p:spPr>
      </p:sp>
      <p:sp>
        <p:nvSpPr>
          <p:cNvPr id="12" name="target-velocity-1--arrow">
            <a:extLst xmlns:a="http://schemas.openxmlformats.org/drawingml/2006/main">
              <a:ext uri="{FF2B5EF4-FFF2-40B4-BE49-F238E27FC236}">
                <a16:creationId xmlns:a16="http://schemas.microsoft.com/office/drawing/2014/main" id="{F6E8F7D0-064F-4128-85DC-6D3C4150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050" y="2219541"/>
            <a:ext cx="123750" cy="104782"/>
          </a:xfrm>
          <a:custGeom xmlns:a="http://schemas.openxmlformats.org/drawingml/2006/main">
            <a:pathLst>
              <a:path w="123750" h="104782">
                <a:moveTo>
                  <a:pt x="123750" y="47947"/>
                </a:moveTo>
                <a:lnTo>
                  <a:pt x="0" y="0"/>
                </a:lnTo>
                <a:lnTo>
                  <a:pt x="3821" y="104782"/>
                </a:lnTo>
                <a:close/>
              </a:path>
            </a:pathLst>
          </a:custGeom>
          <a:solidFill xmlns:a="http://schemas.openxmlformats.org/drawingml/2006/main">
            <a:srgbClr val="427C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ditional-path-2">
            <a:extLst xmlns:a="http://schemas.openxmlformats.org/drawingml/2006/main">
              <a:ext uri="{FF2B5EF4-FFF2-40B4-BE49-F238E27FC236}">
                <a16:creationId xmlns:a16="http://schemas.microsoft.com/office/drawing/2014/main" id="{C5D827FE-9041-4543-ABDB-A476C2BC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95625"/>
            <a:ext cx="8096250" cy="257175"/>
          </a:xfrm>
          <a:custGeom xmlns:a="http://schemas.openxmlformats.org/drawingml/2006/main">
            <a:pathLst>
              <a:path w="8096250" h="257175">
                <a:moveTo>
                  <a:pt x="0" y="257175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527">
            <a:solidFill>
              <a:srgbClr val="C56856"/>
            </a:solidFill>
            <a:prstDash val="solid"/>
          </a:ln>
        </p:spPr>
      </p:sp>
      <p:sp>
        <p:nvSpPr>
          <p:cNvPr id="14" name="conditional-path-2--arrow">
            <a:extLst xmlns:a="http://schemas.openxmlformats.org/drawingml/2006/main">
              <a:ext uri="{FF2B5EF4-FFF2-40B4-BE49-F238E27FC236}">
                <a16:creationId xmlns:a16="http://schemas.microsoft.com/office/drawing/2014/main" id="{9F5E2C20-C131-403E-9027-6C695285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358" y="3046755"/>
            <a:ext cx="124392" cy="105535"/>
          </a:xfrm>
          <a:custGeom xmlns:a="http://schemas.openxmlformats.org/drawingml/2006/main">
            <a:pathLst>
              <a:path w="124392" h="105535">
                <a:moveTo>
                  <a:pt x="124392" y="48870"/>
                </a:moveTo>
                <a:lnTo>
                  <a:pt x="0" y="0"/>
                </a:lnTo>
                <a:lnTo>
                  <a:pt x="3352" y="105535"/>
                </a:lnTo>
                <a:close/>
              </a:path>
            </a:pathLst>
          </a:custGeom>
          <a:solidFill xmlns:a="http://schemas.openxmlformats.org/drawingml/2006/main">
            <a:srgbClr val="C56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ired-source-2">
            <a:extLst xmlns:a="http://schemas.openxmlformats.org/drawingml/2006/main">
              <a:ext uri="{FF2B5EF4-FFF2-40B4-BE49-F238E27FC236}">
                <a16:creationId xmlns:a16="http://schemas.microsoft.com/office/drawing/2014/main" id="{EBE88F06-E593-4CB3-9C61-521F5D9C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7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856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paired-target-2">
            <a:extLst xmlns:a="http://schemas.openxmlformats.org/drawingml/2006/main">
              <a:ext uri="{FF2B5EF4-FFF2-40B4-BE49-F238E27FC236}">
                <a16:creationId xmlns:a16="http://schemas.microsoft.com/office/drawing/2014/main" id="{72CC0592-088F-44AC-9396-76CA09F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19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856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7" name="training-sample-2">
            <a:extLst xmlns:a="http://schemas.openxmlformats.org/drawingml/2006/main">
              <a:ext uri="{FF2B5EF4-FFF2-40B4-BE49-F238E27FC236}">
                <a16:creationId xmlns:a16="http://schemas.microsoft.com/office/drawing/2014/main" id="{5A2038BF-EE0F-4632-86F3-CE62D437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6207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856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8" name="target-velocity-2">
            <a:extLst xmlns:a="http://schemas.openxmlformats.org/drawingml/2006/main">
              <a:ext uri="{FF2B5EF4-FFF2-40B4-BE49-F238E27FC236}">
                <a16:creationId xmlns:a16="http://schemas.microsoft.com/office/drawing/2014/main" id="{9A7BD42C-8DF0-44F3-BF19-8B7F2490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4391"/>
            <a:ext cx="781050" cy="24810"/>
          </a:xfrm>
          <a:custGeom xmlns:a="http://schemas.openxmlformats.org/drawingml/2006/main">
            <a:pathLst>
              <a:path w="781050" h="24810">
                <a:moveTo>
                  <a:pt x="0" y="2481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C56856"/>
            </a:solidFill>
            <a:prstDash val="solid"/>
          </a:ln>
        </p:spPr>
      </p:sp>
      <p:sp>
        <p:nvSpPr>
          <p:cNvPr id="19" name="target-velocity-2--arrow">
            <a:extLst xmlns:a="http://schemas.openxmlformats.org/drawingml/2006/main">
              <a:ext uri="{FF2B5EF4-FFF2-40B4-BE49-F238E27FC236}">
                <a16:creationId xmlns:a16="http://schemas.microsoft.com/office/drawing/2014/main" id="{E8238FC1-4154-4B1A-A969-A19891B6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277" y="2945863"/>
            <a:ext cx="123523" cy="104798"/>
          </a:xfrm>
          <a:custGeom xmlns:a="http://schemas.openxmlformats.org/drawingml/2006/main">
            <a:pathLst>
              <a:path w="123523" h="104798">
                <a:moveTo>
                  <a:pt x="123523" y="48528"/>
                </a:moveTo>
                <a:lnTo>
                  <a:pt x="0" y="0"/>
                </a:lnTo>
                <a:lnTo>
                  <a:pt x="3329" y="104798"/>
                </a:lnTo>
                <a:close/>
              </a:path>
            </a:pathLst>
          </a:custGeom>
          <a:solidFill xmlns:a="http://schemas.openxmlformats.org/drawingml/2006/main">
            <a:srgbClr val="C568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0409A0F1-9185-496D-95F0-7F63F91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18097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Source samples</a:t>
            </a:r>
          </a:p>
        </p:txBody>
      </p:sp>
      <p:sp>
        <p:nvSpPr>
          <p:cNvPr id="21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D17B351D-3BB3-42DA-9666-374D2117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000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Paired targets</a:t>
            </a:r>
          </a:p>
        </p:txBody>
      </p:sp>
      <p:sp>
        <p:nvSpPr>
          <p:cNvPr id="22" name="stage-rule">
            <a:extLst xmlns:a="http://schemas.openxmlformats.org/drawingml/2006/main">
              <a:ext uri="{FF2B5EF4-FFF2-40B4-BE49-F238E27FC236}">
                <a16:creationId xmlns:a16="http://schemas.microsoft.com/office/drawing/2014/main" id="{3B204692-96F9-4EEF-AE99-15038A4B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23" name="sampling-label">
            <a:extLst xmlns:a="http://schemas.openxmlformats.org/drawingml/2006/main">
              <a:ext uri="{FF2B5EF4-FFF2-40B4-BE49-F238E27FC236}">
                <a16:creationId xmlns:a16="http://schemas.microsoft.com/office/drawing/2014/main" id="{ABFB771D-6CFF-4BA8-A9CF-6D66D247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21907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2025" b="1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Sampling</a:t>
            </a:r>
          </a:p>
        </p:txBody>
      </p:sp>
      <p:sp>
        <p:nvSpPr>
          <p:cNvPr id="24" name="sampling-equation">
            <a:extLst xmlns:a="http://schemas.openxmlformats.org/drawingml/2006/main">
              <a:ext uri="{FF2B5EF4-FFF2-40B4-BE49-F238E27FC236}">
                <a16:creationId xmlns:a16="http://schemas.microsoft.com/office/drawing/2014/main" id="{F45E8916-4698-40BE-893F-01CD950A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800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dx / dt = vθ(x, t)</a:t>
            </a:r>
          </a:p>
        </p:txBody>
      </p:sp>
      <p:sp>
        <p:nvSpPr>
          <p:cNvPr id="25" name="learned-ode-path">
            <a:extLst xmlns:a="http://schemas.openxmlformats.org/drawingml/2006/main">
              <a:ext uri="{FF2B5EF4-FFF2-40B4-BE49-F238E27FC236}">
                <a16:creationId xmlns:a16="http://schemas.microsoft.com/office/drawing/2014/main" id="{DA745231-CF26-47CD-913C-7D9B79FD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462"/>
            <a:ext cx="8096250" cy="362238"/>
          </a:xfrm>
          <a:custGeom xmlns:a="http://schemas.openxmlformats.org/drawingml/2006/main">
            <a:pathLst>
              <a:path w="8096250" h="362238">
                <a:moveTo>
                  <a:pt x="0" y="362238"/>
                </a:moveTo>
                <a:lnTo>
                  <a:pt x="80963" y="356551"/>
                </a:lnTo>
                <a:lnTo>
                  <a:pt x="161925" y="350855"/>
                </a:lnTo>
                <a:lnTo>
                  <a:pt x="242888" y="345143"/>
                </a:lnTo>
                <a:lnTo>
                  <a:pt x="323850" y="339405"/>
                </a:lnTo>
                <a:lnTo>
                  <a:pt x="404813" y="333634"/>
                </a:lnTo>
                <a:lnTo>
                  <a:pt x="485775" y="327821"/>
                </a:lnTo>
                <a:lnTo>
                  <a:pt x="566738" y="321959"/>
                </a:lnTo>
                <a:lnTo>
                  <a:pt x="647700" y="316040"/>
                </a:lnTo>
                <a:lnTo>
                  <a:pt x="728663" y="310059"/>
                </a:lnTo>
                <a:lnTo>
                  <a:pt x="809625" y="304009"/>
                </a:lnTo>
                <a:lnTo>
                  <a:pt x="890588" y="297883"/>
                </a:lnTo>
                <a:lnTo>
                  <a:pt x="971550" y="291677"/>
                </a:lnTo>
                <a:lnTo>
                  <a:pt x="1052513" y="285386"/>
                </a:lnTo>
                <a:lnTo>
                  <a:pt x="1133475" y="279007"/>
                </a:lnTo>
                <a:lnTo>
                  <a:pt x="1214438" y="272536"/>
                </a:lnTo>
                <a:lnTo>
                  <a:pt x="1295400" y="265971"/>
                </a:lnTo>
                <a:lnTo>
                  <a:pt x="1376363" y="259311"/>
                </a:lnTo>
                <a:lnTo>
                  <a:pt x="1457325" y="252554"/>
                </a:lnTo>
                <a:lnTo>
                  <a:pt x="1538288" y="245702"/>
                </a:lnTo>
                <a:lnTo>
                  <a:pt x="1619250" y="238755"/>
                </a:lnTo>
                <a:lnTo>
                  <a:pt x="1700213" y="231716"/>
                </a:lnTo>
                <a:lnTo>
                  <a:pt x="1781175" y="224587"/>
                </a:lnTo>
                <a:lnTo>
                  <a:pt x="1862138" y="217372"/>
                </a:lnTo>
                <a:lnTo>
                  <a:pt x="1943100" y="210077"/>
                </a:lnTo>
                <a:lnTo>
                  <a:pt x="2024063" y="202706"/>
                </a:lnTo>
                <a:lnTo>
                  <a:pt x="2105025" y="195268"/>
                </a:lnTo>
                <a:lnTo>
                  <a:pt x="2185988" y="187769"/>
                </a:lnTo>
                <a:lnTo>
                  <a:pt x="2266950" y="180218"/>
                </a:lnTo>
                <a:lnTo>
                  <a:pt x="2347913" y="172626"/>
                </a:lnTo>
                <a:lnTo>
                  <a:pt x="2428875" y="165002"/>
                </a:lnTo>
                <a:lnTo>
                  <a:pt x="2509838" y="157359"/>
                </a:lnTo>
                <a:lnTo>
                  <a:pt x="2590800" y="149708"/>
                </a:lnTo>
                <a:lnTo>
                  <a:pt x="2671763" y="142063"/>
                </a:lnTo>
                <a:lnTo>
                  <a:pt x="2752725" y="134437"/>
                </a:lnTo>
                <a:lnTo>
                  <a:pt x="2833688" y="126846"/>
                </a:lnTo>
                <a:lnTo>
                  <a:pt x="2914650" y="119304"/>
                </a:lnTo>
                <a:lnTo>
                  <a:pt x="2995613" y="111829"/>
                </a:lnTo>
                <a:lnTo>
                  <a:pt x="3076575" y="104436"/>
                </a:lnTo>
                <a:lnTo>
                  <a:pt x="3157538" y="97143"/>
                </a:lnTo>
                <a:lnTo>
                  <a:pt x="3238500" y="89969"/>
                </a:lnTo>
                <a:lnTo>
                  <a:pt x="3319463" y="82930"/>
                </a:lnTo>
                <a:lnTo>
                  <a:pt x="3400425" y="76046"/>
                </a:lnTo>
                <a:lnTo>
                  <a:pt x="3481388" y="69336"/>
                </a:lnTo>
                <a:lnTo>
                  <a:pt x="3562350" y="62819"/>
                </a:lnTo>
                <a:lnTo>
                  <a:pt x="3643313" y="56514"/>
                </a:lnTo>
                <a:lnTo>
                  <a:pt x="3724275" y="50442"/>
                </a:lnTo>
                <a:lnTo>
                  <a:pt x="3805238" y="44621"/>
                </a:lnTo>
                <a:lnTo>
                  <a:pt x="3886200" y="39071"/>
                </a:lnTo>
                <a:lnTo>
                  <a:pt x="3967163" y="33812"/>
                </a:lnTo>
                <a:lnTo>
                  <a:pt x="4048125" y="28863"/>
                </a:lnTo>
                <a:lnTo>
                  <a:pt x="4129088" y="24243"/>
                </a:lnTo>
                <a:lnTo>
                  <a:pt x="4210050" y="19970"/>
                </a:lnTo>
                <a:lnTo>
                  <a:pt x="4291013" y="16064"/>
                </a:lnTo>
                <a:lnTo>
                  <a:pt x="4371975" y="12541"/>
                </a:lnTo>
                <a:lnTo>
                  <a:pt x="4452938" y="9420"/>
                </a:lnTo>
                <a:lnTo>
                  <a:pt x="4533900" y="6717"/>
                </a:lnTo>
                <a:lnTo>
                  <a:pt x="4614863" y="4447"/>
                </a:lnTo>
                <a:lnTo>
                  <a:pt x="4695825" y="2627"/>
                </a:lnTo>
                <a:lnTo>
                  <a:pt x="4776788" y="1270"/>
                </a:lnTo>
                <a:lnTo>
                  <a:pt x="4857750" y="390"/>
                </a:lnTo>
                <a:lnTo>
                  <a:pt x="4938713" y="0"/>
                </a:lnTo>
                <a:lnTo>
                  <a:pt x="5019675" y="111"/>
                </a:lnTo>
                <a:lnTo>
                  <a:pt x="5100638" y="734"/>
                </a:lnTo>
                <a:lnTo>
                  <a:pt x="5181600" y="1878"/>
                </a:lnTo>
                <a:lnTo>
                  <a:pt x="5262563" y="3551"/>
                </a:lnTo>
                <a:lnTo>
                  <a:pt x="5343525" y="5761"/>
                </a:lnTo>
                <a:lnTo>
                  <a:pt x="5424488" y="8513"/>
                </a:lnTo>
                <a:lnTo>
                  <a:pt x="5505450" y="11812"/>
                </a:lnTo>
                <a:lnTo>
                  <a:pt x="5586413" y="15661"/>
                </a:lnTo>
                <a:lnTo>
                  <a:pt x="5667375" y="20061"/>
                </a:lnTo>
                <a:lnTo>
                  <a:pt x="5748338" y="25014"/>
                </a:lnTo>
                <a:lnTo>
                  <a:pt x="5829300" y="30518"/>
                </a:lnTo>
                <a:lnTo>
                  <a:pt x="5910263" y="36570"/>
                </a:lnTo>
                <a:lnTo>
                  <a:pt x="5991225" y="43168"/>
                </a:lnTo>
                <a:lnTo>
                  <a:pt x="6072188" y="50306"/>
                </a:lnTo>
                <a:lnTo>
                  <a:pt x="6153150" y="57977"/>
                </a:lnTo>
                <a:lnTo>
                  <a:pt x="6234113" y="66174"/>
                </a:lnTo>
                <a:lnTo>
                  <a:pt x="6315075" y="74886"/>
                </a:lnTo>
                <a:lnTo>
                  <a:pt x="6396038" y="84104"/>
                </a:lnTo>
                <a:lnTo>
                  <a:pt x="6477000" y="93814"/>
                </a:lnTo>
                <a:lnTo>
                  <a:pt x="6557963" y="104004"/>
                </a:lnTo>
                <a:lnTo>
                  <a:pt x="6638925" y="114659"/>
                </a:lnTo>
                <a:lnTo>
                  <a:pt x="6719888" y="125762"/>
                </a:lnTo>
                <a:lnTo>
                  <a:pt x="6800850" y="137295"/>
                </a:lnTo>
                <a:lnTo>
                  <a:pt x="6881813" y="149242"/>
                </a:lnTo>
                <a:lnTo>
                  <a:pt x="6962775" y="161581"/>
                </a:lnTo>
                <a:lnTo>
                  <a:pt x="7043738" y="174291"/>
                </a:lnTo>
                <a:lnTo>
                  <a:pt x="7124700" y="187352"/>
                </a:lnTo>
                <a:lnTo>
                  <a:pt x="7205663" y="200739"/>
                </a:lnTo>
                <a:lnTo>
                  <a:pt x="7286625" y="214430"/>
                </a:lnTo>
                <a:lnTo>
                  <a:pt x="7367588" y="228399"/>
                </a:lnTo>
                <a:lnTo>
                  <a:pt x="7448550" y="242621"/>
                </a:lnTo>
                <a:lnTo>
                  <a:pt x="7529513" y="257070"/>
                </a:lnTo>
                <a:lnTo>
                  <a:pt x="7610475" y="271718"/>
                </a:lnTo>
                <a:lnTo>
                  <a:pt x="7691438" y="286539"/>
                </a:lnTo>
                <a:lnTo>
                  <a:pt x="7772400" y="301505"/>
                </a:lnTo>
                <a:lnTo>
                  <a:pt x="7853363" y="316586"/>
                </a:lnTo>
                <a:lnTo>
                  <a:pt x="7934325" y="331755"/>
                </a:lnTo>
                <a:lnTo>
                  <a:pt x="8015288" y="346982"/>
                </a:lnTo>
                <a:lnTo>
                  <a:pt x="8096250" y="362238"/>
                </a:lnTo>
              </a:path>
            </a:pathLst>
          </a:custGeom>
          <a:noFill xmlns:a="http://schemas.openxmlformats.org/drawingml/2006/main"/>
          <a:ln xmlns:a="http://schemas.openxmlformats.org/drawingml/2006/main" w="35624">
            <a:solidFill>
              <a:srgbClr val="428778"/>
            </a:solidFill>
            <a:prstDash val="solid"/>
          </a:ln>
        </p:spPr>
      </p:sp>
      <p:sp>
        <p:nvSpPr>
          <p:cNvPr id="26" name="learned-ode-path--arrow">
            <a:extLst xmlns:a="http://schemas.openxmlformats.org/drawingml/2006/main">
              <a:ext uri="{FF2B5EF4-FFF2-40B4-BE49-F238E27FC236}">
                <a16:creationId xmlns:a16="http://schemas.microsoft.com/office/drawing/2014/main" id="{71441CE1-02C4-4324-AF4E-51F5003D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719" y="5140163"/>
            <a:ext cx="139031" cy="110605"/>
          </a:xfrm>
          <a:custGeom xmlns:a="http://schemas.openxmlformats.org/drawingml/2006/main">
            <a:pathLst>
              <a:path w="139031" h="110605">
                <a:moveTo>
                  <a:pt x="139031" y="79537"/>
                </a:moveTo>
                <a:lnTo>
                  <a:pt x="20842" y="0"/>
                </a:lnTo>
                <a:lnTo>
                  <a:pt x="0" y="110605"/>
                </a:lnTo>
                <a:close/>
              </a:path>
            </a:pathLst>
          </a:custGeom>
          <a:solidFill xmlns:a="http://schemas.openxmlformats.org/drawingml/2006/main">
            <a:srgbClr val="4287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ampling-source">
            <a:extLst xmlns:a="http://schemas.openxmlformats.org/drawingml/2006/main">
              <a:ext uri="{FF2B5EF4-FFF2-40B4-BE49-F238E27FC236}">
                <a16:creationId xmlns:a16="http://schemas.microsoft.com/office/drawing/2014/main" id="{1380B4BE-03E6-42EF-B25D-134094A8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77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8" name="generated-state">
            <a:extLst xmlns:a="http://schemas.openxmlformats.org/drawingml/2006/main">
              <a:ext uri="{FF2B5EF4-FFF2-40B4-BE49-F238E27FC236}">
                <a16:creationId xmlns:a16="http://schemas.microsoft.com/office/drawing/2014/main" id="{9C12471E-384F-48DB-AF06-6B344979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77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9" name="prior-label">
            <a:extLst xmlns:a="http://schemas.openxmlformats.org/drawingml/2006/main">
              <a:ext uri="{FF2B5EF4-FFF2-40B4-BE49-F238E27FC236}">
                <a16:creationId xmlns:a16="http://schemas.microsoft.com/office/drawing/2014/main" id="{D441B930-C339-43C8-B6E1-652D052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410200"/>
            <a:ext cx="2000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Prior sample</a:t>
            </a:r>
          </a:p>
        </p:txBody>
      </p:sp>
      <p:sp>
        <p:nvSpPr>
          <p:cNvPr id="30" name="generated-label">
            <a:extLst xmlns:a="http://schemas.openxmlformats.org/drawingml/2006/main">
              <a:ext uri="{FF2B5EF4-FFF2-40B4-BE49-F238E27FC236}">
                <a16:creationId xmlns:a16="http://schemas.microsoft.com/office/drawing/2014/main" id="{EC320D54-9883-4335-A4E2-FDDB7D9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10200"/>
            <a:ext cx="18097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defRPr>
            </a:pPr>
            <a:r>
              <a:rPr sz="1575" b="0">
                <a:solidFill>
                  <a:srgbClr val="263747"/>
                </a:solidFill>
                <a:latin typeface="Comic Sans MS"/>
                <a:ea typeface="Comic Sans MS"/>
                <a:cs typeface="Comic Sans MS"/>
              </a:rPr>
              <a:t>Generated</a:t>
            </a:r>
          </a:p>
        </p:txBody>
      </p:sp>
      <p:sp>
        <p:nvSpPr>
          <p:cNvPr id="31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4E8FCD67-6F30-4821-8AD1-B892AC0F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Comic Sans MS"/>
                <a:ea typeface="Comic Sans MS"/>
                <a:cs typeface="Comic Sans MS"/>
              </a:defRPr>
            </a:pPr>
            <a:r>
              <a:rPr sz="1425" b="0">
                <a:solidFill>
                  <a:srgbClr val="687887"/>
                </a:solidFill>
                <a:latin typeface="Comic Sans MS"/>
                <a:ea typeface="Comic Sans MS"/>
                <a:cs typeface="Comic Sans MS"/>
              </a:rPr>
              <a:t>Illustration: training pairs define supervision. Sampling integrates the learned velocity field.</a:t>
            </a:r>
          </a:p>
        </p:txBody>
      </p:sp>
    </p:spTree>
    <p:extLst>
      <p:ext uri="{BB962C8B-B14F-4D97-AF65-F5344CB8AC3E}">
        <p14:creationId xmlns:p14="http://schemas.microsoft.com/office/powerpoint/2010/main" val="1927860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">
            <a:extLst xmlns:a="http://schemas.openxmlformats.org/drawingml/2006/main">
              <a:ext uri="{FF2B5EF4-FFF2-40B4-BE49-F238E27FC236}">
                <a16:creationId xmlns:a16="http://schemas.microsoft.com/office/drawing/2014/main" id="{F87B3057-02E4-47D1-9E01-849C637E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Flow Matching · training and sampling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B2EBE58B-D842-42AC-8CCC-984A9924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Example: straight conditional interpolation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F7B0DFF9-F08B-4BF3-9D4F-CB8759F8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0DB46944-5A77-4CF1-9C70-09934F14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23812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Training</a:t>
            </a:r>
          </a:p>
        </p:txBody>
      </p:sp>
      <p:sp>
        <p:nvSpPr>
          <p:cNvPr id="5" name="interpolation-equation">
            <a:extLst xmlns:a="http://schemas.openxmlformats.org/drawingml/2006/main">
              <a:ext uri="{FF2B5EF4-FFF2-40B4-BE49-F238E27FC236}">
                <a16:creationId xmlns:a16="http://schemas.microsoft.com/office/drawing/2014/main" id="{1B41B0CA-5212-430B-9105-C550488A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4782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xₜ = (1 − t)x₀ + tx₁      target velocity: x₁ − x₀</a:t>
            </a:r>
          </a:p>
        </p:txBody>
      </p:sp>
      <p:sp>
        <p:nvSpPr>
          <p:cNvPr id="6" name="conditional-path-1">
            <a:extLst xmlns:a="http://schemas.openxmlformats.org/drawingml/2006/main">
              <a:ext uri="{FF2B5EF4-FFF2-40B4-BE49-F238E27FC236}">
                <a16:creationId xmlns:a16="http://schemas.microsoft.com/office/drawing/2014/main" id="{76E4C45F-EADF-4D50-A4CF-24E2699D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52675"/>
            <a:ext cx="8096250" cy="295275"/>
          </a:xfrm>
          <a:custGeom xmlns:a="http://schemas.openxmlformats.org/drawingml/2006/main">
            <a:pathLst>
              <a:path w="8096250" h="295275">
                <a:moveTo>
                  <a:pt x="0" y="295275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621">
            <a:solidFill>
              <a:srgbClr val="3C608C"/>
            </a:solidFill>
            <a:prstDash val="solid"/>
          </a:ln>
        </p:spPr>
      </p:sp>
      <p:sp>
        <p:nvSpPr>
          <p:cNvPr id="7" name="conditional-path-1--arrow">
            <a:extLst xmlns:a="http://schemas.openxmlformats.org/drawingml/2006/main">
              <a:ext uri="{FF2B5EF4-FFF2-40B4-BE49-F238E27FC236}">
                <a16:creationId xmlns:a16="http://schemas.microsoft.com/office/drawing/2014/main" id="{7136B48A-0B32-4B28-9927-687D7A7C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170" y="2307893"/>
            <a:ext cx="115580" cy="97864"/>
          </a:xfrm>
          <a:custGeom xmlns:a="http://schemas.openxmlformats.org/drawingml/2006/main">
            <a:pathLst>
              <a:path w="115580" h="97864">
                <a:moveTo>
                  <a:pt x="115580" y="44782"/>
                </a:moveTo>
                <a:lnTo>
                  <a:pt x="0" y="0"/>
                </a:lnTo>
                <a:lnTo>
                  <a:pt x="3569" y="97864"/>
                </a:lnTo>
                <a:close/>
              </a:path>
            </a:pathLst>
          </a:custGeom>
          <a:solidFill xmlns:a="http://schemas.openxmlformats.org/drawingml/2006/main">
            <a:srgbClr val="3C6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ired-source-1">
            <a:extLst xmlns:a="http://schemas.openxmlformats.org/drawingml/2006/main">
              <a:ext uri="{FF2B5EF4-FFF2-40B4-BE49-F238E27FC236}">
                <a16:creationId xmlns:a16="http://schemas.microsoft.com/office/drawing/2014/main" id="{C8037C6C-D854-43C5-ACB9-63951511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08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paired-target-1">
            <a:extLst xmlns:a="http://schemas.openxmlformats.org/drawingml/2006/main">
              <a:ext uri="{FF2B5EF4-FFF2-40B4-BE49-F238E27FC236}">
                <a16:creationId xmlns:a16="http://schemas.microsoft.com/office/drawing/2014/main" id="{99F63606-99E2-4881-B9CA-198A5C96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08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training-sample-1">
            <a:extLst xmlns:a="http://schemas.openxmlformats.org/drawingml/2006/main">
              <a:ext uri="{FF2B5EF4-FFF2-40B4-BE49-F238E27FC236}">
                <a16:creationId xmlns:a16="http://schemas.microsoft.com/office/drawing/2014/main" id="{376FB6B1-C4AB-4A0D-B0D8-D9C1D979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3884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08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1" name="target-velocity-1">
            <a:extLst xmlns:a="http://schemas.openxmlformats.org/drawingml/2006/main">
              <a:ext uri="{FF2B5EF4-FFF2-40B4-BE49-F238E27FC236}">
                <a16:creationId xmlns:a16="http://schemas.microsoft.com/office/drawing/2014/main" id="{E1676AFF-7A42-4658-AF59-53189455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7488"/>
            <a:ext cx="781050" cy="28485"/>
          </a:xfrm>
          <a:custGeom xmlns:a="http://schemas.openxmlformats.org/drawingml/2006/main">
            <a:pathLst>
              <a:path w="781050" h="28485">
                <a:moveTo>
                  <a:pt x="0" y="28485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3C608C"/>
            </a:solidFill>
            <a:prstDash val="solid"/>
          </a:ln>
        </p:spPr>
      </p:sp>
      <p:sp>
        <p:nvSpPr>
          <p:cNvPr id="12" name="target-velocity-1--arrow">
            <a:extLst xmlns:a="http://schemas.openxmlformats.org/drawingml/2006/main">
              <a:ext uri="{FF2B5EF4-FFF2-40B4-BE49-F238E27FC236}">
                <a16:creationId xmlns:a16="http://schemas.microsoft.com/office/drawing/2014/main" id="{79C31294-660C-493E-88D0-C8BD23B7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050" y="2219541"/>
            <a:ext cx="123750" cy="104782"/>
          </a:xfrm>
          <a:custGeom xmlns:a="http://schemas.openxmlformats.org/drawingml/2006/main">
            <a:pathLst>
              <a:path w="123750" h="104782">
                <a:moveTo>
                  <a:pt x="123750" y="47947"/>
                </a:moveTo>
                <a:lnTo>
                  <a:pt x="0" y="0"/>
                </a:lnTo>
                <a:lnTo>
                  <a:pt x="3821" y="104782"/>
                </a:lnTo>
                <a:close/>
              </a:path>
            </a:pathLst>
          </a:custGeom>
          <a:solidFill xmlns:a="http://schemas.openxmlformats.org/drawingml/2006/main">
            <a:srgbClr val="3C60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ditional-path-2">
            <a:extLst xmlns:a="http://schemas.openxmlformats.org/drawingml/2006/main">
              <a:ext uri="{FF2B5EF4-FFF2-40B4-BE49-F238E27FC236}">
                <a16:creationId xmlns:a16="http://schemas.microsoft.com/office/drawing/2014/main" id="{E3443DD6-9C1D-49D7-8943-4B3DDA1E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95625"/>
            <a:ext cx="8096250" cy="257175"/>
          </a:xfrm>
          <a:custGeom xmlns:a="http://schemas.openxmlformats.org/drawingml/2006/main">
            <a:pathLst>
              <a:path w="8096250" h="257175">
                <a:moveTo>
                  <a:pt x="0" y="257175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621">
            <a:solidFill>
              <a:srgbClr val="AF6545"/>
            </a:solidFill>
            <a:prstDash val="solid"/>
          </a:ln>
        </p:spPr>
      </p:sp>
      <p:sp>
        <p:nvSpPr>
          <p:cNvPr id="14" name="conditional-path-2--arrow">
            <a:extLst xmlns:a="http://schemas.openxmlformats.org/drawingml/2006/main">
              <a:ext uri="{FF2B5EF4-FFF2-40B4-BE49-F238E27FC236}">
                <a16:creationId xmlns:a16="http://schemas.microsoft.com/office/drawing/2014/main" id="{95A7A65B-518A-4F69-B9B3-B50B5798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5381" y="3050300"/>
            <a:ext cx="115369" cy="97880"/>
          </a:xfrm>
          <a:custGeom xmlns:a="http://schemas.openxmlformats.org/drawingml/2006/main">
            <a:pathLst>
              <a:path w="115369" h="97880">
                <a:moveTo>
                  <a:pt x="115369" y="45325"/>
                </a:moveTo>
                <a:lnTo>
                  <a:pt x="0" y="0"/>
                </a:lnTo>
                <a:lnTo>
                  <a:pt x="3109" y="97880"/>
                </a:lnTo>
                <a:close/>
              </a:path>
            </a:pathLst>
          </a:custGeom>
          <a:solidFill xmlns:a="http://schemas.openxmlformats.org/drawingml/2006/main">
            <a:srgbClr val="AF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ired-source-2">
            <a:extLst xmlns:a="http://schemas.openxmlformats.org/drawingml/2006/main">
              <a:ext uri="{FF2B5EF4-FFF2-40B4-BE49-F238E27FC236}">
                <a16:creationId xmlns:a16="http://schemas.microsoft.com/office/drawing/2014/main" id="{BE3ABC34-38DD-4EE5-8716-2C45B49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7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6545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paired-target-2">
            <a:extLst xmlns:a="http://schemas.openxmlformats.org/drawingml/2006/main">
              <a:ext uri="{FF2B5EF4-FFF2-40B4-BE49-F238E27FC236}">
                <a16:creationId xmlns:a16="http://schemas.microsoft.com/office/drawing/2014/main" id="{AD542F5C-DBB1-43A1-89E9-E07FDB0C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19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6545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7" name="training-sample-2">
            <a:extLst xmlns:a="http://schemas.openxmlformats.org/drawingml/2006/main">
              <a:ext uri="{FF2B5EF4-FFF2-40B4-BE49-F238E27FC236}">
                <a16:creationId xmlns:a16="http://schemas.microsoft.com/office/drawing/2014/main" id="{72D5F29F-72F9-421D-BEA8-FE179BCA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6207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6545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8" name="target-velocity-2">
            <a:extLst xmlns:a="http://schemas.openxmlformats.org/drawingml/2006/main">
              <a:ext uri="{FF2B5EF4-FFF2-40B4-BE49-F238E27FC236}">
                <a16:creationId xmlns:a16="http://schemas.microsoft.com/office/drawing/2014/main" id="{E246096A-0CBA-4806-B072-CE140279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4391"/>
            <a:ext cx="781050" cy="24810"/>
          </a:xfrm>
          <a:custGeom xmlns:a="http://schemas.openxmlformats.org/drawingml/2006/main">
            <a:pathLst>
              <a:path w="781050" h="24810">
                <a:moveTo>
                  <a:pt x="0" y="2481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AF6545"/>
            </a:solidFill>
            <a:prstDash val="solid"/>
          </a:ln>
        </p:spPr>
      </p:sp>
      <p:sp>
        <p:nvSpPr>
          <p:cNvPr id="19" name="target-velocity-2--arrow">
            <a:extLst xmlns:a="http://schemas.openxmlformats.org/drawingml/2006/main">
              <a:ext uri="{FF2B5EF4-FFF2-40B4-BE49-F238E27FC236}">
                <a16:creationId xmlns:a16="http://schemas.microsoft.com/office/drawing/2014/main" id="{97E4C1C4-AE1C-41AB-87B3-AEC29BC2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277" y="2945863"/>
            <a:ext cx="123523" cy="104798"/>
          </a:xfrm>
          <a:custGeom xmlns:a="http://schemas.openxmlformats.org/drawingml/2006/main">
            <a:pathLst>
              <a:path w="123523" h="104798">
                <a:moveTo>
                  <a:pt x="123523" y="48528"/>
                </a:moveTo>
                <a:lnTo>
                  <a:pt x="0" y="0"/>
                </a:lnTo>
                <a:lnTo>
                  <a:pt x="3329" y="104798"/>
                </a:lnTo>
                <a:close/>
              </a:path>
            </a:pathLst>
          </a:custGeom>
          <a:solidFill xmlns:a="http://schemas.openxmlformats.org/drawingml/2006/main">
            <a:srgbClr val="AF6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F03DDFDB-58E9-42DD-BB3D-223FD7C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18097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Source samples</a:t>
            </a:r>
          </a:p>
        </p:txBody>
      </p:sp>
      <p:sp>
        <p:nvSpPr>
          <p:cNvPr id="21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F5AA802C-F8D3-47F5-8D71-9AD15DBC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000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Paired targets</a:t>
            </a:r>
          </a:p>
        </p:txBody>
      </p:sp>
      <p:sp>
        <p:nvSpPr>
          <p:cNvPr id="22" name="stage-rule">
            <a:extLst xmlns:a="http://schemas.openxmlformats.org/drawingml/2006/main">
              <a:ext uri="{FF2B5EF4-FFF2-40B4-BE49-F238E27FC236}">
                <a16:creationId xmlns:a16="http://schemas.microsoft.com/office/drawing/2014/main" id="{DF65D2A1-F3CA-41D9-A2A5-85CC2A2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23" name="sampling-label">
            <a:extLst xmlns:a="http://schemas.openxmlformats.org/drawingml/2006/main">
              <a:ext uri="{FF2B5EF4-FFF2-40B4-BE49-F238E27FC236}">
                <a16:creationId xmlns:a16="http://schemas.microsoft.com/office/drawing/2014/main" id="{53D5E1DB-6899-4634-A097-FA99C390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21907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Sampling</a:t>
            </a:r>
          </a:p>
        </p:txBody>
      </p:sp>
      <p:sp>
        <p:nvSpPr>
          <p:cNvPr id="24" name="sampling-equation">
            <a:extLst xmlns:a="http://schemas.openxmlformats.org/drawingml/2006/main">
              <a:ext uri="{FF2B5EF4-FFF2-40B4-BE49-F238E27FC236}">
                <a16:creationId xmlns:a16="http://schemas.microsoft.com/office/drawing/2014/main" id="{10E49487-04F8-44D5-9D76-E123F06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dx / dt = vθ(x, t)</a:t>
            </a:r>
          </a:p>
        </p:txBody>
      </p:sp>
      <p:sp>
        <p:nvSpPr>
          <p:cNvPr id="25" name="learned-ode-path">
            <a:extLst xmlns:a="http://schemas.openxmlformats.org/drawingml/2006/main">
              <a:ext uri="{FF2B5EF4-FFF2-40B4-BE49-F238E27FC236}">
                <a16:creationId xmlns:a16="http://schemas.microsoft.com/office/drawing/2014/main" id="{95F3FC7B-65B9-438B-88D5-2B8491D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462"/>
            <a:ext cx="8096250" cy="362238"/>
          </a:xfrm>
          <a:custGeom xmlns:a="http://schemas.openxmlformats.org/drawingml/2006/main">
            <a:pathLst>
              <a:path w="8096250" h="362238">
                <a:moveTo>
                  <a:pt x="0" y="362238"/>
                </a:moveTo>
                <a:lnTo>
                  <a:pt x="80963" y="356551"/>
                </a:lnTo>
                <a:lnTo>
                  <a:pt x="161925" y="350855"/>
                </a:lnTo>
                <a:lnTo>
                  <a:pt x="242888" y="345143"/>
                </a:lnTo>
                <a:lnTo>
                  <a:pt x="323850" y="339405"/>
                </a:lnTo>
                <a:lnTo>
                  <a:pt x="404813" y="333634"/>
                </a:lnTo>
                <a:lnTo>
                  <a:pt x="485775" y="327821"/>
                </a:lnTo>
                <a:lnTo>
                  <a:pt x="566738" y="321959"/>
                </a:lnTo>
                <a:lnTo>
                  <a:pt x="647700" y="316040"/>
                </a:lnTo>
                <a:lnTo>
                  <a:pt x="728663" y="310059"/>
                </a:lnTo>
                <a:lnTo>
                  <a:pt x="809625" y="304009"/>
                </a:lnTo>
                <a:lnTo>
                  <a:pt x="890588" y="297883"/>
                </a:lnTo>
                <a:lnTo>
                  <a:pt x="971550" y="291677"/>
                </a:lnTo>
                <a:lnTo>
                  <a:pt x="1052513" y="285386"/>
                </a:lnTo>
                <a:lnTo>
                  <a:pt x="1133475" y="279007"/>
                </a:lnTo>
                <a:lnTo>
                  <a:pt x="1214438" y="272536"/>
                </a:lnTo>
                <a:lnTo>
                  <a:pt x="1295400" y="265971"/>
                </a:lnTo>
                <a:lnTo>
                  <a:pt x="1376363" y="259311"/>
                </a:lnTo>
                <a:lnTo>
                  <a:pt x="1457325" y="252554"/>
                </a:lnTo>
                <a:lnTo>
                  <a:pt x="1538288" y="245702"/>
                </a:lnTo>
                <a:lnTo>
                  <a:pt x="1619250" y="238755"/>
                </a:lnTo>
                <a:lnTo>
                  <a:pt x="1700213" y="231716"/>
                </a:lnTo>
                <a:lnTo>
                  <a:pt x="1781175" y="224587"/>
                </a:lnTo>
                <a:lnTo>
                  <a:pt x="1862138" y="217372"/>
                </a:lnTo>
                <a:lnTo>
                  <a:pt x="1943100" y="210077"/>
                </a:lnTo>
                <a:lnTo>
                  <a:pt x="2024063" y="202706"/>
                </a:lnTo>
                <a:lnTo>
                  <a:pt x="2105025" y="195268"/>
                </a:lnTo>
                <a:lnTo>
                  <a:pt x="2185988" y="187769"/>
                </a:lnTo>
                <a:lnTo>
                  <a:pt x="2266950" y="180218"/>
                </a:lnTo>
                <a:lnTo>
                  <a:pt x="2347913" y="172626"/>
                </a:lnTo>
                <a:lnTo>
                  <a:pt x="2428875" y="165002"/>
                </a:lnTo>
                <a:lnTo>
                  <a:pt x="2509838" y="157359"/>
                </a:lnTo>
                <a:lnTo>
                  <a:pt x="2590800" y="149708"/>
                </a:lnTo>
                <a:lnTo>
                  <a:pt x="2671763" y="142063"/>
                </a:lnTo>
                <a:lnTo>
                  <a:pt x="2752725" y="134437"/>
                </a:lnTo>
                <a:lnTo>
                  <a:pt x="2833688" y="126846"/>
                </a:lnTo>
                <a:lnTo>
                  <a:pt x="2914650" y="119304"/>
                </a:lnTo>
                <a:lnTo>
                  <a:pt x="2995613" y="111829"/>
                </a:lnTo>
                <a:lnTo>
                  <a:pt x="3076575" y="104436"/>
                </a:lnTo>
                <a:lnTo>
                  <a:pt x="3157538" y="97143"/>
                </a:lnTo>
                <a:lnTo>
                  <a:pt x="3238500" y="89969"/>
                </a:lnTo>
                <a:lnTo>
                  <a:pt x="3319463" y="82930"/>
                </a:lnTo>
                <a:lnTo>
                  <a:pt x="3400425" y="76046"/>
                </a:lnTo>
                <a:lnTo>
                  <a:pt x="3481388" y="69336"/>
                </a:lnTo>
                <a:lnTo>
                  <a:pt x="3562350" y="62819"/>
                </a:lnTo>
                <a:lnTo>
                  <a:pt x="3643313" y="56514"/>
                </a:lnTo>
                <a:lnTo>
                  <a:pt x="3724275" y="50442"/>
                </a:lnTo>
                <a:lnTo>
                  <a:pt x="3805238" y="44621"/>
                </a:lnTo>
                <a:lnTo>
                  <a:pt x="3886200" y="39071"/>
                </a:lnTo>
                <a:lnTo>
                  <a:pt x="3967163" y="33812"/>
                </a:lnTo>
                <a:lnTo>
                  <a:pt x="4048125" y="28863"/>
                </a:lnTo>
                <a:lnTo>
                  <a:pt x="4129088" y="24243"/>
                </a:lnTo>
                <a:lnTo>
                  <a:pt x="4210050" y="19970"/>
                </a:lnTo>
                <a:lnTo>
                  <a:pt x="4291013" y="16064"/>
                </a:lnTo>
                <a:lnTo>
                  <a:pt x="4371975" y="12541"/>
                </a:lnTo>
                <a:lnTo>
                  <a:pt x="4452938" y="9420"/>
                </a:lnTo>
                <a:lnTo>
                  <a:pt x="4533900" y="6717"/>
                </a:lnTo>
                <a:lnTo>
                  <a:pt x="4614863" y="4447"/>
                </a:lnTo>
                <a:lnTo>
                  <a:pt x="4695825" y="2627"/>
                </a:lnTo>
                <a:lnTo>
                  <a:pt x="4776788" y="1270"/>
                </a:lnTo>
                <a:lnTo>
                  <a:pt x="4857750" y="390"/>
                </a:lnTo>
                <a:lnTo>
                  <a:pt x="4938713" y="0"/>
                </a:lnTo>
                <a:lnTo>
                  <a:pt x="5019675" y="111"/>
                </a:lnTo>
                <a:lnTo>
                  <a:pt x="5100638" y="734"/>
                </a:lnTo>
                <a:lnTo>
                  <a:pt x="5181600" y="1878"/>
                </a:lnTo>
                <a:lnTo>
                  <a:pt x="5262563" y="3551"/>
                </a:lnTo>
                <a:lnTo>
                  <a:pt x="5343525" y="5761"/>
                </a:lnTo>
                <a:lnTo>
                  <a:pt x="5424488" y="8513"/>
                </a:lnTo>
                <a:lnTo>
                  <a:pt x="5505450" y="11812"/>
                </a:lnTo>
                <a:lnTo>
                  <a:pt x="5586413" y="15661"/>
                </a:lnTo>
                <a:lnTo>
                  <a:pt x="5667375" y="20061"/>
                </a:lnTo>
                <a:lnTo>
                  <a:pt x="5748338" y="25014"/>
                </a:lnTo>
                <a:lnTo>
                  <a:pt x="5829300" y="30518"/>
                </a:lnTo>
                <a:lnTo>
                  <a:pt x="5910263" y="36570"/>
                </a:lnTo>
                <a:lnTo>
                  <a:pt x="5991225" y="43168"/>
                </a:lnTo>
                <a:lnTo>
                  <a:pt x="6072188" y="50306"/>
                </a:lnTo>
                <a:lnTo>
                  <a:pt x="6153150" y="57977"/>
                </a:lnTo>
                <a:lnTo>
                  <a:pt x="6234113" y="66174"/>
                </a:lnTo>
                <a:lnTo>
                  <a:pt x="6315075" y="74886"/>
                </a:lnTo>
                <a:lnTo>
                  <a:pt x="6396038" y="84104"/>
                </a:lnTo>
                <a:lnTo>
                  <a:pt x="6477000" y="93814"/>
                </a:lnTo>
                <a:lnTo>
                  <a:pt x="6557963" y="104004"/>
                </a:lnTo>
                <a:lnTo>
                  <a:pt x="6638925" y="114659"/>
                </a:lnTo>
                <a:lnTo>
                  <a:pt x="6719888" y="125762"/>
                </a:lnTo>
                <a:lnTo>
                  <a:pt x="6800850" y="137295"/>
                </a:lnTo>
                <a:lnTo>
                  <a:pt x="6881813" y="149242"/>
                </a:lnTo>
                <a:lnTo>
                  <a:pt x="6962775" y="161581"/>
                </a:lnTo>
                <a:lnTo>
                  <a:pt x="7043738" y="174291"/>
                </a:lnTo>
                <a:lnTo>
                  <a:pt x="7124700" y="187352"/>
                </a:lnTo>
                <a:lnTo>
                  <a:pt x="7205663" y="200739"/>
                </a:lnTo>
                <a:lnTo>
                  <a:pt x="7286625" y="214430"/>
                </a:lnTo>
                <a:lnTo>
                  <a:pt x="7367588" y="228399"/>
                </a:lnTo>
                <a:lnTo>
                  <a:pt x="7448550" y="242621"/>
                </a:lnTo>
                <a:lnTo>
                  <a:pt x="7529513" y="257070"/>
                </a:lnTo>
                <a:lnTo>
                  <a:pt x="7610475" y="271718"/>
                </a:lnTo>
                <a:lnTo>
                  <a:pt x="7691438" y="286539"/>
                </a:lnTo>
                <a:lnTo>
                  <a:pt x="7772400" y="301505"/>
                </a:lnTo>
                <a:lnTo>
                  <a:pt x="7853363" y="316586"/>
                </a:lnTo>
                <a:lnTo>
                  <a:pt x="7934325" y="331755"/>
                </a:lnTo>
                <a:lnTo>
                  <a:pt x="8015288" y="346982"/>
                </a:lnTo>
                <a:lnTo>
                  <a:pt x="8096250" y="362238"/>
                </a:lnTo>
              </a:path>
            </a:pathLst>
          </a:custGeom>
          <a:noFill xmlns:a="http://schemas.openxmlformats.org/drawingml/2006/main"/>
          <a:ln xmlns:a="http://schemas.openxmlformats.org/drawingml/2006/main" w="24098">
            <a:solidFill>
              <a:srgbClr val="577D68"/>
            </a:solidFill>
            <a:prstDash val="solid"/>
          </a:ln>
        </p:spPr>
      </p:sp>
      <p:sp>
        <p:nvSpPr>
          <p:cNvPr id="26" name="learned-ode-path--arrow">
            <a:extLst xmlns:a="http://schemas.openxmlformats.org/drawingml/2006/main">
              <a:ext uri="{FF2B5EF4-FFF2-40B4-BE49-F238E27FC236}">
                <a16:creationId xmlns:a16="http://schemas.microsoft.com/office/drawing/2014/main" id="{757559E0-EF46-47B3-9CB3-5897B9F0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963" y="5147167"/>
            <a:ext cx="126787" cy="100864"/>
          </a:xfrm>
          <a:custGeom xmlns:a="http://schemas.openxmlformats.org/drawingml/2006/main">
            <a:pathLst>
              <a:path w="126787" h="100864">
                <a:moveTo>
                  <a:pt x="126787" y="72533"/>
                </a:moveTo>
                <a:lnTo>
                  <a:pt x="19006" y="0"/>
                </a:lnTo>
                <a:lnTo>
                  <a:pt x="0" y="100864"/>
                </a:lnTo>
                <a:close/>
              </a:path>
            </a:pathLst>
          </a:custGeom>
          <a:solidFill xmlns:a="http://schemas.openxmlformats.org/drawingml/2006/main">
            <a:srgbClr val="577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ampling-source">
            <a:extLst xmlns:a="http://schemas.openxmlformats.org/drawingml/2006/main">
              <a:ext uri="{FF2B5EF4-FFF2-40B4-BE49-F238E27FC236}">
                <a16:creationId xmlns:a16="http://schemas.microsoft.com/office/drawing/2014/main" id="{00835872-C40F-49D1-B82B-3D781C91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D6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8" name="generated-state">
            <a:extLst xmlns:a="http://schemas.openxmlformats.org/drawingml/2006/main">
              <a:ext uri="{FF2B5EF4-FFF2-40B4-BE49-F238E27FC236}">
                <a16:creationId xmlns:a16="http://schemas.microsoft.com/office/drawing/2014/main" id="{F260BD1E-1120-4F0F-A1F4-780FF072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77D68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9" name="prior-label">
            <a:extLst xmlns:a="http://schemas.openxmlformats.org/drawingml/2006/main">
              <a:ext uri="{FF2B5EF4-FFF2-40B4-BE49-F238E27FC236}">
                <a16:creationId xmlns:a16="http://schemas.microsoft.com/office/drawing/2014/main" id="{BA56D398-1352-417F-B976-96D97D80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410200"/>
            <a:ext cx="2000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Prior sample</a:t>
            </a:r>
          </a:p>
        </p:txBody>
      </p:sp>
      <p:sp>
        <p:nvSpPr>
          <p:cNvPr id="30" name="generated-label">
            <a:extLst xmlns:a="http://schemas.openxmlformats.org/drawingml/2006/main">
              <a:ext uri="{FF2B5EF4-FFF2-40B4-BE49-F238E27FC236}">
                <a16:creationId xmlns:a16="http://schemas.microsoft.com/office/drawing/2014/main" id="{C4A739FD-CA3C-4E01-B0F6-4131106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10200"/>
            <a:ext cx="18097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53445"/>
                </a:solidFill>
                <a:latin typeface="Times New Roman"/>
                <a:ea typeface="Times New Roman"/>
                <a:cs typeface="Times New Roman"/>
              </a:rPr>
              <a:t>Generated</a:t>
            </a:r>
          </a:p>
        </p:txBody>
      </p:sp>
      <p:sp>
        <p:nvSpPr>
          <p:cNvPr id="31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DF0B0D19-184B-4C27-AFC1-8DA3686B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687887"/>
                </a:solidFill>
                <a:latin typeface="Times New Roman"/>
                <a:ea typeface="Times New Roman"/>
                <a:cs typeface="Times New Roman"/>
              </a:rPr>
              <a:t>Illustration: training pairs define supervision. Sampling integrates the learned velocity field.</a:t>
            </a:r>
          </a:p>
        </p:txBody>
      </p:sp>
    </p:spTree>
    <p:extLst>
      <p:ext uri="{BB962C8B-B14F-4D97-AF65-F5344CB8AC3E}">
        <p14:creationId xmlns:p14="http://schemas.microsoft.com/office/powerpoint/2010/main" val="3371472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">
            <a:extLst xmlns:a="http://schemas.openxmlformats.org/drawingml/2006/main">
              <a:ext uri="{FF2B5EF4-FFF2-40B4-BE49-F238E27FC236}">
                <a16:creationId xmlns:a16="http://schemas.microsoft.com/office/drawing/2014/main" id="{5D8EE23C-00CB-4AE7-B519-8C1DA86A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096500" cy="500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Flow Matching · training and sampling</a:t>
            </a:r>
          </a:p>
        </p:txBody>
      </p:sp>
      <p:sp>
        <p:nvSpPr>
          <p:cNvPr id="2" name="equation">
            <a:extLst xmlns:a="http://schemas.openxmlformats.org/drawingml/2006/main">
              <a:ext uri="{FF2B5EF4-FFF2-40B4-BE49-F238E27FC236}">
                <a16:creationId xmlns:a16="http://schemas.microsoft.com/office/drawing/2014/main" id="{E7ED5FFB-B80A-4DB3-822A-88E1DBFF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8675"/>
            <a:ext cx="990600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Example: straight conditional interpolation</a:t>
            </a:r>
          </a:p>
        </p:txBody>
      </p:sp>
      <p:sp>
        <p:nvSpPr>
          <p:cNvPr id="3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13E480B7-D3CD-454F-A20C-17DAAD3B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4" name="training-label">
            <a:extLst xmlns:a="http://schemas.openxmlformats.org/drawingml/2006/main">
              <a:ext uri="{FF2B5EF4-FFF2-40B4-BE49-F238E27FC236}">
                <a16:creationId xmlns:a16="http://schemas.microsoft.com/office/drawing/2014/main" id="{67C067C7-DC68-42E0-9E8B-3D02E864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47825"/>
            <a:ext cx="23812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5" name="interpolation-equation">
            <a:extLst xmlns:a="http://schemas.openxmlformats.org/drawingml/2006/main">
              <a:ext uri="{FF2B5EF4-FFF2-40B4-BE49-F238E27FC236}">
                <a16:creationId xmlns:a16="http://schemas.microsoft.com/office/drawing/2014/main" id="{032E93B1-3D00-47F4-AC77-93124EE4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4782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xₜ = (1 − t)x₀ + tx₁      target velocity: x₁ − x₀</a:t>
            </a:r>
          </a:p>
        </p:txBody>
      </p:sp>
      <p:sp>
        <p:nvSpPr>
          <p:cNvPr id="6" name="conditional-path-1">
            <a:extLst xmlns:a="http://schemas.openxmlformats.org/drawingml/2006/main">
              <a:ext uri="{FF2B5EF4-FFF2-40B4-BE49-F238E27FC236}">
                <a16:creationId xmlns:a16="http://schemas.microsoft.com/office/drawing/2014/main" id="{5ADCF27D-27CC-420C-8A13-5CD924A5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52675"/>
            <a:ext cx="8096250" cy="295275"/>
          </a:xfrm>
          <a:custGeom xmlns:a="http://schemas.openxmlformats.org/drawingml/2006/main">
            <a:pathLst>
              <a:path w="8096250" h="295275">
                <a:moveTo>
                  <a:pt x="0" y="295275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70">
            <a:solidFill>
              <a:srgbClr val="236B9C"/>
            </a:solidFill>
            <a:prstDash val="solid"/>
          </a:ln>
        </p:spPr>
      </p:sp>
      <p:sp>
        <p:nvSpPr>
          <p:cNvPr id="7" name="conditional-path-1--arrow">
            <a:extLst xmlns:a="http://schemas.openxmlformats.org/drawingml/2006/main">
              <a:ext uri="{FF2B5EF4-FFF2-40B4-BE49-F238E27FC236}">
                <a16:creationId xmlns:a16="http://schemas.microsoft.com/office/drawing/2014/main" id="{CD7ACC25-987C-497A-89D6-CF714164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061" y="2306301"/>
            <a:ext cx="119689" cy="101343"/>
          </a:xfrm>
          <a:custGeom xmlns:a="http://schemas.openxmlformats.org/drawingml/2006/main">
            <a:pathLst>
              <a:path w="119689" h="101343">
                <a:moveTo>
                  <a:pt x="119689" y="46374"/>
                </a:moveTo>
                <a:lnTo>
                  <a:pt x="0" y="0"/>
                </a:lnTo>
                <a:lnTo>
                  <a:pt x="3696" y="101343"/>
                </a:lnTo>
                <a:close/>
              </a:path>
            </a:pathLst>
          </a:custGeom>
          <a:solidFill xmlns:a="http://schemas.openxmlformats.org/drawingml/2006/main">
            <a:srgbClr val="236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ired-source-1">
            <a:extLst xmlns:a="http://schemas.openxmlformats.org/drawingml/2006/main">
              <a:ext uri="{FF2B5EF4-FFF2-40B4-BE49-F238E27FC236}">
                <a16:creationId xmlns:a16="http://schemas.microsoft.com/office/drawing/2014/main" id="{579BF636-4A08-44F6-BA05-303DFC99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71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B9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9" name="paired-target-1">
            <a:extLst xmlns:a="http://schemas.openxmlformats.org/drawingml/2006/main">
              <a:ext uri="{FF2B5EF4-FFF2-40B4-BE49-F238E27FC236}">
                <a16:creationId xmlns:a16="http://schemas.microsoft.com/office/drawing/2014/main" id="{1B917012-37BC-4892-B7E9-04C864A6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76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B9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0" name="training-sample-1">
            <a:extLst xmlns:a="http://schemas.openxmlformats.org/drawingml/2006/main">
              <a:ext uri="{FF2B5EF4-FFF2-40B4-BE49-F238E27FC236}">
                <a16:creationId xmlns:a16="http://schemas.microsoft.com/office/drawing/2014/main" id="{5B9EE71D-92D5-444D-866F-02327CED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43884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B9C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1" name="target-velocity-1">
            <a:extLst xmlns:a="http://schemas.openxmlformats.org/drawingml/2006/main">
              <a:ext uri="{FF2B5EF4-FFF2-40B4-BE49-F238E27FC236}">
                <a16:creationId xmlns:a16="http://schemas.microsoft.com/office/drawing/2014/main" id="{1F106CCF-B7A4-4C71-B1A1-5F67B759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67488"/>
            <a:ext cx="781050" cy="28485"/>
          </a:xfrm>
          <a:custGeom xmlns:a="http://schemas.openxmlformats.org/drawingml/2006/main">
            <a:pathLst>
              <a:path w="781050" h="28485">
                <a:moveTo>
                  <a:pt x="0" y="28485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236B9C"/>
            </a:solidFill>
            <a:prstDash val="solid"/>
          </a:ln>
        </p:spPr>
      </p:sp>
      <p:sp>
        <p:nvSpPr>
          <p:cNvPr id="12" name="target-velocity-1--arrow">
            <a:extLst xmlns:a="http://schemas.openxmlformats.org/drawingml/2006/main">
              <a:ext uri="{FF2B5EF4-FFF2-40B4-BE49-F238E27FC236}">
                <a16:creationId xmlns:a16="http://schemas.microsoft.com/office/drawing/2014/main" id="{2C86633B-2FD6-45F8-85CB-9C06AB3E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050" y="2219541"/>
            <a:ext cx="123750" cy="104782"/>
          </a:xfrm>
          <a:custGeom xmlns:a="http://schemas.openxmlformats.org/drawingml/2006/main">
            <a:pathLst>
              <a:path w="123750" h="104782">
                <a:moveTo>
                  <a:pt x="123750" y="47947"/>
                </a:moveTo>
                <a:lnTo>
                  <a:pt x="0" y="0"/>
                </a:lnTo>
                <a:lnTo>
                  <a:pt x="3821" y="104782"/>
                </a:lnTo>
                <a:close/>
              </a:path>
            </a:pathLst>
          </a:custGeom>
          <a:solidFill xmlns:a="http://schemas.openxmlformats.org/drawingml/2006/main">
            <a:srgbClr val="236B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ditional-path-2">
            <a:extLst xmlns:a="http://schemas.openxmlformats.org/drawingml/2006/main">
              <a:ext uri="{FF2B5EF4-FFF2-40B4-BE49-F238E27FC236}">
                <a16:creationId xmlns:a16="http://schemas.microsoft.com/office/drawing/2014/main" id="{9B19F31B-3CE0-4C4A-8F1C-7CF37C5C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95625"/>
            <a:ext cx="8096250" cy="257175"/>
          </a:xfrm>
          <a:custGeom xmlns:a="http://schemas.openxmlformats.org/drawingml/2006/main">
            <a:pathLst>
              <a:path w="8096250" h="257175">
                <a:moveTo>
                  <a:pt x="0" y="257175"/>
                </a:moveTo>
                <a:lnTo>
                  <a:pt x="809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670">
            <a:solidFill>
              <a:srgbClr val="C15D42"/>
            </a:solidFill>
            <a:prstDash val="solid"/>
          </a:ln>
        </p:spPr>
      </p:sp>
      <p:sp>
        <p:nvSpPr>
          <p:cNvPr id="14" name="conditional-path-2--arrow">
            <a:extLst xmlns:a="http://schemas.openxmlformats.org/drawingml/2006/main">
              <a:ext uri="{FF2B5EF4-FFF2-40B4-BE49-F238E27FC236}">
                <a16:creationId xmlns:a16="http://schemas.microsoft.com/office/drawing/2014/main" id="{25A4844F-68BC-4615-8B4B-5C3918BD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280" y="3048689"/>
            <a:ext cx="119470" cy="101360"/>
          </a:xfrm>
          <a:custGeom xmlns:a="http://schemas.openxmlformats.org/drawingml/2006/main">
            <a:pathLst>
              <a:path w="119470" h="101360">
                <a:moveTo>
                  <a:pt x="119470" y="46936"/>
                </a:moveTo>
                <a:lnTo>
                  <a:pt x="0" y="0"/>
                </a:lnTo>
                <a:lnTo>
                  <a:pt x="3220" y="101360"/>
                </a:lnTo>
                <a:close/>
              </a:path>
            </a:pathLst>
          </a:custGeom>
          <a:solidFill xmlns:a="http://schemas.openxmlformats.org/drawingml/2006/main">
            <a:srgbClr val="C15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ired-source-2">
            <a:extLst xmlns:a="http://schemas.openxmlformats.org/drawingml/2006/main">
              <a:ext uri="{FF2B5EF4-FFF2-40B4-BE49-F238E27FC236}">
                <a16:creationId xmlns:a16="http://schemas.microsoft.com/office/drawing/2014/main" id="{011C98B3-8E20-471E-8B40-17395D22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76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5D42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6" name="paired-target-2">
            <a:extLst xmlns:a="http://schemas.openxmlformats.org/drawingml/2006/main">
              <a:ext uri="{FF2B5EF4-FFF2-40B4-BE49-F238E27FC236}">
                <a16:creationId xmlns:a16="http://schemas.microsoft.com/office/drawing/2014/main" id="{CA5FD843-8544-44DE-A608-2ADC4EE4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19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5D42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7" name="training-sample-2">
            <a:extLst xmlns:a="http://schemas.openxmlformats.org/drawingml/2006/main">
              <a:ext uri="{FF2B5EF4-FFF2-40B4-BE49-F238E27FC236}">
                <a16:creationId xmlns:a16="http://schemas.microsoft.com/office/drawing/2014/main" id="{CA8D413E-E0C2-4F8B-84D3-A2855399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62076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15D42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18" name="target-velocity-2">
            <a:extLst xmlns:a="http://schemas.openxmlformats.org/drawingml/2006/main">
              <a:ext uri="{FF2B5EF4-FFF2-40B4-BE49-F238E27FC236}">
                <a16:creationId xmlns:a16="http://schemas.microsoft.com/office/drawing/2014/main" id="{1BB9785D-6170-4D8B-8544-631B1380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94391"/>
            <a:ext cx="781050" cy="24810"/>
          </a:xfrm>
          <a:custGeom xmlns:a="http://schemas.openxmlformats.org/drawingml/2006/main">
            <a:pathLst>
              <a:path w="781050" h="24810">
                <a:moveTo>
                  <a:pt x="0" y="24810"/>
                </a:moveTo>
                <a:lnTo>
                  <a:pt x="781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6670">
            <a:solidFill>
              <a:srgbClr val="C15D42"/>
            </a:solidFill>
            <a:prstDash val="solid"/>
          </a:ln>
        </p:spPr>
      </p:sp>
      <p:sp>
        <p:nvSpPr>
          <p:cNvPr id="19" name="target-velocity-2--arrow">
            <a:extLst xmlns:a="http://schemas.openxmlformats.org/drawingml/2006/main">
              <a:ext uri="{FF2B5EF4-FFF2-40B4-BE49-F238E27FC236}">
                <a16:creationId xmlns:a16="http://schemas.microsoft.com/office/drawing/2014/main" id="{B225E7C9-67EA-4963-85EE-55557B2C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7277" y="2945863"/>
            <a:ext cx="123523" cy="104798"/>
          </a:xfrm>
          <a:custGeom xmlns:a="http://schemas.openxmlformats.org/drawingml/2006/main">
            <a:pathLst>
              <a:path w="123523" h="104798">
                <a:moveTo>
                  <a:pt x="123523" y="48528"/>
                </a:moveTo>
                <a:lnTo>
                  <a:pt x="0" y="0"/>
                </a:lnTo>
                <a:lnTo>
                  <a:pt x="3329" y="104798"/>
                </a:lnTo>
                <a:close/>
              </a:path>
            </a:pathLst>
          </a:custGeom>
          <a:solidFill xmlns:a="http://schemas.openxmlformats.org/drawingml/2006/main">
            <a:srgbClr val="C15D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ource-label">
            <a:extLst xmlns:a="http://schemas.openxmlformats.org/drawingml/2006/main">
              <a:ext uri="{FF2B5EF4-FFF2-40B4-BE49-F238E27FC236}">
                <a16:creationId xmlns:a16="http://schemas.microsoft.com/office/drawing/2014/main" id="{596DA337-9D9A-4FBC-82A2-CBC9AA82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24250"/>
            <a:ext cx="18097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Source samples</a:t>
            </a:r>
          </a:p>
        </p:txBody>
      </p:sp>
      <p:sp>
        <p:nvSpPr>
          <p:cNvPr id="21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15671281-6481-4CF8-B834-4DC09E07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2000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Paired targets</a:t>
            </a:r>
          </a:p>
        </p:txBody>
      </p:sp>
      <p:sp>
        <p:nvSpPr>
          <p:cNvPr id="22" name="stage-rule">
            <a:extLst xmlns:a="http://schemas.openxmlformats.org/drawingml/2006/main">
              <a:ext uri="{FF2B5EF4-FFF2-40B4-BE49-F238E27FC236}">
                <a16:creationId xmlns:a16="http://schemas.microsoft.com/office/drawing/2014/main" id="{5F56CC03-085A-40A9-9F2C-E9DFB273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81450"/>
            <a:ext cx="10287000" cy="95"/>
          </a:xfrm>
          <a:custGeom xmlns:a="http://schemas.openxmlformats.org/drawingml/2006/main">
            <a:pathLst>
              <a:path w="10287000" h="9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DD5DD"/>
            </a:solidFill>
            <a:prstDash val="solid"/>
          </a:ln>
        </p:spPr>
      </p:sp>
      <p:sp>
        <p:nvSpPr>
          <p:cNvPr id="23" name="sampling-label">
            <a:extLst xmlns:a="http://schemas.openxmlformats.org/drawingml/2006/main">
              <a:ext uri="{FF2B5EF4-FFF2-40B4-BE49-F238E27FC236}">
                <a16:creationId xmlns:a16="http://schemas.microsoft.com/office/drawing/2014/main" id="{64199E31-FA2A-4D0C-BAB7-3324C9B0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81475"/>
            <a:ext cx="219075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C40"/>
                </a:solidFill>
                <a:latin typeface="Arial"/>
                <a:ea typeface="Arial"/>
                <a:cs typeface="Arial"/>
              </a:rPr>
              <a:t>Sampling</a:t>
            </a:r>
          </a:p>
        </p:txBody>
      </p:sp>
      <p:sp>
        <p:nvSpPr>
          <p:cNvPr id="24" name="sampling-equation">
            <a:extLst xmlns:a="http://schemas.openxmlformats.org/drawingml/2006/main">
              <a:ext uri="{FF2B5EF4-FFF2-40B4-BE49-F238E27FC236}">
                <a16:creationId xmlns:a16="http://schemas.microsoft.com/office/drawing/2014/main" id="{543E6F48-D515-4944-AA94-897679BC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dx / dt = vθ(x, t)</a:t>
            </a:r>
          </a:p>
        </p:txBody>
      </p:sp>
      <p:sp>
        <p:nvSpPr>
          <p:cNvPr id="25" name="learned-ode-path">
            <a:extLst xmlns:a="http://schemas.openxmlformats.org/drawingml/2006/main">
              <a:ext uri="{FF2B5EF4-FFF2-40B4-BE49-F238E27FC236}">
                <a16:creationId xmlns:a16="http://schemas.microsoft.com/office/drawing/2014/main" id="{E3D8F7D1-FEF9-4344-831A-CD18B989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462"/>
            <a:ext cx="8096250" cy="362238"/>
          </a:xfrm>
          <a:custGeom xmlns:a="http://schemas.openxmlformats.org/drawingml/2006/main">
            <a:pathLst>
              <a:path w="8096250" h="362238">
                <a:moveTo>
                  <a:pt x="0" y="362238"/>
                </a:moveTo>
                <a:lnTo>
                  <a:pt x="80963" y="356551"/>
                </a:lnTo>
                <a:lnTo>
                  <a:pt x="161925" y="350855"/>
                </a:lnTo>
                <a:lnTo>
                  <a:pt x="242888" y="345143"/>
                </a:lnTo>
                <a:lnTo>
                  <a:pt x="323850" y="339405"/>
                </a:lnTo>
                <a:lnTo>
                  <a:pt x="404813" y="333634"/>
                </a:lnTo>
                <a:lnTo>
                  <a:pt x="485775" y="327821"/>
                </a:lnTo>
                <a:lnTo>
                  <a:pt x="566738" y="321959"/>
                </a:lnTo>
                <a:lnTo>
                  <a:pt x="647700" y="316040"/>
                </a:lnTo>
                <a:lnTo>
                  <a:pt x="728663" y="310059"/>
                </a:lnTo>
                <a:lnTo>
                  <a:pt x="809625" y="304009"/>
                </a:lnTo>
                <a:lnTo>
                  <a:pt x="890588" y="297883"/>
                </a:lnTo>
                <a:lnTo>
                  <a:pt x="971550" y="291677"/>
                </a:lnTo>
                <a:lnTo>
                  <a:pt x="1052513" y="285386"/>
                </a:lnTo>
                <a:lnTo>
                  <a:pt x="1133475" y="279007"/>
                </a:lnTo>
                <a:lnTo>
                  <a:pt x="1214438" y="272536"/>
                </a:lnTo>
                <a:lnTo>
                  <a:pt x="1295400" y="265971"/>
                </a:lnTo>
                <a:lnTo>
                  <a:pt x="1376363" y="259311"/>
                </a:lnTo>
                <a:lnTo>
                  <a:pt x="1457325" y="252554"/>
                </a:lnTo>
                <a:lnTo>
                  <a:pt x="1538288" y="245702"/>
                </a:lnTo>
                <a:lnTo>
                  <a:pt x="1619250" y="238755"/>
                </a:lnTo>
                <a:lnTo>
                  <a:pt x="1700213" y="231716"/>
                </a:lnTo>
                <a:lnTo>
                  <a:pt x="1781175" y="224587"/>
                </a:lnTo>
                <a:lnTo>
                  <a:pt x="1862138" y="217372"/>
                </a:lnTo>
                <a:lnTo>
                  <a:pt x="1943100" y="210077"/>
                </a:lnTo>
                <a:lnTo>
                  <a:pt x="2024063" y="202706"/>
                </a:lnTo>
                <a:lnTo>
                  <a:pt x="2105025" y="195268"/>
                </a:lnTo>
                <a:lnTo>
                  <a:pt x="2185988" y="187769"/>
                </a:lnTo>
                <a:lnTo>
                  <a:pt x="2266950" y="180218"/>
                </a:lnTo>
                <a:lnTo>
                  <a:pt x="2347913" y="172626"/>
                </a:lnTo>
                <a:lnTo>
                  <a:pt x="2428875" y="165002"/>
                </a:lnTo>
                <a:lnTo>
                  <a:pt x="2509838" y="157359"/>
                </a:lnTo>
                <a:lnTo>
                  <a:pt x="2590800" y="149708"/>
                </a:lnTo>
                <a:lnTo>
                  <a:pt x="2671763" y="142063"/>
                </a:lnTo>
                <a:lnTo>
                  <a:pt x="2752725" y="134437"/>
                </a:lnTo>
                <a:lnTo>
                  <a:pt x="2833688" y="126846"/>
                </a:lnTo>
                <a:lnTo>
                  <a:pt x="2914650" y="119304"/>
                </a:lnTo>
                <a:lnTo>
                  <a:pt x="2995613" y="111829"/>
                </a:lnTo>
                <a:lnTo>
                  <a:pt x="3076575" y="104436"/>
                </a:lnTo>
                <a:lnTo>
                  <a:pt x="3157538" y="97143"/>
                </a:lnTo>
                <a:lnTo>
                  <a:pt x="3238500" y="89969"/>
                </a:lnTo>
                <a:lnTo>
                  <a:pt x="3319463" y="82930"/>
                </a:lnTo>
                <a:lnTo>
                  <a:pt x="3400425" y="76046"/>
                </a:lnTo>
                <a:lnTo>
                  <a:pt x="3481388" y="69336"/>
                </a:lnTo>
                <a:lnTo>
                  <a:pt x="3562350" y="62819"/>
                </a:lnTo>
                <a:lnTo>
                  <a:pt x="3643313" y="56514"/>
                </a:lnTo>
                <a:lnTo>
                  <a:pt x="3724275" y="50442"/>
                </a:lnTo>
                <a:lnTo>
                  <a:pt x="3805238" y="44621"/>
                </a:lnTo>
                <a:lnTo>
                  <a:pt x="3886200" y="39071"/>
                </a:lnTo>
                <a:lnTo>
                  <a:pt x="3967163" y="33812"/>
                </a:lnTo>
                <a:lnTo>
                  <a:pt x="4048125" y="28863"/>
                </a:lnTo>
                <a:lnTo>
                  <a:pt x="4129088" y="24243"/>
                </a:lnTo>
                <a:lnTo>
                  <a:pt x="4210050" y="19970"/>
                </a:lnTo>
                <a:lnTo>
                  <a:pt x="4291013" y="16064"/>
                </a:lnTo>
                <a:lnTo>
                  <a:pt x="4371975" y="12541"/>
                </a:lnTo>
                <a:lnTo>
                  <a:pt x="4452938" y="9420"/>
                </a:lnTo>
                <a:lnTo>
                  <a:pt x="4533900" y="6717"/>
                </a:lnTo>
                <a:lnTo>
                  <a:pt x="4614863" y="4447"/>
                </a:lnTo>
                <a:lnTo>
                  <a:pt x="4695825" y="2627"/>
                </a:lnTo>
                <a:lnTo>
                  <a:pt x="4776788" y="1270"/>
                </a:lnTo>
                <a:lnTo>
                  <a:pt x="4857750" y="390"/>
                </a:lnTo>
                <a:lnTo>
                  <a:pt x="4938713" y="0"/>
                </a:lnTo>
                <a:lnTo>
                  <a:pt x="5019675" y="111"/>
                </a:lnTo>
                <a:lnTo>
                  <a:pt x="5100638" y="734"/>
                </a:lnTo>
                <a:lnTo>
                  <a:pt x="5181600" y="1878"/>
                </a:lnTo>
                <a:lnTo>
                  <a:pt x="5262563" y="3551"/>
                </a:lnTo>
                <a:lnTo>
                  <a:pt x="5343525" y="5761"/>
                </a:lnTo>
                <a:lnTo>
                  <a:pt x="5424488" y="8513"/>
                </a:lnTo>
                <a:lnTo>
                  <a:pt x="5505450" y="11812"/>
                </a:lnTo>
                <a:lnTo>
                  <a:pt x="5586413" y="15661"/>
                </a:lnTo>
                <a:lnTo>
                  <a:pt x="5667375" y="20061"/>
                </a:lnTo>
                <a:lnTo>
                  <a:pt x="5748338" y="25014"/>
                </a:lnTo>
                <a:lnTo>
                  <a:pt x="5829300" y="30518"/>
                </a:lnTo>
                <a:lnTo>
                  <a:pt x="5910263" y="36570"/>
                </a:lnTo>
                <a:lnTo>
                  <a:pt x="5991225" y="43168"/>
                </a:lnTo>
                <a:lnTo>
                  <a:pt x="6072188" y="50306"/>
                </a:lnTo>
                <a:lnTo>
                  <a:pt x="6153150" y="57977"/>
                </a:lnTo>
                <a:lnTo>
                  <a:pt x="6234113" y="66174"/>
                </a:lnTo>
                <a:lnTo>
                  <a:pt x="6315075" y="74886"/>
                </a:lnTo>
                <a:lnTo>
                  <a:pt x="6396038" y="84104"/>
                </a:lnTo>
                <a:lnTo>
                  <a:pt x="6477000" y="93814"/>
                </a:lnTo>
                <a:lnTo>
                  <a:pt x="6557963" y="104004"/>
                </a:lnTo>
                <a:lnTo>
                  <a:pt x="6638925" y="114659"/>
                </a:lnTo>
                <a:lnTo>
                  <a:pt x="6719888" y="125762"/>
                </a:lnTo>
                <a:lnTo>
                  <a:pt x="6800850" y="137295"/>
                </a:lnTo>
                <a:lnTo>
                  <a:pt x="6881813" y="149242"/>
                </a:lnTo>
                <a:lnTo>
                  <a:pt x="6962775" y="161581"/>
                </a:lnTo>
                <a:lnTo>
                  <a:pt x="7043738" y="174291"/>
                </a:lnTo>
                <a:lnTo>
                  <a:pt x="7124700" y="187352"/>
                </a:lnTo>
                <a:lnTo>
                  <a:pt x="7205663" y="200739"/>
                </a:lnTo>
                <a:lnTo>
                  <a:pt x="7286625" y="214430"/>
                </a:lnTo>
                <a:lnTo>
                  <a:pt x="7367588" y="228399"/>
                </a:lnTo>
                <a:lnTo>
                  <a:pt x="7448550" y="242621"/>
                </a:lnTo>
                <a:lnTo>
                  <a:pt x="7529513" y="257070"/>
                </a:lnTo>
                <a:lnTo>
                  <a:pt x="7610475" y="271718"/>
                </a:lnTo>
                <a:lnTo>
                  <a:pt x="7691438" y="286539"/>
                </a:lnTo>
                <a:lnTo>
                  <a:pt x="7772400" y="301505"/>
                </a:lnTo>
                <a:lnTo>
                  <a:pt x="7853363" y="316586"/>
                </a:lnTo>
                <a:lnTo>
                  <a:pt x="7934325" y="331755"/>
                </a:lnTo>
                <a:lnTo>
                  <a:pt x="8015288" y="346982"/>
                </a:lnTo>
                <a:lnTo>
                  <a:pt x="8096250" y="362238"/>
                </a:lnTo>
              </a:path>
            </a:pathLst>
          </a:custGeom>
          <a:noFill xmlns:a="http://schemas.openxmlformats.org/drawingml/2006/main"/>
          <a:ln xmlns:a="http://schemas.openxmlformats.org/drawingml/2006/main" w="29337">
            <a:solidFill>
              <a:srgbClr val="197D7E"/>
            </a:solidFill>
            <a:prstDash val="solid"/>
          </a:ln>
        </p:spPr>
      </p:sp>
      <p:sp>
        <p:nvSpPr>
          <p:cNvPr id="26" name="learned-ode-path--arrow">
            <a:extLst xmlns:a="http://schemas.openxmlformats.org/drawingml/2006/main">
              <a:ext uri="{FF2B5EF4-FFF2-40B4-BE49-F238E27FC236}">
                <a16:creationId xmlns:a16="http://schemas.microsoft.com/office/drawing/2014/main" id="{EECE6B80-98A3-4031-8EDD-A4577F39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397" y="5143984"/>
            <a:ext cx="132353" cy="105292"/>
          </a:xfrm>
          <a:custGeom xmlns:a="http://schemas.openxmlformats.org/drawingml/2006/main">
            <a:pathLst>
              <a:path w="132353" h="105292">
                <a:moveTo>
                  <a:pt x="132353" y="75716"/>
                </a:moveTo>
                <a:lnTo>
                  <a:pt x="19841" y="0"/>
                </a:lnTo>
                <a:lnTo>
                  <a:pt x="0" y="105292"/>
                </a:lnTo>
                <a:close/>
              </a:path>
            </a:pathLst>
          </a:custGeom>
          <a:solidFill xmlns:a="http://schemas.openxmlformats.org/drawingml/2006/main">
            <a:srgbClr val="197D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ampling-source">
            <a:extLst xmlns:a="http://schemas.openxmlformats.org/drawingml/2006/main">
              <a:ext uri="{FF2B5EF4-FFF2-40B4-BE49-F238E27FC236}">
                <a16:creationId xmlns:a16="http://schemas.microsoft.com/office/drawing/2014/main" id="{62397F54-0289-4D1B-93F0-BF1D9FAE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D7E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8" name="generated-state">
            <a:extLst xmlns:a="http://schemas.openxmlformats.org/drawingml/2006/main">
              <a:ext uri="{FF2B5EF4-FFF2-40B4-BE49-F238E27FC236}">
                <a16:creationId xmlns:a16="http://schemas.microsoft.com/office/drawing/2014/main" id="{D129F8A6-5C14-48D4-B935-A35A0076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143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D7E"/>
          </a:solidFill>
          <a:ln xmlns:a="http://schemas.openxmlformats.org/drawingml/2006/main" w="14288">
            <a:solidFill>
              <a:srgbClr val="FFFFFF"/>
            </a:solidFill>
          </a:ln>
        </p:spPr>
      </p:sp>
      <p:sp>
        <p:nvSpPr>
          <p:cNvPr id="29" name="prior-label">
            <a:extLst xmlns:a="http://schemas.openxmlformats.org/drawingml/2006/main">
              <a:ext uri="{FF2B5EF4-FFF2-40B4-BE49-F238E27FC236}">
                <a16:creationId xmlns:a16="http://schemas.microsoft.com/office/drawing/2014/main" id="{685762FF-723F-4FFB-BFE7-27406F22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410200"/>
            <a:ext cx="20002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Prior sample</a:t>
            </a:r>
          </a:p>
        </p:txBody>
      </p:sp>
      <p:sp>
        <p:nvSpPr>
          <p:cNvPr id="30" name="generated-label">
            <a:extLst xmlns:a="http://schemas.openxmlformats.org/drawingml/2006/main">
              <a:ext uri="{FF2B5EF4-FFF2-40B4-BE49-F238E27FC236}">
                <a16:creationId xmlns:a16="http://schemas.microsoft.com/office/drawing/2014/main" id="{226FA0E2-0EED-435B-AD51-D8DE6598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10200"/>
            <a:ext cx="18097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C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C40"/>
                </a:solidFill>
                <a:latin typeface="Arial"/>
                <a:ea typeface="Arial"/>
                <a:cs typeface="Arial"/>
              </a:rPr>
              <a:t>Generated</a:t>
            </a:r>
          </a:p>
        </p:txBody>
      </p:sp>
      <p:sp>
        <p:nvSpPr>
          <p:cNvPr id="31" name="illustration-note">
            <a:extLst xmlns:a="http://schemas.openxmlformats.org/drawingml/2006/main">
              <a:ext uri="{FF2B5EF4-FFF2-40B4-BE49-F238E27FC236}">
                <a16:creationId xmlns:a16="http://schemas.microsoft.com/office/drawing/2014/main" id="{68FB51FA-19B5-4B59-86D9-78329760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62650"/>
            <a:ext cx="10382250" cy="2714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8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887"/>
                </a:solidFill>
                <a:latin typeface="Arial"/>
                <a:ea typeface="Arial"/>
                <a:cs typeface="Arial"/>
              </a:rPr>
              <a:t>Illustration: training pairs define supervision. Sampling integrates the learned velocity field.</a:t>
            </a:r>
          </a:p>
        </p:txBody>
      </p:sp>
    </p:spTree>
    <p:extLst>
      <p:ext uri="{BB962C8B-B14F-4D97-AF65-F5344CB8AC3E}">
        <p14:creationId xmlns:p14="http://schemas.microsoft.com/office/powerpoint/2010/main" val="1159513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2026-09-06T15:30:24.1000000Z</dcterms:created>
  <dcterms:modified xsi:type="dcterms:W3CDTF">2026-09-06T15:30:24.1000000Z</dcterms:modified>
</coreProperties>
</file>